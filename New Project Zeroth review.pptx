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0693400" cy="7556500"/>
  <p:notesSz cx="6858000" cy="9144000"/>
  <p:embeddedFontLst>
    <p:embeddedFont>
      <p:font typeface="Times New Roman Bold" charset="1" panose="02020803070505020304"/>
      <p:regular r:id="rId16"/>
    </p:embeddedFont>
    <p:embeddedFont>
      <p:font typeface="Times New Roman" charset="1" panose="020206030504050203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72963"/>
            <a:ext cx="10698480" cy="6015971"/>
            <a:chOff x="0" y="0"/>
            <a:chExt cx="10698480" cy="6015965"/>
          </a:xfrm>
        </p:grpSpPr>
        <p:sp>
          <p:nvSpPr>
            <p:cNvPr name="Freeform 3" id="3"/>
            <p:cNvSpPr/>
            <p:nvPr/>
          </p:nvSpPr>
          <p:spPr>
            <a:xfrm flipH="false" flipV="false" rot="0">
              <a:off x="0" y="0"/>
              <a:ext cx="10696449" cy="6015984"/>
            </a:xfrm>
            <a:custGeom>
              <a:avLst/>
              <a:gdLst/>
              <a:ahLst/>
              <a:cxnLst/>
              <a:rect r="r" b="b" t="t" l="l"/>
              <a:pathLst>
                <a:path h="6015984" w="10696449">
                  <a:moveTo>
                    <a:pt x="0" y="0"/>
                  </a:moveTo>
                  <a:lnTo>
                    <a:pt x="0" y="6015984"/>
                  </a:lnTo>
                  <a:lnTo>
                    <a:pt x="10696449" y="6015984"/>
                  </a:lnTo>
                  <a:lnTo>
                    <a:pt x="10696449" y="0"/>
                  </a:lnTo>
                  <a:close/>
                </a:path>
              </a:pathLst>
            </a:custGeom>
            <a:solidFill>
              <a:srgbClr val="FFFFFF"/>
            </a:solidFill>
          </p:spPr>
        </p:sp>
      </p:grpSp>
      <p:sp>
        <p:nvSpPr>
          <p:cNvPr name="Freeform 4" id="4"/>
          <p:cNvSpPr/>
          <p:nvPr/>
        </p:nvSpPr>
        <p:spPr>
          <a:xfrm flipH="false" flipV="false" rot="0">
            <a:off x="0" y="772963"/>
            <a:ext cx="10696575" cy="6012542"/>
          </a:xfrm>
          <a:custGeom>
            <a:avLst/>
            <a:gdLst/>
            <a:ahLst/>
            <a:cxnLst/>
            <a:rect r="r" b="b" t="t" l="l"/>
            <a:pathLst>
              <a:path h="6012542" w="10696575">
                <a:moveTo>
                  <a:pt x="0" y="0"/>
                </a:moveTo>
                <a:lnTo>
                  <a:pt x="10696575" y="0"/>
                </a:lnTo>
                <a:lnTo>
                  <a:pt x="10696575" y="6012542"/>
                </a:lnTo>
                <a:lnTo>
                  <a:pt x="0" y="6012542"/>
                </a:lnTo>
                <a:lnTo>
                  <a:pt x="0" y="0"/>
                </a:lnTo>
                <a:close/>
              </a:path>
            </a:pathLst>
          </a:custGeom>
          <a:blipFill>
            <a:blip r:embed="rId2"/>
            <a:stretch>
              <a:fillRect l="0" t="0" r="-37" b="0"/>
            </a:stretch>
          </a:blipFill>
        </p:spPr>
      </p:sp>
      <p:sp>
        <p:nvSpPr>
          <p:cNvPr name="Freeform 5" id="5"/>
          <p:cNvSpPr/>
          <p:nvPr/>
        </p:nvSpPr>
        <p:spPr>
          <a:xfrm flipH="false" flipV="false" rot="0">
            <a:off x="79143" y="1061952"/>
            <a:ext cx="10357580" cy="4211641"/>
          </a:xfrm>
          <a:custGeom>
            <a:avLst/>
            <a:gdLst/>
            <a:ahLst/>
            <a:cxnLst/>
            <a:rect r="r" b="b" t="t" l="l"/>
            <a:pathLst>
              <a:path h="4211641" w="10357580">
                <a:moveTo>
                  <a:pt x="0" y="0"/>
                </a:moveTo>
                <a:lnTo>
                  <a:pt x="10357580" y="0"/>
                </a:lnTo>
                <a:lnTo>
                  <a:pt x="10357580" y="4211640"/>
                </a:lnTo>
                <a:lnTo>
                  <a:pt x="0" y="4211640"/>
                </a:lnTo>
                <a:lnTo>
                  <a:pt x="0" y="0"/>
                </a:lnTo>
                <a:close/>
              </a:path>
            </a:pathLst>
          </a:custGeom>
          <a:blipFill>
            <a:blip r:embed="rId3"/>
            <a:stretch>
              <a:fillRect l="0" t="-384" r="0" b="-293"/>
            </a:stretch>
          </a:blipFill>
        </p:spPr>
      </p:sp>
      <p:sp>
        <p:nvSpPr>
          <p:cNvPr name="Freeform 6" id="6"/>
          <p:cNvSpPr/>
          <p:nvPr/>
        </p:nvSpPr>
        <p:spPr>
          <a:xfrm flipH="false" flipV="false" rot="0">
            <a:off x="79143" y="5273945"/>
            <a:ext cx="10357580" cy="1410233"/>
          </a:xfrm>
          <a:custGeom>
            <a:avLst/>
            <a:gdLst/>
            <a:ahLst/>
            <a:cxnLst/>
            <a:rect r="r" b="b" t="t" l="l"/>
            <a:pathLst>
              <a:path h="1410233" w="10357580">
                <a:moveTo>
                  <a:pt x="0" y="0"/>
                </a:moveTo>
                <a:lnTo>
                  <a:pt x="10357580" y="0"/>
                </a:lnTo>
                <a:lnTo>
                  <a:pt x="10357580" y="1410233"/>
                </a:lnTo>
                <a:lnTo>
                  <a:pt x="0" y="1410233"/>
                </a:lnTo>
                <a:lnTo>
                  <a:pt x="0" y="0"/>
                </a:lnTo>
                <a:close/>
              </a:path>
            </a:pathLst>
          </a:custGeom>
          <a:blipFill>
            <a:blip r:embed="rId4"/>
            <a:stretch>
              <a:fillRect l="0" t="0" r="0" b="0"/>
            </a:stretch>
          </a:blipFill>
        </p:spPr>
      </p:sp>
      <p:grpSp>
        <p:nvGrpSpPr>
          <p:cNvPr name="Group 7" id="7"/>
          <p:cNvGrpSpPr/>
          <p:nvPr/>
        </p:nvGrpSpPr>
        <p:grpSpPr>
          <a:xfrm rot="0">
            <a:off x="0" y="756000"/>
            <a:ext cx="10819381" cy="4189219"/>
            <a:chOff x="0" y="0"/>
            <a:chExt cx="10819384" cy="4189222"/>
          </a:xfrm>
        </p:grpSpPr>
        <p:sp>
          <p:nvSpPr>
            <p:cNvPr name="Freeform 8" id="8"/>
            <p:cNvSpPr/>
            <p:nvPr/>
          </p:nvSpPr>
          <p:spPr>
            <a:xfrm flipH="false" flipV="false" rot="0">
              <a:off x="63500" y="63500"/>
              <a:ext cx="10692384" cy="4062222"/>
            </a:xfrm>
            <a:custGeom>
              <a:avLst/>
              <a:gdLst/>
              <a:ahLst/>
              <a:cxnLst/>
              <a:rect r="r" b="b" t="t" l="l"/>
              <a:pathLst>
                <a:path h="4062222" w="10692384">
                  <a:moveTo>
                    <a:pt x="0" y="0"/>
                  </a:moveTo>
                  <a:lnTo>
                    <a:pt x="0" y="4062222"/>
                  </a:lnTo>
                  <a:lnTo>
                    <a:pt x="10692384" y="4062222"/>
                  </a:lnTo>
                  <a:lnTo>
                    <a:pt x="10692384" y="0"/>
                  </a:lnTo>
                  <a:close/>
                </a:path>
              </a:pathLst>
            </a:custGeom>
            <a:solidFill>
              <a:srgbClr val="000000">
                <a:alpha val="0"/>
              </a:srgbClr>
            </a:solidFill>
          </p:spPr>
        </p:sp>
        <p:sp>
          <p:nvSpPr>
            <p:cNvPr name="Freeform 9" id="9"/>
            <p:cNvSpPr/>
            <p:nvPr/>
          </p:nvSpPr>
          <p:spPr>
            <a:xfrm flipH="false" flipV="false" rot="0">
              <a:off x="142621" y="63500"/>
              <a:ext cx="10357104" cy="2547747"/>
            </a:xfrm>
            <a:custGeom>
              <a:avLst/>
              <a:gdLst/>
              <a:ahLst/>
              <a:cxnLst/>
              <a:rect r="r" b="b" t="t" l="l"/>
              <a:pathLst>
                <a:path h="2547747" w="10357104">
                  <a:moveTo>
                    <a:pt x="0" y="0"/>
                  </a:moveTo>
                  <a:lnTo>
                    <a:pt x="0" y="2547747"/>
                  </a:lnTo>
                  <a:lnTo>
                    <a:pt x="10357104" y="2547747"/>
                  </a:lnTo>
                  <a:lnTo>
                    <a:pt x="10357104" y="0"/>
                  </a:lnTo>
                  <a:close/>
                </a:path>
              </a:pathLst>
            </a:custGeom>
            <a:solidFill>
              <a:srgbClr val="000000">
                <a:alpha val="0"/>
              </a:srgbClr>
            </a:solidFill>
          </p:spPr>
        </p:sp>
        <p:sp>
          <p:nvSpPr>
            <p:cNvPr name="Freeform 10" id="10"/>
            <p:cNvSpPr/>
            <p:nvPr/>
          </p:nvSpPr>
          <p:spPr>
            <a:xfrm flipH="false" flipV="false" rot="0">
              <a:off x="142621" y="2611247"/>
              <a:ext cx="10357104" cy="1414272"/>
            </a:xfrm>
            <a:custGeom>
              <a:avLst/>
              <a:gdLst/>
              <a:ahLst/>
              <a:cxnLst/>
              <a:rect r="r" b="b" t="t" l="l"/>
              <a:pathLst>
                <a:path h="1414272" w="10357104">
                  <a:moveTo>
                    <a:pt x="0" y="1414272"/>
                  </a:moveTo>
                  <a:lnTo>
                    <a:pt x="10357104" y="1414272"/>
                  </a:lnTo>
                  <a:lnTo>
                    <a:pt x="10357104" y="0"/>
                  </a:lnTo>
                  <a:lnTo>
                    <a:pt x="0" y="0"/>
                  </a:lnTo>
                  <a:close/>
                </a:path>
              </a:pathLst>
            </a:custGeom>
            <a:solidFill>
              <a:srgbClr val="000000">
                <a:alpha val="0"/>
              </a:srgbClr>
            </a:solidFill>
          </p:spPr>
        </p:sp>
      </p:grpSp>
      <p:sp>
        <p:nvSpPr>
          <p:cNvPr name="TextBox 11" id="11"/>
          <p:cNvSpPr txBox="true"/>
          <p:nvPr/>
        </p:nvSpPr>
        <p:spPr>
          <a:xfrm rot="0">
            <a:off x="2167395" y="2844227"/>
            <a:ext cx="6484590" cy="433116"/>
          </a:xfrm>
          <a:prstGeom prst="rect">
            <a:avLst/>
          </a:prstGeom>
        </p:spPr>
        <p:txBody>
          <a:bodyPr anchor="t" rtlCol="false" tIns="0" lIns="0" bIns="0" rIns="0">
            <a:spAutoFit/>
          </a:bodyPr>
          <a:lstStyle/>
          <a:p>
            <a:pPr algn="ctr">
              <a:lnSpc>
                <a:spcPts val="3427"/>
              </a:lnSpc>
            </a:pPr>
            <a:r>
              <a:rPr lang="en-US" b="true" sz="2448">
                <a:solidFill>
                  <a:srgbClr val="FFFFFF"/>
                </a:solidFill>
                <a:latin typeface="Times New Roman Bold"/>
                <a:ea typeface="Times New Roman Bold"/>
                <a:cs typeface="Times New Roman Bold"/>
                <a:sym typeface="Times New Roman Bold"/>
              </a:rPr>
              <a:t>Department of Computer Science &amp; Engineering</a:t>
            </a:r>
          </a:p>
        </p:txBody>
      </p:sp>
      <p:sp>
        <p:nvSpPr>
          <p:cNvPr name="TextBox 12" id="12"/>
          <p:cNvSpPr txBox="true"/>
          <p:nvPr/>
        </p:nvSpPr>
        <p:spPr>
          <a:xfrm rot="0">
            <a:off x="932452" y="4792449"/>
            <a:ext cx="2927564" cy="962292"/>
          </a:xfrm>
          <a:prstGeom prst="rect">
            <a:avLst/>
          </a:prstGeom>
        </p:spPr>
        <p:txBody>
          <a:bodyPr anchor="t" rtlCol="false" tIns="0" lIns="0" bIns="0" rIns="0">
            <a:spAutoFit/>
          </a:bodyPr>
          <a:lstStyle/>
          <a:p>
            <a:pPr algn="l">
              <a:lnSpc>
                <a:spcPts val="2517"/>
              </a:lnSpc>
            </a:pPr>
            <a:r>
              <a:rPr lang="en-US" sz="2100" b="true">
                <a:solidFill>
                  <a:srgbClr val="FFFFFF"/>
                </a:solidFill>
                <a:latin typeface="Times New Roman Bold"/>
                <a:ea typeface="Times New Roman Bold"/>
                <a:cs typeface="Times New Roman Bold"/>
                <a:sym typeface="Times New Roman Bold"/>
              </a:rPr>
              <a:t>Guided By</a:t>
            </a:r>
          </a:p>
          <a:p>
            <a:pPr algn="l">
              <a:lnSpc>
                <a:spcPts val="2517"/>
              </a:lnSpc>
            </a:pPr>
            <a:r>
              <a:rPr lang="en-US" sz="2100" b="true">
                <a:solidFill>
                  <a:srgbClr val="FFFFFF"/>
                </a:solidFill>
                <a:latin typeface="Times New Roman Bold"/>
                <a:ea typeface="Times New Roman Bold"/>
                <a:cs typeface="Times New Roman Bold"/>
                <a:sym typeface="Times New Roman Bold"/>
              </a:rPr>
              <a:t>Dr.P.Nandhini</a:t>
            </a:r>
          </a:p>
          <a:p>
            <a:pPr algn="l">
              <a:lnSpc>
                <a:spcPts val="2517"/>
              </a:lnSpc>
            </a:pPr>
            <a:r>
              <a:rPr lang="en-US" b="true" sz="2100">
                <a:solidFill>
                  <a:srgbClr val="FFFFFF"/>
                </a:solidFill>
                <a:latin typeface="Times New Roman Bold"/>
                <a:ea typeface="Times New Roman Bold"/>
                <a:cs typeface="Times New Roman Bold"/>
                <a:sym typeface="Times New Roman Bold"/>
              </a:rPr>
              <a:t>HOD/CSE</a:t>
            </a:r>
          </a:p>
        </p:txBody>
      </p:sp>
      <p:sp>
        <p:nvSpPr>
          <p:cNvPr name="TextBox 13" id="13"/>
          <p:cNvSpPr txBox="true"/>
          <p:nvPr/>
        </p:nvSpPr>
        <p:spPr>
          <a:xfrm rot="0">
            <a:off x="7595366" y="4488553"/>
            <a:ext cx="2340634" cy="1849260"/>
          </a:xfrm>
          <a:prstGeom prst="rect">
            <a:avLst/>
          </a:prstGeom>
        </p:spPr>
        <p:txBody>
          <a:bodyPr anchor="t" rtlCol="false" tIns="0" lIns="0" bIns="0" rIns="0">
            <a:spAutoFit/>
          </a:bodyPr>
          <a:lstStyle/>
          <a:p>
            <a:pPr algn="l">
              <a:lnSpc>
                <a:spcPts val="2433"/>
              </a:lnSpc>
            </a:pPr>
            <a:r>
              <a:rPr lang="en-US" b="true" sz="2100">
                <a:solidFill>
                  <a:srgbClr val="FFFFFF"/>
                </a:solidFill>
                <a:latin typeface="Times New Roman Bold"/>
                <a:ea typeface="Times New Roman Bold"/>
                <a:cs typeface="Times New Roman Bold"/>
                <a:sym typeface="Times New Roman Bold"/>
              </a:rPr>
              <a:t>Presented by</a:t>
            </a:r>
          </a:p>
          <a:p>
            <a:pPr algn="l" marL="453390" indent="-226695" lvl="1">
              <a:lnSpc>
                <a:spcPts val="2433"/>
              </a:lnSpc>
              <a:buAutoNum type="arabicPeriod" startAt="1"/>
            </a:pPr>
            <a:r>
              <a:rPr lang="en-US" sz="2100">
                <a:solidFill>
                  <a:srgbClr val="FFFFFF"/>
                </a:solidFill>
                <a:latin typeface="Times New Roman"/>
                <a:ea typeface="Times New Roman"/>
                <a:cs typeface="Times New Roman"/>
                <a:sym typeface="Times New Roman"/>
              </a:rPr>
              <a:t>Sriganth.G.V</a:t>
            </a:r>
          </a:p>
          <a:p>
            <a:pPr algn="l" marL="453390" indent="-226695" lvl="1">
              <a:lnSpc>
                <a:spcPts val="2433"/>
              </a:lnSpc>
              <a:buAutoNum type="arabicPeriod" startAt="1"/>
            </a:pPr>
            <a:r>
              <a:rPr lang="en-US" sz="2100">
                <a:solidFill>
                  <a:srgbClr val="FFFFFF"/>
                </a:solidFill>
                <a:latin typeface="Times New Roman"/>
                <a:ea typeface="Times New Roman"/>
                <a:cs typeface="Times New Roman"/>
                <a:sym typeface="Times New Roman"/>
              </a:rPr>
              <a:t>Jayasimbu.J</a:t>
            </a:r>
          </a:p>
          <a:p>
            <a:pPr algn="l" marL="453390" indent="-226695" lvl="1">
              <a:lnSpc>
                <a:spcPts val="2433"/>
              </a:lnSpc>
              <a:buAutoNum type="arabicPeriod" startAt="1"/>
            </a:pPr>
            <a:r>
              <a:rPr lang="en-US" sz="2100">
                <a:solidFill>
                  <a:srgbClr val="FFFFFF"/>
                </a:solidFill>
                <a:latin typeface="Times New Roman"/>
                <a:ea typeface="Times New Roman"/>
                <a:cs typeface="Times New Roman"/>
                <a:sym typeface="Times New Roman"/>
              </a:rPr>
              <a:t>Aadhiseshan.S</a:t>
            </a:r>
          </a:p>
          <a:p>
            <a:pPr algn="l" marL="453390" indent="-226695" lvl="1">
              <a:lnSpc>
                <a:spcPts val="2433"/>
              </a:lnSpc>
              <a:buAutoNum type="arabicPeriod" startAt="1"/>
            </a:pPr>
            <a:r>
              <a:rPr lang="en-US" sz="2100">
                <a:solidFill>
                  <a:srgbClr val="FFFFFF"/>
                </a:solidFill>
                <a:latin typeface="Times New Roman"/>
                <a:ea typeface="Times New Roman"/>
                <a:cs typeface="Times New Roman"/>
                <a:sym typeface="Times New Roman"/>
              </a:rPr>
              <a:t>Remo.V</a:t>
            </a:r>
          </a:p>
          <a:p>
            <a:pPr algn="l">
              <a:lnSpc>
                <a:spcPts val="2433"/>
              </a:lnSpc>
            </a:pPr>
          </a:p>
        </p:txBody>
      </p:sp>
      <p:sp>
        <p:nvSpPr>
          <p:cNvPr name="TextBox 14" id="14"/>
          <p:cNvSpPr txBox="true"/>
          <p:nvPr/>
        </p:nvSpPr>
        <p:spPr>
          <a:xfrm rot="0">
            <a:off x="1204090" y="3494981"/>
            <a:ext cx="8107687" cy="728308"/>
          </a:xfrm>
          <a:prstGeom prst="rect">
            <a:avLst/>
          </a:prstGeom>
        </p:spPr>
        <p:txBody>
          <a:bodyPr anchor="t" rtlCol="false" tIns="0" lIns="0" bIns="0" rIns="0">
            <a:spAutoFit/>
          </a:bodyPr>
          <a:lstStyle/>
          <a:p>
            <a:pPr algn="ctr">
              <a:lnSpc>
                <a:spcPts val="2907"/>
              </a:lnSpc>
            </a:pPr>
            <a:r>
              <a:rPr lang="en-US" b="true" sz="2076">
                <a:solidFill>
                  <a:srgbClr val="FFFFFF"/>
                </a:solidFill>
                <a:latin typeface="Times New Roman Bold"/>
                <a:ea typeface="Times New Roman Bold"/>
                <a:cs typeface="Times New Roman Bold"/>
                <a:sym typeface="Times New Roman Bold"/>
              </a:rPr>
              <a:t>Multimodal Document Intelligence System for Inv</a:t>
            </a:r>
            <a:r>
              <a:rPr lang="en-US" b="true" sz="2076">
                <a:solidFill>
                  <a:srgbClr val="FFFFFF"/>
                </a:solidFill>
                <a:latin typeface="Times New Roman Bold"/>
                <a:ea typeface="Times New Roman Bold"/>
                <a:cs typeface="Times New Roman Bold"/>
                <a:sym typeface="Times New Roman Bold"/>
              </a:rPr>
              <a:t>oice and Receipt Processing Using Vision-Language Models with Layout-Aware OCR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72015"/>
            <a:ext cx="10698480" cy="6015971"/>
            <a:chOff x="0" y="0"/>
            <a:chExt cx="10698480" cy="6015965"/>
          </a:xfrm>
        </p:grpSpPr>
        <p:sp>
          <p:nvSpPr>
            <p:cNvPr name="Freeform 3" id="3"/>
            <p:cNvSpPr/>
            <p:nvPr/>
          </p:nvSpPr>
          <p:spPr>
            <a:xfrm flipH="false" flipV="false" rot="0">
              <a:off x="0" y="0"/>
              <a:ext cx="10696449" cy="6015984"/>
            </a:xfrm>
            <a:custGeom>
              <a:avLst/>
              <a:gdLst/>
              <a:ahLst/>
              <a:cxnLst/>
              <a:rect r="r" b="b" t="t" l="l"/>
              <a:pathLst>
                <a:path h="6015984" w="10696449">
                  <a:moveTo>
                    <a:pt x="0" y="0"/>
                  </a:moveTo>
                  <a:lnTo>
                    <a:pt x="0" y="6015984"/>
                  </a:lnTo>
                  <a:lnTo>
                    <a:pt x="10696449" y="6015984"/>
                  </a:lnTo>
                  <a:lnTo>
                    <a:pt x="10696449" y="0"/>
                  </a:lnTo>
                  <a:close/>
                </a:path>
              </a:pathLst>
            </a:custGeom>
            <a:blipFill>
              <a:blip r:embed="rId2"/>
              <a:stretch>
                <a:fillRect l="0" t="-472" r="0" b="-472"/>
              </a:stretch>
            </a:blipFill>
          </p:spPr>
        </p:sp>
      </p:grpSp>
      <p:sp>
        <p:nvSpPr>
          <p:cNvPr name="TextBox 4" id="4"/>
          <p:cNvSpPr txBox="true"/>
          <p:nvPr/>
        </p:nvSpPr>
        <p:spPr>
          <a:xfrm rot="0">
            <a:off x="173788" y="738950"/>
            <a:ext cx="1936403" cy="500370"/>
          </a:xfrm>
          <a:prstGeom prst="rect">
            <a:avLst/>
          </a:prstGeom>
        </p:spPr>
        <p:txBody>
          <a:bodyPr anchor="t" rtlCol="false" tIns="0" lIns="0" bIns="0" rIns="0">
            <a:spAutoFit/>
          </a:bodyPr>
          <a:lstStyle/>
          <a:p>
            <a:pPr algn="l">
              <a:lnSpc>
                <a:spcPts val="3920"/>
              </a:lnSpc>
            </a:pPr>
            <a:r>
              <a:rPr lang="en-US" b="true" sz="2800">
                <a:solidFill>
                  <a:srgbClr val="FFFFFF"/>
                </a:solidFill>
                <a:latin typeface="Times New Roman Bold"/>
                <a:ea typeface="Times New Roman Bold"/>
                <a:cs typeface="Times New Roman Bold"/>
                <a:sym typeface="Times New Roman Bold"/>
              </a:rPr>
              <a:t>ABSTRACT</a:t>
            </a:r>
          </a:p>
        </p:txBody>
      </p:sp>
      <p:sp>
        <p:nvSpPr>
          <p:cNvPr name="TextBox 5" id="5"/>
          <p:cNvSpPr txBox="true"/>
          <p:nvPr/>
        </p:nvSpPr>
        <p:spPr>
          <a:xfrm rot="0">
            <a:off x="756000" y="1867380"/>
            <a:ext cx="9180000" cy="3768091"/>
          </a:xfrm>
          <a:prstGeom prst="rect">
            <a:avLst/>
          </a:prstGeom>
        </p:spPr>
        <p:txBody>
          <a:bodyPr anchor="t" rtlCol="false" tIns="0" lIns="0" bIns="0" rIns="0">
            <a:spAutoFit/>
          </a:bodyPr>
          <a:lstStyle/>
          <a:p>
            <a:pPr algn="just">
              <a:lnSpc>
                <a:spcPts val="3359"/>
              </a:lnSpc>
            </a:pPr>
            <a:r>
              <a:rPr lang="en-US" sz="2399">
                <a:solidFill>
                  <a:srgbClr val="000000"/>
                </a:solidFill>
                <a:latin typeface="Times New Roman"/>
                <a:ea typeface="Times New Roman"/>
                <a:cs typeface="Times New Roman"/>
                <a:sym typeface="Times New Roman"/>
              </a:rPr>
              <a:t>The proposed system is a multimodal document intelligence platform designed to automate invoice and receipt processing using advanced AI models. It combines layout-aware OCR with vision-language models to extract structured information such as vendor details, total amount, tax, and line items from scanned documents, handwritten receipts, and photographed bills. The system supports multiple Indian languages and improves accuracy by understanding both the visual layout and textual content of documents, enabling efficient and intelligent data extraction for enterprise use.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72963"/>
            <a:ext cx="10696575" cy="6072883"/>
          </a:xfrm>
          <a:custGeom>
            <a:avLst/>
            <a:gdLst/>
            <a:ahLst/>
            <a:cxnLst/>
            <a:rect r="r" b="b" t="t" l="l"/>
            <a:pathLst>
              <a:path h="6072883" w="10696575">
                <a:moveTo>
                  <a:pt x="0" y="0"/>
                </a:moveTo>
                <a:lnTo>
                  <a:pt x="10696575" y="0"/>
                </a:lnTo>
                <a:lnTo>
                  <a:pt x="10696575" y="6072883"/>
                </a:lnTo>
                <a:lnTo>
                  <a:pt x="0" y="6072883"/>
                </a:lnTo>
                <a:lnTo>
                  <a:pt x="0" y="0"/>
                </a:lnTo>
                <a:close/>
              </a:path>
            </a:pathLst>
          </a:custGeom>
          <a:blipFill>
            <a:blip r:embed="rId2"/>
            <a:stretch>
              <a:fillRect l="0" t="0" r="0" b="0"/>
            </a:stretch>
          </a:blipFill>
        </p:spPr>
      </p:sp>
      <p:grpSp>
        <p:nvGrpSpPr>
          <p:cNvPr name="Group 3" id="3"/>
          <p:cNvGrpSpPr/>
          <p:nvPr/>
        </p:nvGrpSpPr>
        <p:grpSpPr>
          <a:xfrm rot="0">
            <a:off x="4822441" y="3433315"/>
            <a:ext cx="5874134" cy="689353"/>
            <a:chOff x="0" y="0"/>
            <a:chExt cx="5874131" cy="689356"/>
          </a:xfrm>
        </p:grpSpPr>
        <p:sp>
          <p:nvSpPr>
            <p:cNvPr name="Freeform 4" id="4"/>
            <p:cNvSpPr/>
            <p:nvPr/>
          </p:nvSpPr>
          <p:spPr>
            <a:xfrm flipH="false" flipV="false" rot="0">
              <a:off x="0" y="0"/>
              <a:ext cx="5874128" cy="689359"/>
            </a:xfrm>
            <a:custGeom>
              <a:avLst/>
              <a:gdLst/>
              <a:ahLst/>
              <a:cxnLst/>
              <a:rect r="r" b="b" t="t" l="l"/>
              <a:pathLst>
                <a:path h="689359" w="5874128">
                  <a:moveTo>
                    <a:pt x="0" y="0"/>
                  </a:moveTo>
                  <a:lnTo>
                    <a:pt x="0" y="689359"/>
                  </a:lnTo>
                  <a:lnTo>
                    <a:pt x="5874128" y="689359"/>
                  </a:lnTo>
                  <a:lnTo>
                    <a:pt x="5874128" y="0"/>
                  </a:lnTo>
                  <a:close/>
                </a:path>
              </a:pathLst>
            </a:custGeom>
            <a:solidFill>
              <a:srgbClr val="000000">
                <a:alpha val="0"/>
              </a:srgbClr>
            </a:solidFill>
          </p:spPr>
        </p:sp>
      </p:grpSp>
      <p:sp>
        <p:nvSpPr>
          <p:cNvPr name="TextBox 5" id="5"/>
          <p:cNvSpPr txBox="true"/>
          <p:nvPr/>
        </p:nvSpPr>
        <p:spPr>
          <a:xfrm rot="0">
            <a:off x="203545" y="696763"/>
            <a:ext cx="2844998" cy="500370"/>
          </a:xfrm>
          <a:prstGeom prst="rect">
            <a:avLst/>
          </a:prstGeom>
        </p:spPr>
        <p:txBody>
          <a:bodyPr anchor="t" rtlCol="false" tIns="0" lIns="0" bIns="0" rIns="0">
            <a:spAutoFit/>
          </a:bodyPr>
          <a:lstStyle/>
          <a:p>
            <a:pPr algn="l">
              <a:lnSpc>
                <a:spcPts val="3920"/>
              </a:lnSpc>
            </a:pPr>
            <a:r>
              <a:rPr lang="en-US" b="true" sz="2800">
                <a:solidFill>
                  <a:srgbClr val="FFFFFF"/>
                </a:solidFill>
                <a:latin typeface="Times New Roman Bold"/>
                <a:ea typeface="Times New Roman Bold"/>
                <a:cs typeface="Times New Roman Bold"/>
                <a:sym typeface="Times New Roman Bold"/>
              </a:rPr>
              <a:t>INTRODUCTION</a:t>
            </a:r>
          </a:p>
        </p:txBody>
      </p:sp>
      <p:sp>
        <p:nvSpPr>
          <p:cNvPr name="TextBox 6" id="6"/>
          <p:cNvSpPr txBox="true"/>
          <p:nvPr/>
        </p:nvSpPr>
        <p:spPr>
          <a:xfrm rot="0">
            <a:off x="1905987" y="3233265"/>
            <a:ext cx="6880027" cy="1055370"/>
          </a:xfrm>
          <a:prstGeom prst="rect">
            <a:avLst/>
          </a:prstGeom>
        </p:spPr>
        <p:txBody>
          <a:bodyPr anchor="t" rtlCol="false" tIns="0" lIns="0" bIns="0" rIns="0">
            <a:spAutoFit/>
          </a:bodyPr>
          <a:lstStyle/>
          <a:p>
            <a:pPr algn="ctr">
              <a:lnSpc>
                <a:spcPts val="1679"/>
              </a:lnSpc>
              <a:spcBef>
                <a:spcPct val="0"/>
              </a:spcBef>
            </a:pPr>
            <a:r>
              <a:rPr lang="en-US" b="true" sz="1200">
                <a:solidFill>
                  <a:srgbClr val="FFFFFF"/>
                </a:solidFill>
                <a:latin typeface="Times New Roman Bold"/>
                <a:ea typeface="Times New Roman Bold"/>
                <a:cs typeface="Times New Roman Bold"/>
                <a:sym typeface="Times New Roman Bold"/>
              </a:rPr>
              <a:t>Resumes and skill assessments are used to evaluate candidates for job roles.</a:t>
            </a:r>
          </a:p>
          <a:p>
            <a:pPr algn="ctr">
              <a:lnSpc>
                <a:spcPts val="1679"/>
              </a:lnSpc>
              <a:spcBef>
                <a:spcPct val="0"/>
              </a:spcBef>
            </a:pPr>
            <a:r>
              <a:rPr lang="en-US" b="true" sz="1200">
                <a:solidFill>
                  <a:srgbClr val="FFFFFF"/>
                </a:solidFill>
                <a:latin typeface="Times New Roman Bold"/>
                <a:ea typeface="Times New Roman Bold"/>
                <a:cs typeface="Times New Roman Bold"/>
                <a:sym typeface="Times New Roman Bold"/>
              </a:rPr>
              <a:t>Currently, the initial screening and assignment of candidate scores is mostly manual.</a:t>
            </a:r>
          </a:p>
          <a:p>
            <a:pPr algn="ctr">
              <a:lnSpc>
                <a:spcPts val="1679"/>
              </a:lnSpc>
              <a:spcBef>
                <a:spcPct val="0"/>
              </a:spcBef>
            </a:pPr>
            <a:r>
              <a:rPr lang="en-US" b="true" sz="1200">
                <a:solidFill>
                  <a:srgbClr val="FFFFFF"/>
                </a:solidFill>
                <a:latin typeface="Times New Roman Bold"/>
                <a:ea typeface="Times New Roman Bold"/>
                <a:cs typeface="Times New Roman Bold"/>
                <a:sym typeface="Times New Roman Bold"/>
              </a:rPr>
              <a:t>Manual submission and traditional resume screening take significant time.</a:t>
            </a:r>
          </a:p>
          <a:p>
            <a:pPr algn="ctr">
              <a:lnSpc>
                <a:spcPts val="1679"/>
              </a:lnSpc>
              <a:spcBef>
                <a:spcPct val="0"/>
              </a:spcBef>
            </a:pPr>
            <a:r>
              <a:rPr lang="en-US" b="true" sz="1200">
                <a:solidFill>
                  <a:srgbClr val="FFFFFF"/>
                </a:solidFill>
                <a:latin typeface="Times New Roman Bold"/>
                <a:ea typeface="Times New Roman Bold"/>
                <a:cs typeface="Times New Roman Bold"/>
                <a:sym typeface="Times New Roman Bold"/>
              </a:rPr>
              <a:t>Digital ATS systems help manage large volumes of applications efficiently.</a:t>
            </a:r>
          </a:p>
          <a:p>
            <a:pPr algn="ctr">
              <a:lnSpc>
                <a:spcPts val="1679"/>
              </a:lnSpc>
              <a:spcBef>
                <a:spcPct val="0"/>
              </a:spcBef>
            </a:pPr>
            <a:r>
              <a:rPr lang="en-US" b="true" sz="1200">
                <a:solidFill>
                  <a:srgbClr val="FFFFFF"/>
                </a:solidFill>
                <a:latin typeface="Times New Roman Bold"/>
                <a:ea typeface="Times New Roman Bold"/>
                <a:cs typeface="Times New Roman Bold"/>
                <a:sym typeface="Times New Roman Bold"/>
              </a:rPr>
              <a:t>This system simplifies the application process through automated skill matching and transparent ranking.</a:t>
            </a:r>
          </a:p>
        </p:txBody>
      </p:sp>
      <p:sp>
        <p:nvSpPr>
          <p:cNvPr name="TextBox 7" id="7"/>
          <p:cNvSpPr txBox="true"/>
          <p:nvPr/>
        </p:nvSpPr>
        <p:spPr>
          <a:xfrm rot="0">
            <a:off x="756000" y="1687235"/>
            <a:ext cx="9180000" cy="4187190"/>
          </a:xfrm>
          <a:prstGeom prst="rect">
            <a:avLst/>
          </a:prstGeom>
        </p:spPr>
        <p:txBody>
          <a:bodyPr anchor="t" rtlCol="false" tIns="0" lIns="0" bIns="0" rIns="0">
            <a:spAutoFit/>
          </a:bodyPr>
          <a:lstStyle/>
          <a:p>
            <a:pPr algn="just">
              <a:lnSpc>
                <a:spcPts val="3359"/>
              </a:lnSpc>
            </a:pPr>
            <a:r>
              <a:rPr lang="en-US" sz="2400">
                <a:solidFill>
                  <a:srgbClr val="000000"/>
                </a:solidFill>
                <a:latin typeface="Times New Roman"/>
                <a:ea typeface="Times New Roman"/>
                <a:cs typeface="Times New Roman"/>
                <a:sym typeface="Times New Roman"/>
              </a:rPr>
              <a:t>In today’s</a:t>
            </a:r>
            <a:r>
              <a:rPr lang="en-US" sz="2400">
                <a:solidFill>
                  <a:srgbClr val="000000"/>
                </a:solidFill>
                <a:latin typeface="Times New Roman"/>
                <a:ea typeface="Times New Roman"/>
                <a:cs typeface="Times New Roman"/>
                <a:sym typeface="Times New Roman"/>
              </a:rPr>
              <a:t> digital era, businesses handle a large number of invoices and receipts in various formats such as scanned copies, images, and handwritten documents. Traditional data entry methods are time-consuming, error-prone, and inefficient. Although OCR systems exist, they mainly extract raw text without understanding the document structure or context. This project aims to develop a multimodal document intelligence system that combines layout-aware models and vision-language understanding to automatically extract meaningful information from documents, improving accuracy, efficiency, and automation in financial data processing.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23973"/>
            <a:ext cx="10677268" cy="6080027"/>
          </a:xfrm>
          <a:custGeom>
            <a:avLst/>
            <a:gdLst/>
            <a:ahLst/>
            <a:cxnLst/>
            <a:rect r="r" b="b" t="t" l="l"/>
            <a:pathLst>
              <a:path h="6080027" w="10677268">
                <a:moveTo>
                  <a:pt x="0" y="0"/>
                </a:moveTo>
                <a:lnTo>
                  <a:pt x="10677268" y="0"/>
                </a:lnTo>
                <a:lnTo>
                  <a:pt x="10677268" y="6080027"/>
                </a:lnTo>
                <a:lnTo>
                  <a:pt x="0" y="6080027"/>
                </a:lnTo>
                <a:lnTo>
                  <a:pt x="0" y="0"/>
                </a:lnTo>
                <a:close/>
              </a:path>
            </a:pathLst>
          </a:custGeom>
          <a:blipFill>
            <a:blip r:embed="rId2"/>
            <a:stretch>
              <a:fillRect l="0" t="0" r="0" b="0"/>
            </a:stretch>
          </a:blipFill>
        </p:spPr>
      </p:sp>
      <p:grpSp>
        <p:nvGrpSpPr>
          <p:cNvPr name="Group 3" id="3"/>
          <p:cNvGrpSpPr/>
          <p:nvPr/>
        </p:nvGrpSpPr>
        <p:grpSpPr>
          <a:xfrm rot="0">
            <a:off x="4902013" y="3433315"/>
            <a:ext cx="5794562" cy="680037"/>
            <a:chOff x="0" y="0"/>
            <a:chExt cx="5794565" cy="680034"/>
          </a:xfrm>
        </p:grpSpPr>
        <p:sp>
          <p:nvSpPr>
            <p:cNvPr name="Freeform 4" id="4"/>
            <p:cNvSpPr/>
            <p:nvPr/>
          </p:nvSpPr>
          <p:spPr>
            <a:xfrm flipH="false" flipV="false" rot="0">
              <a:off x="0" y="0"/>
              <a:ext cx="5794504" cy="680080"/>
            </a:xfrm>
            <a:custGeom>
              <a:avLst/>
              <a:gdLst/>
              <a:ahLst/>
              <a:cxnLst/>
              <a:rect r="r" b="b" t="t" l="l"/>
              <a:pathLst>
                <a:path h="680080" w="5794504">
                  <a:moveTo>
                    <a:pt x="0" y="0"/>
                  </a:moveTo>
                  <a:lnTo>
                    <a:pt x="0" y="680080"/>
                  </a:lnTo>
                  <a:lnTo>
                    <a:pt x="5794504" y="680080"/>
                  </a:lnTo>
                  <a:lnTo>
                    <a:pt x="5794504" y="0"/>
                  </a:lnTo>
                  <a:close/>
                </a:path>
              </a:pathLst>
            </a:custGeom>
            <a:solidFill>
              <a:srgbClr val="000000">
                <a:alpha val="0"/>
              </a:srgbClr>
            </a:solidFill>
          </p:spPr>
        </p:sp>
      </p:grpSp>
      <p:sp>
        <p:nvSpPr>
          <p:cNvPr name="TextBox 5" id="5"/>
          <p:cNvSpPr txBox="true"/>
          <p:nvPr/>
        </p:nvSpPr>
        <p:spPr>
          <a:xfrm rot="0">
            <a:off x="113595" y="647773"/>
            <a:ext cx="4120455" cy="500365"/>
          </a:xfrm>
          <a:prstGeom prst="rect">
            <a:avLst/>
          </a:prstGeom>
        </p:spPr>
        <p:txBody>
          <a:bodyPr anchor="t" rtlCol="false" tIns="0" lIns="0" bIns="0" rIns="0">
            <a:spAutoFit/>
          </a:bodyPr>
          <a:lstStyle/>
          <a:p>
            <a:pPr algn="l">
              <a:lnSpc>
                <a:spcPts val="3920"/>
              </a:lnSpc>
            </a:pPr>
            <a:r>
              <a:rPr lang="en-US" b="true" sz="2800">
                <a:solidFill>
                  <a:srgbClr val="FFFFFF"/>
                </a:solidFill>
                <a:latin typeface="Times New Roman Bold"/>
                <a:ea typeface="Times New Roman Bold"/>
                <a:cs typeface="Times New Roman Bold"/>
                <a:sym typeface="Times New Roman Bold"/>
              </a:rPr>
              <a:t>PROBLEM STATEMENT</a:t>
            </a:r>
          </a:p>
        </p:txBody>
      </p:sp>
      <p:sp>
        <p:nvSpPr>
          <p:cNvPr name="TextBox 6" id="6"/>
          <p:cNvSpPr txBox="true"/>
          <p:nvPr/>
        </p:nvSpPr>
        <p:spPr>
          <a:xfrm rot="0">
            <a:off x="756000" y="2090467"/>
            <a:ext cx="9180000" cy="2929890"/>
          </a:xfrm>
          <a:prstGeom prst="rect">
            <a:avLst/>
          </a:prstGeom>
        </p:spPr>
        <p:txBody>
          <a:bodyPr anchor="t" rtlCol="false" tIns="0" lIns="0" bIns="0" rIns="0">
            <a:spAutoFit/>
          </a:bodyPr>
          <a:lstStyle/>
          <a:p>
            <a:pPr algn="just">
              <a:lnSpc>
                <a:spcPts val="3359"/>
              </a:lnSpc>
            </a:pPr>
            <a:r>
              <a:rPr lang="en-US" sz="2400">
                <a:solidFill>
                  <a:srgbClr val="000000"/>
                </a:solidFill>
                <a:latin typeface="Times New Roman"/>
                <a:ea typeface="Times New Roman"/>
                <a:cs typeface="Times New Roman"/>
                <a:sym typeface="Times New Roman"/>
              </a:rPr>
              <a:t>Cu</a:t>
            </a:r>
            <a:r>
              <a:rPr lang="en-US" sz="2400">
                <a:solidFill>
                  <a:srgbClr val="000000"/>
                </a:solidFill>
                <a:latin typeface="Times New Roman"/>
                <a:ea typeface="Times New Roman"/>
                <a:cs typeface="Times New Roman"/>
                <a:sym typeface="Times New Roman"/>
              </a:rPr>
              <a:t>rrent invoice processing systems rely heavily on manual data entry or basic OCR techniques that only extract text without understanding the document layout or context. These systems struggle with complex formats, handwritten content, and multilingual documents. As a result, errors increase and processing time becomes high. Additionally, there is no proper system to extract structured information like line items and tax details accurately, leading to inefficiency in enterprise workflows.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72963"/>
            <a:ext cx="10698480" cy="6015971"/>
            <a:chOff x="0" y="0"/>
            <a:chExt cx="10698480" cy="6015965"/>
          </a:xfrm>
        </p:grpSpPr>
        <p:sp>
          <p:nvSpPr>
            <p:cNvPr name="Freeform 3" id="3"/>
            <p:cNvSpPr/>
            <p:nvPr/>
          </p:nvSpPr>
          <p:spPr>
            <a:xfrm flipH="false" flipV="false" rot="0">
              <a:off x="0" y="0"/>
              <a:ext cx="10696449" cy="6015984"/>
            </a:xfrm>
            <a:custGeom>
              <a:avLst/>
              <a:gdLst/>
              <a:ahLst/>
              <a:cxnLst/>
              <a:rect r="r" b="b" t="t" l="l"/>
              <a:pathLst>
                <a:path h="6015984" w="10696449">
                  <a:moveTo>
                    <a:pt x="0" y="0"/>
                  </a:moveTo>
                  <a:lnTo>
                    <a:pt x="0" y="6015984"/>
                  </a:lnTo>
                  <a:lnTo>
                    <a:pt x="10696449" y="6015984"/>
                  </a:lnTo>
                  <a:lnTo>
                    <a:pt x="10696449" y="0"/>
                  </a:lnTo>
                  <a:close/>
                </a:path>
              </a:pathLst>
            </a:custGeom>
            <a:solidFill>
              <a:srgbClr val="FFFFFF"/>
            </a:solidFill>
          </p:spPr>
        </p:sp>
      </p:grpSp>
      <p:sp>
        <p:nvSpPr>
          <p:cNvPr name="Freeform 4" id="4"/>
          <p:cNvSpPr/>
          <p:nvPr/>
        </p:nvSpPr>
        <p:spPr>
          <a:xfrm flipH="false" flipV="false" rot="0">
            <a:off x="0" y="756285"/>
            <a:ext cx="10696575" cy="6089561"/>
          </a:xfrm>
          <a:custGeom>
            <a:avLst/>
            <a:gdLst/>
            <a:ahLst/>
            <a:cxnLst/>
            <a:rect r="r" b="b" t="t" l="l"/>
            <a:pathLst>
              <a:path h="6089561" w="10696575">
                <a:moveTo>
                  <a:pt x="0" y="0"/>
                </a:moveTo>
                <a:lnTo>
                  <a:pt x="10696575" y="0"/>
                </a:lnTo>
                <a:lnTo>
                  <a:pt x="10696575" y="6089561"/>
                </a:lnTo>
                <a:lnTo>
                  <a:pt x="0" y="6089561"/>
                </a:lnTo>
                <a:lnTo>
                  <a:pt x="0" y="0"/>
                </a:lnTo>
                <a:close/>
              </a:path>
            </a:pathLst>
          </a:custGeom>
          <a:blipFill>
            <a:blip r:embed="rId2"/>
            <a:stretch>
              <a:fillRect l="0" t="0" r="0" b="0"/>
            </a:stretch>
          </a:blipFill>
        </p:spPr>
      </p:sp>
      <p:sp>
        <p:nvSpPr>
          <p:cNvPr name="TextBox 5" id="5"/>
          <p:cNvSpPr txBox="true"/>
          <p:nvPr/>
        </p:nvSpPr>
        <p:spPr>
          <a:xfrm rot="0">
            <a:off x="224597" y="679800"/>
            <a:ext cx="2263229" cy="500365"/>
          </a:xfrm>
          <a:prstGeom prst="rect">
            <a:avLst/>
          </a:prstGeom>
        </p:spPr>
        <p:txBody>
          <a:bodyPr anchor="t" rtlCol="false" tIns="0" lIns="0" bIns="0" rIns="0">
            <a:spAutoFit/>
          </a:bodyPr>
          <a:lstStyle/>
          <a:p>
            <a:pPr algn="l">
              <a:lnSpc>
                <a:spcPts val="3920"/>
              </a:lnSpc>
            </a:pPr>
            <a:r>
              <a:rPr lang="en-US" b="true" sz="2800">
                <a:solidFill>
                  <a:srgbClr val="FFFFFF"/>
                </a:solidFill>
                <a:latin typeface="Times New Roman Bold"/>
                <a:ea typeface="Times New Roman Bold"/>
                <a:cs typeface="Times New Roman Bold"/>
                <a:sym typeface="Times New Roman Bold"/>
              </a:rPr>
              <a:t>TOOLS USED</a:t>
            </a:r>
          </a:p>
        </p:txBody>
      </p:sp>
      <p:sp>
        <p:nvSpPr>
          <p:cNvPr name="TextBox 6" id="6"/>
          <p:cNvSpPr txBox="true"/>
          <p:nvPr/>
        </p:nvSpPr>
        <p:spPr>
          <a:xfrm rot="0">
            <a:off x="758378" y="2287429"/>
            <a:ext cx="9177622" cy="2510790"/>
          </a:xfrm>
          <a:prstGeom prst="rect">
            <a:avLst/>
          </a:prstGeom>
        </p:spPr>
        <p:txBody>
          <a:bodyPr anchor="t" rtlCol="false" tIns="0" lIns="0" bIns="0" rIns="0">
            <a:spAutoFit/>
          </a:bodyPr>
          <a:lstStyle/>
          <a:p>
            <a:pPr algn="just" marL="518160" indent="-259080" lvl="1">
              <a:lnSpc>
                <a:spcPts val="3359"/>
              </a:lnSpc>
              <a:buFont typeface="Arial"/>
              <a:buChar char="•"/>
            </a:pPr>
            <a:r>
              <a:rPr lang="en-US" b="true" sz="2400">
                <a:solidFill>
                  <a:srgbClr val="000000"/>
                </a:solidFill>
                <a:latin typeface="Times New Roman Bold"/>
                <a:ea typeface="Times New Roman Bold"/>
                <a:cs typeface="Times New Roman Bold"/>
                <a:sym typeface="Times New Roman Bold"/>
              </a:rPr>
              <a:t>Frontend: </a:t>
            </a:r>
            <a:r>
              <a:rPr lang="en-US" sz="2400">
                <a:solidFill>
                  <a:srgbClr val="000000"/>
                </a:solidFill>
                <a:latin typeface="Times New Roman"/>
                <a:ea typeface="Times New Roman"/>
                <a:cs typeface="Times New Roman"/>
                <a:sym typeface="Times New Roman"/>
              </a:rPr>
              <a:t>React.js, JavaScript</a:t>
            </a:r>
          </a:p>
          <a:p>
            <a:pPr algn="just" marL="518160" indent="-259080" lvl="1">
              <a:lnSpc>
                <a:spcPts val="3359"/>
              </a:lnSpc>
              <a:buFont typeface="Arial"/>
              <a:buChar char="•"/>
            </a:pPr>
            <a:r>
              <a:rPr lang="en-US" b="true" sz="2400">
                <a:solidFill>
                  <a:srgbClr val="000000"/>
                </a:solidFill>
                <a:latin typeface="Times New Roman Bold"/>
                <a:ea typeface="Times New Roman Bold"/>
                <a:cs typeface="Times New Roman Bold"/>
                <a:sym typeface="Times New Roman Bold"/>
              </a:rPr>
              <a:t>Backend: </a:t>
            </a:r>
            <a:r>
              <a:rPr lang="en-US" sz="2400">
                <a:solidFill>
                  <a:srgbClr val="000000"/>
                </a:solidFill>
                <a:latin typeface="Times New Roman"/>
                <a:ea typeface="Times New Roman"/>
                <a:cs typeface="Times New Roman"/>
                <a:sym typeface="Times New Roman"/>
              </a:rPr>
              <a:t>FastAPI (Python-based API framework)</a:t>
            </a:r>
          </a:p>
          <a:p>
            <a:pPr algn="just" marL="518160" indent="-259080" lvl="1">
              <a:lnSpc>
                <a:spcPts val="3359"/>
              </a:lnSpc>
              <a:buFont typeface="Arial"/>
              <a:buChar char="•"/>
            </a:pPr>
            <a:r>
              <a:rPr lang="en-US" b="true" sz="2400">
                <a:solidFill>
                  <a:srgbClr val="000000"/>
                </a:solidFill>
                <a:latin typeface="Times New Roman Bold"/>
                <a:ea typeface="Times New Roman Bold"/>
                <a:cs typeface="Times New Roman Bold"/>
                <a:sym typeface="Times New Roman Bold"/>
              </a:rPr>
              <a:t>Database: </a:t>
            </a:r>
            <a:r>
              <a:rPr lang="en-US" sz="2400">
                <a:solidFill>
                  <a:srgbClr val="000000"/>
                </a:solidFill>
                <a:latin typeface="Times New Roman"/>
                <a:ea typeface="Times New Roman"/>
                <a:cs typeface="Times New Roman"/>
                <a:sym typeface="Times New Roman"/>
              </a:rPr>
              <a:t>NoSQL(MongoDB) for structured storage</a:t>
            </a:r>
          </a:p>
          <a:p>
            <a:pPr algn="just" marL="518160" indent="-259080" lvl="1">
              <a:lnSpc>
                <a:spcPts val="3359"/>
              </a:lnSpc>
              <a:buFont typeface="Arial"/>
              <a:buChar char="•"/>
            </a:pPr>
            <a:r>
              <a:rPr lang="en-US" b="true" sz="2400">
                <a:solidFill>
                  <a:srgbClr val="000000"/>
                </a:solidFill>
                <a:latin typeface="Times New Roman Bold"/>
                <a:ea typeface="Times New Roman Bold"/>
                <a:cs typeface="Times New Roman Bold"/>
                <a:sym typeface="Times New Roman Bold"/>
              </a:rPr>
              <a:t>OCR Tools: </a:t>
            </a:r>
            <a:r>
              <a:rPr lang="en-US" sz="2400">
                <a:solidFill>
                  <a:srgbClr val="000000"/>
                </a:solidFill>
                <a:latin typeface="Times New Roman"/>
                <a:ea typeface="Times New Roman"/>
                <a:cs typeface="Times New Roman"/>
                <a:sym typeface="Times New Roman"/>
              </a:rPr>
              <a:t>PaddleOCR</a:t>
            </a:r>
          </a:p>
          <a:p>
            <a:pPr algn="just" marL="518160" indent="-259080" lvl="1">
              <a:lnSpc>
                <a:spcPts val="3359"/>
              </a:lnSpc>
              <a:buFont typeface="Arial"/>
              <a:buChar char="•"/>
            </a:pPr>
            <a:r>
              <a:rPr lang="en-US" b="true" sz="2400">
                <a:solidFill>
                  <a:srgbClr val="000000"/>
                </a:solidFill>
                <a:latin typeface="Times New Roman Bold"/>
                <a:ea typeface="Times New Roman Bold"/>
                <a:cs typeface="Times New Roman Bold"/>
                <a:sym typeface="Times New Roman Bold"/>
              </a:rPr>
              <a:t>AI Models: </a:t>
            </a:r>
            <a:r>
              <a:rPr lang="en-US" sz="2400">
                <a:solidFill>
                  <a:srgbClr val="000000"/>
                </a:solidFill>
                <a:latin typeface="Times New Roman"/>
                <a:ea typeface="Times New Roman"/>
                <a:cs typeface="Times New Roman"/>
                <a:sym typeface="Times New Roman"/>
              </a:rPr>
              <a:t>LayoutLMv3, Vision-Language Models (Hugging Face)</a:t>
            </a:r>
          </a:p>
          <a:p>
            <a:pPr algn="just" marL="518160" indent="-259080" lvl="1">
              <a:lnSpc>
                <a:spcPts val="3359"/>
              </a:lnSpc>
              <a:buFont typeface="Arial"/>
              <a:buChar char="•"/>
            </a:pPr>
            <a:r>
              <a:rPr lang="en-US" b="true" sz="2400">
                <a:solidFill>
                  <a:srgbClr val="000000"/>
                </a:solidFill>
                <a:latin typeface="Times New Roman Bold"/>
                <a:ea typeface="Times New Roman Bold"/>
                <a:cs typeface="Times New Roman Bold"/>
                <a:sym typeface="Times New Roman Bold"/>
              </a:rPr>
              <a:t>Libraries: </a:t>
            </a:r>
            <a:r>
              <a:rPr lang="en-US" sz="2400">
                <a:solidFill>
                  <a:srgbClr val="000000"/>
                </a:solidFill>
                <a:latin typeface="Times New Roman"/>
                <a:ea typeface="Times New Roman"/>
                <a:cs typeface="Times New Roman"/>
                <a:sym typeface="Times New Roman"/>
              </a:rPr>
              <a:t>Transformers, OpenCV</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307" y="756285"/>
            <a:ext cx="10677268" cy="6089561"/>
          </a:xfrm>
          <a:custGeom>
            <a:avLst/>
            <a:gdLst/>
            <a:ahLst/>
            <a:cxnLst/>
            <a:rect r="r" b="b" t="t" l="l"/>
            <a:pathLst>
              <a:path h="6089561" w="10677268">
                <a:moveTo>
                  <a:pt x="0" y="0"/>
                </a:moveTo>
                <a:lnTo>
                  <a:pt x="10677268" y="0"/>
                </a:lnTo>
                <a:lnTo>
                  <a:pt x="10677268" y="6089561"/>
                </a:lnTo>
                <a:lnTo>
                  <a:pt x="0" y="6089561"/>
                </a:lnTo>
                <a:lnTo>
                  <a:pt x="0" y="0"/>
                </a:lnTo>
                <a:close/>
              </a:path>
            </a:pathLst>
          </a:custGeom>
          <a:blipFill>
            <a:blip r:embed="rId2"/>
            <a:stretch>
              <a:fillRect l="0" t="0" r="0" b="0"/>
            </a:stretch>
          </a:blipFill>
        </p:spPr>
      </p:sp>
      <p:grpSp>
        <p:nvGrpSpPr>
          <p:cNvPr name="Group 3" id="3"/>
          <p:cNvGrpSpPr/>
          <p:nvPr/>
        </p:nvGrpSpPr>
        <p:grpSpPr>
          <a:xfrm rot="0">
            <a:off x="-44196" y="1582925"/>
            <a:ext cx="10804274" cy="4394151"/>
            <a:chOff x="0" y="0"/>
            <a:chExt cx="10804271" cy="4394148"/>
          </a:xfrm>
        </p:grpSpPr>
        <p:sp>
          <p:nvSpPr>
            <p:cNvPr name="Freeform 4" id="4"/>
            <p:cNvSpPr/>
            <p:nvPr/>
          </p:nvSpPr>
          <p:spPr>
            <a:xfrm flipH="false" flipV="false" rot="0">
              <a:off x="63500" y="65659"/>
              <a:ext cx="10677265" cy="4181551"/>
            </a:xfrm>
            <a:custGeom>
              <a:avLst/>
              <a:gdLst/>
              <a:ahLst/>
              <a:cxnLst/>
              <a:rect r="r" b="b" t="t" l="l"/>
              <a:pathLst>
                <a:path h="4181551" w="10677265">
                  <a:moveTo>
                    <a:pt x="0" y="0"/>
                  </a:moveTo>
                  <a:lnTo>
                    <a:pt x="0" y="4181551"/>
                  </a:lnTo>
                  <a:lnTo>
                    <a:pt x="10677265" y="4181551"/>
                  </a:lnTo>
                  <a:lnTo>
                    <a:pt x="10677265" y="0"/>
                  </a:lnTo>
                  <a:close/>
                </a:path>
              </a:pathLst>
            </a:custGeom>
            <a:blipFill>
              <a:blip r:embed="rId3">
                <a:alphaModFix amt="0"/>
              </a:blip>
              <a:stretch>
                <a:fillRect l="-1066" t="-1570" r="-1066" b="-58"/>
              </a:stretch>
            </a:blipFill>
          </p:spPr>
        </p:sp>
        <p:sp>
          <p:nvSpPr>
            <p:cNvPr name="Freeform 5" id="5"/>
            <p:cNvSpPr/>
            <p:nvPr/>
          </p:nvSpPr>
          <p:spPr>
            <a:xfrm flipH="false" flipV="false" rot="0">
              <a:off x="2086609" y="65659"/>
              <a:ext cx="6607171" cy="3367644"/>
            </a:xfrm>
            <a:custGeom>
              <a:avLst/>
              <a:gdLst/>
              <a:ahLst/>
              <a:cxnLst/>
              <a:rect r="r" b="b" t="t" l="l"/>
              <a:pathLst>
                <a:path h="3367644" w="6607171">
                  <a:moveTo>
                    <a:pt x="0" y="0"/>
                  </a:moveTo>
                  <a:lnTo>
                    <a:pt x="0" y="3367644"/>
                  </a:lnTo>
                  <a:lnTo>
                    <a:pt x="6607170" y="3367644"/>
                  </a:lnTo>
                  <a:lnTo>
                    <a:pt x="6607170" y="0"/>
                  </a:lnTo>
                  <a:close/>
                </a:path>
              </a:pathLst>
            </a:custGeom>
            <a:blipFill>
              <a:blip r:embed="rId3">
                <a:alphaModFix amt="0"/>
              </a:blip>
              <a:stretch>
                <a:fillRect l="-32342" t="-1949" r="-32704" b="-24241"/>
              </a:stretch>
            </a:blipFill>
          </p:spPr>
        </p:sp>
        <p:sp>
          <p:nvSpPr>
            <p:cNvPr name="Freeform 6" id="6"/>
            <p:cNvSpPr/>
            <p:nvPr/>
          </p:nvSpPr>
          <p:spPr>
            <a:xfrm flipH="false" flipV="false" rot="0">
              <a:off x="4866637" y="3615703"/>
              <a:ext cx="5874127" cy="712793"/>
            </a:xfrm>
            <a:custGeom>
              <a:avLst/>
              <a:gdLst/>
              <a:ahLst/>
              <a:cxnLst/>
              <a:rect r="r" b="b" t="t" l="l"/>
              <a:pathLst>
                <a:path h="712793" w="5874127">
                  <a:moveTo>
                    <a:pt x="0" y="0"/>
                  </a:moveTo>
                  <a:lnTo>
                    <a:pt x="0" y="712792"/>
                  </a:lnTo>
                  <a:lnTo>
                    <a:pt x="5874128" y="712792"/>
                  </a:lnTo>
                  <a:lnTo>
                    <a:pt x="5874128" y="0"/>
                  </a:lnTo>
                  <a:close/>
                </a:path>
              </a:pathLst>
            </a:custGeom>
            <a:solidFill>
              <a:srgbClr val="000000">
                <a:alpha val="0"/>
              </a:srgbClr>
            </a:solidFill>
          </p:spPr>
        </p:sp>
      </p:grpSp>
      <p:sp>
        <p:nvSpPr>
          <p:cNvPr name="TextBox 7" id="7"/>
          <p:cNvSpPr txBox="true"/>
          <p:nvPr/>
        </p:nvSpPr>
        <p:spPr>
          <a:xfrm rot="0">
            <a:off x="201392" y="679800"/>
            <a:ext cx="4456658" cy="500365"/>
          </a:xfrm>
          <a:prstGeom prst="rect">
            <a:avLst/>
          </a:prstGeom>
        </p:spPr>
        <p:txBody>
          <a:bodyPr anchor="t" rtlCol="false" tIns="0" lIns="0" bIns="0" rIns="0">
            <a:spAutoFit/>
          </a:bodyPr>
          <a:lstStyle/>
          <a:p>
            <a:pPr algn="l">
              <a:lnSpc>
                <a:spcPts val="3920"/>
              </a:lnSpc>
            </a:pPr>
            <a:r>
              <a:rPr lang="en-US" b="true" sz="2800">
                <a:solidFill>
                  <a:srgbClr val="FFFFFF"/>
                </a:solidFill>
                <a:latin typeface="Times New Roman Bold"/>
                <a:ea typeface="Times New Roman Bold"/>
                <a:cs typeface="Times New Roman Bold"/>
                <a:sym typeface="Times New Roman Bold"/>
              </a:rPr>
              <a:t>SYSTEM ARCHITECTURE</a:t>
            </a:r>
          </a:p>
        </p:txBody>
      </p:sp>
      <p:sp>
        <p:nvSpPr>
          <p:cNvPr name="TextBox 8" id="8"/>
          <p:cNvSpPr txBox="true"/>
          <p:nvPr/>
        </p:nvSpPr>
        <p:spPr>
          <a:xfrm rot="0">
            <a:off x="649751" y="1613635"/>
            <a:ext cx="9286249" cy="4107205"/>
          </a:xfrm>
          <a:prstGeom prst="rect">
            <a:avLst/>
          </a:prstGeom>
        </p:spPr>
        <p:txBody>
          <a:bodyPr anchor="t" rtlCol="false" tIns="0" lIns="0" bIns="0" rIns="0">
            <a:spAutoFit/>
          </a:bodyPr>
          <a:lstStyle/>
          <a:p>
            <a:pPr algn="just" marL="474981" indent="-237491" lvl="1">
              <a:lnSpc>
                <a:spcPts val="2549"/>
              </a:lnSpc>
              <a:buFont typeface="Arial"/>
              <a:buChar char="•"/>
            </a:pPr>
            <a:r>
              <a:rPr lang="en-US" b="true" sz="2200">
                <a:solidFill>
                  <a:srgbClr val="000000"/>
                </a:solidFill>
                <a:latin typeface="Times New Roman Bold"/>
                <a:ea typeface="Times New Roman Bold"/>
                <a:cs typeface="Times New Roman Bold"/>
                <a:sym typeface="Times New Roman Bold"/>
              </a:rPr>
              <a:t>Frontend + API </a:t>
            </a:r>
            <a:r>
              <a:rPr lang="en-US" b="true" sz="2200">
                <a:solidFill>
                  <a:srgbClr val="000000"/>
                </a:solidFill>
                <a:latin typeface="Times New Roman Bold"/>
                <a:ea typeface="Times New Roman Bold"/>
                <a:cs typeface="Times New Roman Bold"/>
                <a:sym typeface="Times New Roman Bold"/>
              </a:rPr>
              <a:t>Integration Module: </a:t>
            </a:r>
            <a:r>
              <a:rPr lang="en-US" sz="2200">
                <a:solidFill>
                  <a:srgbClr val="000000"/>
                </a:solidFill>
                <a:latin typeface="Times New Roman"/>
                <a:ea typeface="Times New Roman"/>
                <a:cs typeface="Times New Roman"/>
                <a:sym typeface="Times New Roman"/>
              </a:rPr>
              <a:t>Provides user interface for uploading images through camera or file input, displays extracted results in dashboard, and communicates with backend using FastAPI for processing and data exchange.</a:t>
            </a:r>
          </a:p>
          <a:p>
            <a:pPr algn="just" marL="474981" indent="-237491" lvl="1">
              <a:lnSpc>
                <a:spcPts val="2549"/>
              </a:lnSpc>
              <a:buFont typeface="Arial"/>
              <a:buChar char="•"/>
            </a:pPr>
            <a:r>
              <a:rPr lang="en-US" b="true" sz="2200">
                <a:solidFill>
                  <a:srgbClr val="000000"/>
                </a:solidFill>
                <a:latin typeface="Times New Roman Bold"/>
                <a:ea typeface="Times New Roman Bold"/>
                <a:cs typeface="Times New Roman Bold"/>
                <a:sym typeface="Times New Roman Bold"/>
              </a:rPr>
              <a:t>OCR Module:</a:t>
            </a:r>
            <a:r>
              <a:rPr lang="en-US" sz="2200">
                <a:solidFill>
                  <a:srgbClr val="000000"/>
                </a:solidFill>
                <a:latin typeface="Times New Roman"/>
                <a:ea typeface="Times New Roman"/>
                <a:cs typeface="Times New Roman"/>
                <a:sym typeface="Times New Roman"/>
              </a:rPr>
              <a:t> Uses PaddleOCR to process input images and extract textual content along with bounding box coordinates, which helps in identifying the position of each text element in the document.</a:t>
            </a:r>
          </a:p>
          <a:p>
            <a:pPr algn="just" marL="474981" indent="-237491" lvl="1">
              <a:lnSpc>
                <a:spcPts val="2549"/>
              </a:lnSpc>
              <a:buFont typeface="Arial"/>
              <a:buChar char="•"/>
            </a:pPr>
            <a:r>
              <a:rPr lang="en-US" b="true" sz="2200">
                <a:solidFill>
                  <a:srgbClr val="000000"/>
                </a:solidFill>
                <a:latin typeface="Times New Roman Bold"/>
                <a:ea typeface="Times New Roman Bold"/>
                <a:cs typeface="Times New Roman Bold"/>
                <a:sym typeface="Times New Roman Bold"/>
              </a:rPr>
              <a:t>LayoutLMv3 Module: </a:t>
            </a:r>
            <a:r>
              <a:rPr lang="en-US" sz="2200">
                <a:solidFill>
                  <a:srgbClr val="000000"/>
                </a:solidFill>
                <a:latin typeface="Times New Roman"/>
                <a:ea typeface="Times New Roman"/>
                <a:cs typeface="Times New Roman"/>
                <a:sym typeface="Times New Roman"/>
              </a:rPr>
              <a:t>Takes OCR output as input and analyzes the document layout by understanding the spatial structure, relationships, and positioning of text elements to identify meaningful sections.</a:t>
            </a:r>
          </a:p>
          <a:p>
            <a:pPr algn="just" marL="474981" indent="-237491" lvl="1">
              <a:lnSpc>
                <a:spcPts val="2549"/>
              </a:lnSpc>
              <a:buFont typeface="Arial"/>
              <a:buChar char="•"/>
            </a:pPr>
            <a:r>
              <a:rPr lang="en-US" b="true" sz="2200">
                <a:solidFill>
                  <a:srgbClr val="000000"/>
                </a:solidFill>
                <a:latin typeface="Times New Roman Bold"/>
                <a:ea typeface="Times New Roman Bold"/>
                <a:cs typeface="Times New Roman Bold"/>
                <a:sym typeface="Times New Roman Bold"/>
              </a:rPr>
              <a:t>Vision-Language Model (VLM) Module:</a:t>
            </a:r>
            <a:r>
              <a:rPr lang="en-US" sz="2200">
                <a:solidFill>
                  <a:srgbClr val="000000"/>
                </a:solidFill>
                <a:latin typeface="Times New Roman"/>
                <a:ea typeface="Times New Roman"/>
                <a:cs typeface="Times New Roman"/>
                <a:sym typeface="Times New Roman"/>
              </a:rPr>
              <a:t> Uses both image and extracted text to understand context and semantics, and accurately extracts structured information such as vendor name, total amount, tax details, and line items.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74487"/>
            <a:ext cx="10696575" cy="6071359"/>
          </a:xfrm>
          <a:custGeom>
            <a:avLst/>
            <a:gdLst/>
            <a:ahLst/>
            <a:cxnLst/>
            <a:rect r="r" b="b" t="t" l="l"/>
            <a:pathLst>
              <a:path h="6071359" w="10696575">
                <a:moveTo>
                  <a:pt x="0" y="0"/>
                </a:moveTo>
                <a:lnTo>
                  <a:pt x="10696575" y="0"/>
                </a:lnTo>
                <a:lnTo>
                  <a:pt x="10696575" y="6071359"/>
                </a:lnTo>
                <a:lnTo>
                  <a:pt x="0" y="6071359"/>
                </a:lnTo>
                <a:lnTo>
                  <a:pt x="0" y="0"/>
                </a:lnTo>
                <a:close/>
              </a:path>
            </a:pathLst>
          </a:custGeom>
          <a:blipFill>
            <a:blip r:embed="rId2"/>
            <a:stretch>
              <a:fillRect l="0" t="0" r="0" b="0"/>
            </a:stretch>
          </a:blipFill>
        </p:spPr>
      </p:sp>
      <p:sp>
        <p:nvSpPr>
          <p:cNvPr name="TextBox 3" id="3"/>
          <p:cNvSpPr txBox="true"/>
          <p:nvPr/>
        </p:nvSpPr>
        <p:spPr>
          <a:xfrm rot="0">
            <a:off x="115624" y="679800"/>
            <a:ext cx="3291036" cy="500365"/>
          </a:xfrm>
          <a:prstGeom prst="rect">
            <a:avLst/>
          </a:prstGeom>
        </p:spPr>
        <p:txBody>
          <a:bodyPr anchor="t" rtlCol="false" tIns="0" lIns="0" bIns="0" rIns="0">
            <a:spAutoFit/>
          </a:bodyPr>
          <a:lstStyle/>
          <a:p>
            <a:pPr algn="l">
              <a:lnSpc>
                <a:spcPts val="3920"/>
              </a:lnSpc>
            </a:pPr>
            <a:r>
              <a:rPr lang="en-US" b="true" sz="2800">
                <a:solidFill>
                  <a:srgbClr val="FFFFFF"/>
                </a:solidFill>
                <a:latin typeface="Times New Roman Bold"/>
                <a:ea typeface="Times New Roman Bold"/>
                <a:cs typeface="Times New Roman Bold"/>
                <a:sym typeface="Times New Roman Bold"/>
              </a:rPr>
              <a:t>EXISTING SYSTEM</a:t>
            </a:r>
          </a:p>
        </p:txBody>
      </p:sp>
      <p:sp>
        <p:nvSpPr>
          <p:cNvPr name="TextBox 4" id="4"/>
          <p:cNvSpPr txBox="true"/>
          <p:nvPr/>
        </p:nvSpPr>
        <p:spPr>
          <a:xfrm rot="0">
            <a:off x="756000" y="1577557"/>
            <a:ext cx="8679716" cy="3708090"/>
          </a:xfrm>
          <a:prstGeom prst="rect">
            <a:avLst/>
          </a:prstGeom>
        </p:spPr>
        <p:txBody>
          <a:bodyPr anchor="t" rtlCol="false" tIns="0" lIns="0" bIns="0" rIns="0">
            <a:spAutoFit/>
          </a:bodyPr>
          <a:lstStyle/>
          <a:p>
            <a:pPr algn="just">
              <a:lnSpc>
                <a:spcPts val="2992"/>
              </a:lnSpc>
            </a:pPr>
            <a:r>
              <a:rPr lang="en-US" sz="2137">
                <a:solidFill>
                  <a:srgbClr val="000000"/>
                </a:solidFill>
                <a:latin typeface="Times New Roman"/>
                <a:ea typeface="Times New Roman"/>
                <a:cs typeface="Times New Roman"/>
                <a:sym typeface="Times New Roman"/>
              </a:rPr>
              <a:t>Existing syst</a:t>
            </a:r>
            <a:r>
              <a:rPr lang="en-US" sz="2137">
                <a:solidFill>
                  <a:srgbClr val="000000"/>
                </a:solidFill>
                <a:latin typeface="Times New Roman"/>
                <a:ea typeface="Times New Roman"/>
                <a:cs typeface="Times New Roman"/>
                <a:sym typeface="Times New Roman"/>
              </a:rPr>
              <a:t>e</a:t>
            </a:r>
            <a:r>
              <a:rPr lang="en-US" sz="2137">
                <a:solidFill>
                  <a:srgbClr val="000000"/>
                </a:solidFill>
                <a:latin typeface="Times New Roman"/>
                <a:ea typeface="Times New Roman"/>
                <a:cs typeface="Times New Roman"/>
                <a:sym typeface="Times New Roman"/>
              </a:rPr>
              <a:t>ms</a:t>
            </a:r>
            <a:r>
              <a:rPr lang="en-US" sz="2137">
                <a:solidFill>
                  <a:srgbClr val="000000"/>
                </a:solidFill>
                <a:latin typeface="Times New Roman"/>
                <a:ea typeface="Times New Roman"/>
                <a:cs typeface="Times New Roman"/>
                <a:sym typeface="Times New Roman"/>
              </a:rPr>
              <a:t> </a:t>
            </a:r>
            <a:r>
              <a:rPr lang="en-US" sz="2137">
                <a:solidFill>
                  <a:srgbClr val="000000"/>
                </a:solidFill>
                <a:latin typeface="Times New Roman"/>
                <a:ea typeface="Times New Roman"/>
                <a:cs typeface="Times New Roman"/>
                <a:sym typeface="Times New Roman"/>
              </a:rPr>
              <a:t>mainly use basic OCR techniques that extract only raw text without understanding document structure. These systems fail to handle complex invoice layouts, handwritten text, and multilingual content effectively. Most solutions require manual verification and correction, making the process slow and inefficient.</a:t>
            </a:r>
          </a:p>
          <a:p>
            <a:pPr algn="just">
              <a:lnSpc>
                <a:spcPts val="2992"/>
              </a:lnSpc>
            </a:pPr>
            <a:r>
              <a:rPr lang="en-US" sz="2137">
                <a:solidFill>
                  <a:srgbClr val="000000"/>
                </a:solidFill>
                <a:latin typeface="Times New Roman"/>
                <a:ea typeface="Times New Roman"/>
                <a:cs typeface="Times New Roman"/>
                <a:sym typeface="Times New Roman"/>
              </a:rPr>
              <a:t>Problem</a:t>
            </a:r>
            <a:r>
              <a:rPr lang="en-US" sz="2137">
                <a:solidFill>
                  <a:srgbClr val="000000"/>
                </a:solidFill>
                <a:latin typeface="Times New Roman"/>
                <a:ea typeface="Times New Roman"/>
                <a:cs typeface="Times New Roman"/>
                <a:sym typeface="Times New Roman"/>
              </a:rPr>
              <a:t>s</a:t>
            </a:r>
            <a:r>
              <a:rPr lang="en-US" sz="2137">
                <a:solidFill>
                  <a:srgbClr val="000000"/>
                </a:solidFill>
                <a:latin typeface="Times New Roman"/>
                <a:ea typeface="Times New Roman"/>
                <a:cs typeface="Times New Roman"/>
                <a:sym typeface="Times New Roman"/>
              </a:rPr>
              <a:t> in Existing System:</a:t>
            </a:r>
          </a:p>
          <a:p>
            <a:pPr algn="just" marL="461425" indent="-230712" lvl="1">
              <a:lnSpc>
                <a:spcPts val="2992"/>
              </a:lnSpc>
              <a:buFont typeface="Arial"/>
              <a:buChar char="•"/>
            </a:pPr>
            <a:r>
              <a:rPr lang="en-US" sz="2137">
                <a:solidFill>
                  <a:srgbClr val="000000"/>
                </a:solidFill>
                <a:latin typeface="Times New Roman"/>
                <a:ea typeface="Times New Roman"/>
                <a:cs typeface="Times New Roman"/>
                <a:sym typeface="Times New Roman"/>
              </a:rPr>
              <a:t>Cannot </a:t>
            </a:r>
            <a:r>
              <a:rPr lang="en-US" sz="2137">
                <a:solidFill>
                  <a:srgbClr val="000000"/>
                </a:solidFill>
                <a:latin typeface="Times New Roman"/>
                <a:ea typeface="Times New Roman"/>
                <a:cs typeface="Times New Roman"/>
                <a:sym typeface="Times New Roman"/>
              </a:rPr>
              <a:t>understand document layout properly</a:t>
            </a:r>
          </a:p>
          <a:p>
            <a:pPr algn="just" marL="461425" indent="-230712" lvl="1">
              <a:lnSpc>
                <a:spcPts val="2992"/>
              </a:lnSpc>
              <a:buFont typeface="Arial"/>
              <a:buChar char="•"/>
            </a:pPr>
            <a:r>
              <a:rPr lang="en-US" sz="2137">
                <a:solidFill>
                  <a:srgbClr val="000000"/>
                </a:solidFill>
                <a:latin typeface="Times New Roman"/>
                <a:ea typeface="Times New Roman"/>
                <a:cs typeface="Times New Roman"/>
                <a:sym typeface="Times New Roman"/>
              </a:rPr>
              <a:t>Poor accuracy in handwritten and multilingual data</a:t>
            </a:r>
          </a:p>
          <a:p>
            <a:pPr algn="just" marL="461425" indent="-230712" lvl="1">
              <a:lnSpc>
                <a:spcPts val="2992"/>
              </a:lnSpc>
              <a:buFont typeface="Arial"/>
              <a:buChar char="•"/>
            </a:pPr>
            <a:r>
              <a:rPr lang="en-US" sz="2137">
                <a:solidFill>
                  <a:srgbClr val="000000"/>
                </a:solidFill>
                <a:latin typeface="Times New Roman"/>
                <a:ea typeface="Times New Roman"/>
                <a:cs typeface="Times New Roman"/>
                <a:sym typeface="Times New Roman"/>
              </a:rPr>
              <a:t>Requires manual data correction</a:t>
            </a:r>
          </a:p>
          <a:p>
            <a:pPr algn="just" marL="461425" indent="-230712" lvl="1">
              <a:lnSpc>
                <a:spcPts val="2992"/>
              </a:lnSpc>
              <a:buFont typeface="Arial"/>
              <a:buChar char="•"/>
            </a:pPr>
            <a:r>
              <a:rPr lang="en-US" sz="2137">
                <a:solidFill>
                  <a:srgbClr val="000000"/>
                </a:solidFill>
                <a:latin typeface="Times New Roman"/>
                <a:ea typeface="Times New Roman"/>
                <a:cs typeface="Times New Roman"/>
                <a:sym typeface="Times New Roman"/>
              </a:rPr>
              <a:t>Does not extract structured fields effectively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56285"/>
            <a:ext cx="10631729" cy="6012542"/>
          </a:xfrm>
          <a:custGeom>
            <a:avLst/>
            <a:gdLst/>
            <a:ahLst/>
            <a:cxnLst/>
            <a:rect r="r" b="b" t="t" l="l"/>
            <a:pathLst>
              <a:path h="6012542" w="10631729">
                <a:moveTo>
                  <a:pt x="0" y="0"/>
                </a:moveTo>
                <a:lnTo>
                  <a:pt x="10631729" y="0"/>
                </a:lnTo>
                <a:lnTo>
                  <a:pt x="10631729" y="6012542"/>
                </a:lnTo>
                <a:lnTo>
                  <a:pt x="0" y="6012542"/>
                </a:lnTo>
                <a:lnTo>
                  <a:pt x="0" y="0"/>
                </a:lnTo>
                <a:close/>
              </a:path>
            </a:pathLst>
          </a:custGeom>
          <a:blipFill>
            <a:blip r:embed="rId2"/>
            <a:stretch>
              <a:fillRect l="-647" t="-126" r="-985" b="-31"/>
            </a:stretch>
          </a:blipFill>
        </p:spPr>
      </p:sp>
      <p:sp>
        <p:nvSpPr>
          <p:cNvPr name="Freeform 3" id="3"/>
          <p:cNvSpPr/>
          <p:nvPr/>
        </p:nvSpPr>
        <p:spPr>
          <a:xfrm flipH="false" flipV="false" rot="0">
            <a:off x="4824260" y="6159789"/>
            <a:ext cx="5872315" cy="686057"/>
          </a:xfrm>
          <a:custGeom>
            <a:avLst/>
            <a:gdLst/>
            <a:ahLst/>
            <a:cxnLst/>
            <a:rect r="r" b="b" t="t" l="l"/>
            <a:pathLst>
              <a:path h="686057" w="5872315">
                <a:moveTo>
                  <a:pt x="0" y="0"/>
                </a:moveTo>
                <a:lnTo>
                  <a:pt x="5872315" y="0"/>
                </a:lnTo>
                <a:lnTo>
                  <a:pt x="5872315" y="686057"/>
                </a:lnTo>
                <a:lnTo>
                  <a:pt x="0" y="686057"/>
                </a:lnTo>
                <a:lnTo>
                  <a:pt x="0" y="0"/>
                </a:lnTo>
                <a:close/>
              </a:path>
            </a:pathLst>
          </a:custGeom>
          <a:blipFill>
            <a:blip r:embed="rId3"/>
            <a:stretch>
              <a:fillRect l="0" t="0" r="-278" b="0"/>
            </a:stretch>
          </a:blipFill>
        </p:spPr>
      </p:sp>
      <p:sp>
        <p:nvSpPr>
          <p:cNvPr name="TextBox 4" id="4"/>
          <p:cNvSpPr txBox="true"/>
          <p:nvPr/>
        </p:nvSpPr>
        <p:spPr>
          <a:xfrm rot="0">
            <a:off x="203754" y="679800"/>
            <a:ext cx="3231207" cy="500365"/>
          </a:xfrm>
          <a:prstGeom prst="rect">
            <a:avLst/>
          </a:prstGeom>
        </p:spPr>
        <p:txBody>
          <a:bodyPr anchor="t" rtlCol="false" tIns="0" lIns="0" bIns="0" rIns="0">
            <a:spAutoFit/>
          </a:bodyPr>
          <a:lstStyle/>
          <a:p>
            <a:pPr algn="l">
              <a:lnSpc>
                <a:spcPts val="3920"/>
              </a:lnSpc>
            </a:pPr>
            <a:r>
              <a:rPr lang="en-US" b="true" sz="2800">
                <a:solidFill>
                  <a:srgbClr val="FFFFFF"/>
                </a:solidFill>
                <a:latin typeface="Times New Roman Bold"/>
                <a:ea typeface="Times New Roman Bold"/>
                <a:cs typeface="Times New Roman Bold"/>
                <a:sym typeface="Times New Roman Bold"/>
              </a:rPr>
              <a:t>PROPOSE SYSTEM</a:t>
            </a:r>
          </a:p>
        </p:txBody>
      </p:sp>
      <p:sp>
        <p:nvSpPr>
          <p:cNvPr name="TextBox 5" id="5"/>
          <p:cNvSpPr txBox="true"/>
          <p:nvPr/>
        </p:nvSpPr>
        <p:spPr>
          <a:xfrm rot="0">
            <a:off x="756000" y="2176457"/>
            <a:ext cx="9180000" cy="2929890"/>
          </a:xfrm>
          <a:prstGeom prst="rect">
            <a:avLst/>
          </a:prstGeom>
        </p:spPr>
        <p:txBody>
          <a:bodyPr anchor="t" rtlCol="false" tIns="0" lIns="0" bIns="0" rIns="0">
            <a:spAutoFit/>
          </a:bodyPr>
          <a:lstStyle/>
          <a:p>
            <a:pPr algn="just">
              <a:lnSpc>
                <a:spcPts val="3359"/>
              </a:lnSpc>
            </a:pPr>
            <a:r>
              <a:rPr lang="en-US" sz="2400">
                <a:solidFill>
                  <a:srgbClr val="000000"/>
                </a:solidFill>
                <a:latin typeface="Times New Roman"/>
                <a:ea typeface="Times New Roman"/>
                <a:cs typeface="Times New Roman"/>
                <a:sym typeface="Times New Roman"/>
              </a:rPr>
              <a:t>The propos</a:t>
            </a:r>
            <a:r>
              <a:rPr lang="en-US" sz="2400">
                <a:solidFill>
                  <a:srgbClr val="000000"/>
                </a:solidFill>
                <a:latin typeface="Times New Roman"/>
                <a:ea typeface="Times New Roman"/>
                <a:cs typeface="Times New Roman"/>
                <a:sym typeface="Times New Roman"/>
              </a:rPr>
              <a:t>ed system is an intelligent document processing solution that integrates layout-aware OCR with vision-language models to extract structured information from invoices and receipts. It can understand both the visual layout and textual meaning of documents, enabling accurate extraction of key fields such as vendor details, amounts, and line items. The system supports multilingual and handwritten inputs, providing a fully automated and efficient solution for enterprise document processing.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74487"/>
            <a:ext cx="10696575" cy="6071359"/>
          </a:xfrm>
          <a:custGeom>
            <a:avLst/>
            <a:gdLst/>
            <a:ahLst/>
            <a:cxnLst/>
            <a:rect r="r" b="b" t="t" l="l"/>
            <a:pathLst>
              <a:path h="6071359" w="10696575">
                <a:moveTo>
                  <a:pt x="0" y="0"/>
                </a:moveTo>
                <a:lnTo>
                  <a:pt x="10696575" y="0"/>
                </a:lnTo>
                <a:lnTo>
                  <a:pt x="10696575" y="6071359"/>
                </a:lnTo>
                <a:lnTo>
                  <a:pt x="0" y="6071359"/>
                </a:lnTo>
                <a:lnTo>
                  <a:pt x="0" y="0"/>
                </a:lnTo>
                <a:close/>
              </a:path>
            </a:pathLst>
          </a:custGeom>
          <a:blipFill>
            <a:blip r:embed="rId2"/>
            <a:stretch>
              <a:fillRect l="0" t="0" r="0" b="0"/>
            </a:stretch>
          </a:blipFill>
        </p:spPr>
      </p:sp>
      <p:sp>
        <p:nvSpPr>
          <p:cNvPr name="TextBox 3" id="3"/>
          <p:cNvSpPr txBox="true"/>
          <p:nvPr/>
        </p:nvSpPr>
        <p:spPr>
          <a:xfrm rot="0">
            <a:off x="196510" y="698287"/>
            <a:ext cx="2490043" cy="500365"/>
          </a:xfrm>
          <a:prstGeom prst="rect">
            <a:avLst/>
          </a:prstGeom>
        </p:spPr>
        <p:txBody>
          <a:bodyPr anchor="t" rtlCol="false" tIns="0" lIns="0" bIns="0" rIns="0">
            <a:spAutoFit/>
          </a:bodyPr>
          <a:lstStyle/>
          <a:p>
            <a:pPr algn="l">
              <a:lnSpc>
                <a:spcPts val="3920"/>
              </a:lnSpc>
            </a:pPr>
            <a:r>
              <a:rPr lang="en-US" b="true" sz="2800">
                <a:solidFill>
                  <a:srgbClr val="FFFFFF"/>
                </a:solidFill>
                <a:latin typeface="Times New Roman Bold"/>
                <a:ea typeface="Times New Roman Bold"/>
                <a:cs typeface="Times New Roman Bold"/>
                <a:sym typeface="Times New Roman Bold"/>
              </a:rPr>
              <a:t>ADVANTAGES</a:t>
            </a:r>
          </a:p>
        </p:txBody>
      </p:sp>
      <p:sp>
        <p:nvSpPr>
          <p:cNvPr name="TextBox 4" id="4"/>
          <p:cNvSpPr txBox="true"/>
          <p:nvPr/>
        </p:nvSpPr>
        <p:spPr>
          <a:xfrm rot="0">
            <a:off x="684000" y="2496030"/>
            <a:ext cx="9180000" cy="251079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Pro</a:t>
            </a:r>
            <a:r>
              <a:rPr lang="en-US" sz="2400">
                <a:solidFill>
                  <a:srgbClr val="000000"/>
                </a:solidFill>
                <a:latin typeface="Times New Roman"/>
                <a:ea typeface="Times New Roman"/>
                <a:cs typeface="Times New Roman"/>
                <a:sym typeface="Times New Roman"/>
              </a:rPr>
              <a:t>vides accurate structured data extraction from invoices and receipts</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Supports handwritten and multilingual document processing</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Reduces manual data entry and human errors</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Understands document layout and context effectively</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Improves processing speed and automation</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Suitable for real-time enterprise applications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72963"/>
            <a:ext cx="10698480" cy="6015971"/>
            <a:chOff x="0" y="0"/>
            <a:chExt cx="10698480" cy="6015965"/>
          </a:xfrm>
        </p:grpSpPr>
        <p:sp>
          <p:nvSpPr>
            <p:cNvPr name="Freeform 3" id="3"/>
            <p:cNvSpPr/>
            <p:nvPr/>
          </p:nvSpPr>
          <p:spPr>
            <a:xfrm flipH="false" flipV="false" rot="0">
              <a:off x="0" y="0"/>
              <a:ext cx="10696449" cy="6015984"/>
            </a:xfrm>
            <a:custGeom>
              <a:avLst/>
              <a:gdLst/>
              <a:ahLst/>
              <a:cxnLst/>
              <a:rect r="r" b="b" t="t" l="l"/>
              <a:pathLst>
                <a:path h="6015984" w="10696449">
                  <a:moveTo>
                    <a:pt x="0" y="0"/>
                  </a:moveTo>
                  <a:lnTo>
                    <a:pt x="0" y="6015984"/>
                  </a:lnTo>
                  <a:lnTo>
                    <a:pt x="10696449" y="6015984"/>
                  </a:lnTo>
                  <a:lnTo>
                    <a:pt x="10696449" y="0"/>
                  </a:lnTo>
                  <a:close/>
                </a:path>
              </a:pathLst>
            </a:custGeom>
            <a:solidFill>
              <a:srgbClr val="FFFFFF"/>
            </a:solidFill>
          </p:spPr>
        </p:sp>
      </p:grpSp>
      <p:sp>
        <p:nvSpPr>
          <p:cNvPr name="Freeform 4" id="4"/>
          <p:cNvSpPr/>
          <p:nvPr/>
        </p:nvSpPr>
        <p:spPr>
          <a:xfrm flipH="false" flipV="false" rot="0">
            <a:off x="0" y="772963"/>
            <a:ext cx="10696575" cy="6012542"/>
          </a:xfrm>
          <a:custGeom>
            <a:avLst/>
            <a:gdLst/>
            <a:ahLst/>
            <a:cxnLst/>
            <a:rect r="r" b="b" t="t" l="l"/>
            <a:pathLst>
              <a:path h="6012542" w="10696575">
                <a:moveTo>
                  <a:pt x="0" y="0"/>
                </a:moveTo>
                <a:lnTo>
                  <a:pt x="10696575" y="0"/>
                </a:lnTo>
                <a:lnTo>
                  <a:pt x="10696575" y="6012542"/>
                </a:lnTo>
                <a:lnTo>
                  <a:pt x="0" y="6012542"/>
                </a:lnTo>
                <a:lnTo>
                  <a:pt x="0" y="0"/>
                </a:lnTo>
                <a:close/>
              </a:path>
            </a:pathLst>
          </a:custGeom>
          <a:blipFill>
            <a:blip r:embed="rId2"/>
            <a:stretch>
              <a:fillRect l="0" t="0" r="-37" b="0"/>
            </a:stretch>
          </a:blipFill>
        </p:spPr>
      </p:sp>
      <p:sp>
        <p:nvSpPr>
          <p:cNvPr name="Freeform 5" id="5"/>
          <p:cNvSpPr/>
          <p:nvPr/>
        </p:nvSpPr>
        <p:spPr>
          <a:xfrm flipH="false" flipV="false" rot="0">
            <a:off x="79143" y="1061952"/>
            <a:ext cx="10357580" cy="4211641"/>
          </a:xfrm>
          <a:custGeom>
            <a:avLst/>
            <a:gdLst/>
            <a:ahLst/>
            <a:cxnLst/>
            <a:rect r="r" b="b" t="t" l="l"/>
            <a:pathLst>
              <a:path h="4211641" w="10357580">
                <a:moveTo>
                  <a:pt x="0" y="0"/>
                </a:moveTo>
                <a:lnTo>
                  <a:pt x="10357580" y="0"/>
                </a:lnTo>
                <a:lnTo>
                  <a:pt x="10357580" y="4211640"/>
                </a:lnTo>
                <a:lnTo>
                  <a:pt x="0" y="4211640"/>
                </a:lnTo>
                <a:lnTo>
                  <a:pt x="0" y="0"/>
                </a:lnTo>
                <a:close/>
              </a:path>
            </a:pathLst>
          </a:custGeom>
          <a:blipFill>
            <a:blip r:embed="rId3"/>
            <a:stretch>
              <a:fillRect l="0" t="-384" r="0" b="-293"/>
            </a:stretch>
          </a:blipFill>
        </p:spPr>
      </p:sp>
      <p:sp>
        <p:nvSpPr>
          <p:cNvPr name="Freeform 6" id="6"/>
          <p:cNvSpPr/>
          <p:nvPr/>
        </p:nvSpPr>
        <p:spPr>
          <a:xfrm flipH="false" flipV="false" rot="0">
            <a:off x="79143" y="5273945"/>
            <a:ext cx="10357580" cy="1410233"/>
          </a:xfrm>
          <a:custGeom>
            <a:avLst/>
            <a:gdLst/>
            <a:ahLst/>
            <a:cxnLst/>
            <a:rect r="r" b="b" t="t" l="l"/>
            <a:pathLst>
              <a:path h="1410233" w="10357580">
                <a:moveTo>
                  <a:pt x="0" y="0"/>
                </a:moveTo>
                <a:lnTo>
                  <a:pt x="10357580" y="0"/>
                </a:lnTo>
                <a:lnTo>
                  <a:pt x="10357580" y="1410233"/>
                </a:lnTo>
                <a:lnTo>
                  <a:pt x="0" y="1410233"/>
                </a:lnTo>
                <a:lnTo>
                  <a:pt x="0" y="0"/>
                </a:lnTo>
                <a:close/>
              </a:path>
            </a:pathLst>
          </a:custGeom>
          <a:blipFill>
            <a:blip r:embed="rId4"/>
            <a:stretch>
              <a:fillRect l="0" t="0" r="0" b="0"/>
            </a:stretch>
          </a:blipFill>
        </p:spPr>
      </p:sp>
      <p:grpSp>
        <p:nvGrpSpPr>
          <p:cNvPr name="Group 7" id="7"/>
          <p:cNvGrpSpPr/>
          <p:nvPr/>
        </p:nvGrpSpPr>
        <p:grpSpPr>
          <a:xfrm rot="0">
            <a:off x="0" y="756000"/>
            <a:ext cx="10819381" cy="4189219"/>
            <a:chOff x="0" y="0"/>
            <a:chExt cx="10819384" cy="4189222"/>
          </a:xfrm>
        </p:grpSpPr>
        <p:sp>
          <p:nvSpPr>
            <p:cNvPr name="Freeform 8" id="8"/>
            <p:cNvSpPr/>
            <p:nvPr/>
          </p:nvSpPr>
          <p:spPr>
            <a:xfrm flipH="false" flipV="false" rot="0">
              <a:off x="63500" y="63500"/>
              <a:ext cx="10692384" cy="4062222"/>
            </a:xfrm>
            <a:custGeom>
              <a:avLst/>
              <a:gdLst/>
              <a:ahLst/>
              <a:cxnLst/>
              <a:rect r="r" b="b" t="t" l="l"/>
              <a:pathLst>
                <a:path h="4062222" w="10692384">
                  <a:moveTo>
                    <a:pt x="0" y="0"/>
                  </a:moveTo>
                  <a:lnTo>
                    <a:pt x="0" y="4062222"/>
                  </a:lnTo>
                  <a:lnTo>
                    <a:pt x="10692384" y="4062222"/>
                  </a:lnTo>
                  <a:lnTo>
                    <a:pt x="10692384" y="0"/>
                  </a:lnTo>
                  <a:close/>
                </a:path>
              </a:pathLst>
            </a:custGeom>
            <a:solidFill>
              <a:srgbClr val="000000">
                <a:alpha val="0"/>
              </a:srgbClr>
            </a:solidFill>
          </p:spPr>
        </p:sp>
        <p:sp>
          <p:nvSpPr>
            <p:cNvPr name="Freeform 9" id="9"/>
            <p:cNvSpPr/>
            <p:nvPr/>
          </p:nvSpPr>
          <p:spPr>
            <a:xfrm flipH="false" flipV="false" rot="0">
              <a:off x="142621" y="63500"/>
              <a:ext cx="10357104" cy="2547747"/>
            </a:xfrm>
            <a:custGeom>
              <a:avLst/>
              <a:gdLst/>
              <a:ahLst/>
              <a:cxnLst/>
              <a:rect r="r" b="b" t="t" l="l"/>
              <a:pathLst>
                <a:path h="2547747" w="10357104">
                  <a:moveTo>
                    <a:pt x="0" y="0"/>
                  </a:moveTo>
                  <a:lnTo>
                    <a:pt x="0" y="2547747"/>
                  </a:lnTo>
                  <a:lnTo>
                    <a:pt x="10357104" y="2547747"/>
                  </a:lnTo>
                  <a:lnTo>
                    <a:pt x="10357104" y="0"/>
                  </a:lnTo>
                  <a:close/>
                </a:path>
              </a:pathLst>
            </a:custGeom>
            <a:solidFill>
              <a:srgbClr val="000000">
                <a:alpha val="0"/>
              </a:srgbClr>
            </a:solidFill>
          </p:spPr>
        </p:sp>
        <p:sp>
          <p:nvSpPr>
            <p:cNvPr name="Freeform 10" id="10"/>
            <p:cNvSpPr/>
            <p:nvPr/>
          </p:nvSpPr>
          <p:spPr>
            <a:xfrm flipH="false" flipV="false" rot="0">
              <a:off x="142621" y="2611247"/>
              <a:ext cx="10357104" cy="1414272"/>
            </a:xfrm>
            <a:custGeom>
              <a:avLst/>
              <a:gdLst/>
              <a:ahLst/>
              <a:cxnLst/>
              <a:rect r="r" b="b" t="t" l="l"/>
              <a:pathLst>
                <a:path h="1414272" w="10357104">
                  <a:moveTo>
                    <a:pt x="0" y="1414272"/>
                  </a:moveTo>
                  <a:lnTo>
                    <a:pt x="10357104" y="1414272"/>
                  </a:lnTo>
                  <a:lnTo>
                    <a:pt x="10357104" y="0"/>
                  </a:lnTo>
                  <a:lnTo>
                    <a:pt x="0" y="0"/>
                  </a:lnTo>
                  <a:close/>
                </a:path>
              </a:pathLst>
            </a:custGeom>
            <a:solidFill>
              <a:srgbClr val="000000">
                <a:alpha val="0"/>
              </a:srgbClr>
            </a:solidFill>
          </p:spPr>
        </p:sp>
      </p:grpSp>
      <p:sp>
        <p:nvSpPr>
          <p:cNvPr name="TextBox 11" id="11"/>
          <p:cNvSpPr txBox="true"/>
          <p:nvPr/>
        </p:nvSpPr>
        <p:spPr>
          <a:xfrm rot="0">
            <a:off x="2157788" y="3503028"/>
            <a:ext cx="6503804" cy="899760"/>
          </a:xfrm>
          <a:prstGeom prst="rect">
            <a:avLst/>
          </a:prstGeom>
        </p:spPr>
        <p:txBody>
          <a:bodyPr anchor="t" rtlCol="false" tIns="0" lIns="0" bIns="0" rIns="0">
            <a:spAutoFit/>
          </a:bodyPr>
          <a:lstStyle/>
          <a:p>
            <a:pPr algn="ctr">
              <a:lnSpc>
                <a:spcPts val="7106"/>
              </a:lnSpc>
            </a:pPr>
            <a:r>
              <a:rPr lang="en-US" b="true" sz="5076">
                <a:solidFill>
                  <a:srgbClr val="FFFFFF"/>
                </a:solidFill>
                <a:latin typeface="Times New Roman Bold"/>
                <a:ea typeface="Times New Roman Bold"/>
                <a:cs typeface="Times New Roman Bold"/>
                <a:sym typeface="Times New Roma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DAHE7Zp5LhQ</dc:identifier>
  <dcterms:modified xsi:type="dcterms:W3CDTF">2011-08-01T06:04:30Z</dcterms:modified>
  <cp:revision>1</cp:revision>
  <dc:title>New Project Zeroth review</dc:title>
</cp:coreProperties>
</file>