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14.jpg" ContentType="image/jpg"/>
  <Override PartName="/ppt/media/image15.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89" r:id="rId6"/>
    <p:sldId id="290" r:id="rId7"/>
    <p:sldId id="282" r:id="rId8"/>
    <p:sldId id="263" r:id="rId9"/>
    <p:sldId id="264" r:id="rId10"/>
    <p:sldId id="265" r:id="rId11"/>
    <p:sldId id="286" r:id="rId12"/>
    <p:sldId id="285" r:id="rId13"/>
    <p:sldId id="284" r:id="rId14"/>
    <p:sldId id="266" r:id="rId15"/>
    <p:sldId id="267" r:id="rId16"/>
    <p:sldId id="268" r:id="rId17"/>
    <p:sldId id="270" r:id="rId18"/>
    <p:sldId id="271" r:id="rId19"/>
    <p:sldId id="272" r:id="rId20"/>
    <p:sldId id="273" r:id="rId21"/>
    <p:sldId id="283" r:id="rId22"/>
    <p:sldId id="274" r:id="rId23"/>
    <p:sldId id="275" r:id="rId24"/>
    <p:sldId id="287" r:id="rId25"/>
    <p:sldId id="276" r:id="rId26"/>
    <p:sldId id="278" r:id="rId27"/>
    <p:sldId id="279" r:id="rId28"/>
    <p:sldId id="288" r:id="rId29"/>
    <p:sldId id="281" r:id="rId30"/>
  </p:sldIdLst>
  <p:sldSz cx="10693400" cy="7556500"/>
  <p:notesSz cx="10693400" cy="7556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9" d="100"/>
          <a:sy n="59" d="100"/>
        </p:scale>
        <p:origin x="1216" y="6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481" y="2342515"/>
            <a:ext cx="9094788" cy="1586865"/>
          </a:xfrm>
          <a:prstGeom prst="rect">
            <a:avLst/>
          </a:prstGeom>
        </p:spPr>
        <p:txBody>
          <a:bodyPr wrap="square" lIns="0" tIns="0" rIns="0" bIns="0">
            <a:spAutoFit/>
          </a:bodyPr>
          <a:lstStyle>
            <a:lvl1pPr>
              <a:defRPr sz="3000" b="1"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604962" y="4231640"/>
            <a:ext cx="7489825" cy="1889125"/>
          </a:xfrm>
          <a:prstGeom prst="rect">
            <a:avLst/>
          </a:prstGeom>
        </p:spPr>
        <p:txBody>
          <a:bodyPr wrap="square" lIns="0" tIns="0" rIns="0" bIns="0">
            <a:spAutoFit/>
          </a:bodyPr>
          <a:lstStyle>
            <a:lvl1pPr>
              <a:defRPr sz="20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534987" y="1737995"/>
            <a:ext cx="4654391" cy="498729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10371" y="1737995"/>
            <a:ext cx="4654391" cy="498729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773735"/>
            <a:ext cx="10693400" cy="6036608"/>
          </a:xfrm>
          <a:prstGeom prst="rect">
            <a:avLst/>
          </a:prstGeom>
        </p:spPr>
      </p:pic>
      <p:sp>
        <p:nvSpPr>
          <p:cNvPr id="2" name="Holder 2"/>
          <p:cNvSpPr>
            <a:spLocks noGrp="1"/>
          </p:cNvSpPr>
          <p:nvPr>
            <p:ph type="title"/>
          </p:nvPr>
        </p:nvSpPr>
        <p:spPr>
          <a:xfrm>
            <a:off x="188163" y="682244"/>
            <a:ext cx="3599815" cy="592963"/>
          </a:xfrm>
          <a:prstGeom prst="rect">
            <a:avLst/>
          </a:prstGeom>
        </p:spPr>
        <p:txBody>
          <a:bodyPr wrap="square" lIns="0" tIns="0" rIns="0" bIns="0">
            <a:spAutoFit/>
          </a:bodyPr>
          <a:lstStyle>
            <a:lvl1pPr>
              <a:defRPr sz="3000" b="1"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456996" y="1445514"/>
            <a:ext cx="9706610" cy="3775710"/>
          </a:xfrm>
          <a:prstGeom prst="rect">
            <a:avLst/>
          </a:prstGeom>
        </p:spPr>
        <p:txBody>
          <a:bodyPr wrap="square" lIns="0" tIns="0" rIns="0" bIns="0">
            <a:spAutoFit/>
          </a:bodyPr>
          <a:lstStyle>
            <a:lvl1pPr>
              <a:defRPr sz="20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637915" y="7027545"/>
            <a:ext cx="3423920" cy="37782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987" y="7027545"/>
            <a:ext cx="2460942" cy="37782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6" name="Holder 6"/>
          <p:cNvSpPr>
            <a:spLocks noGrp="1"/>
          </p:cNvSpPr>
          <p:nvPr>
            <p:ph type="sldNum" sz="quarter" idx="7"/>
          </p:nvPr>
        </p:nvSpPr>
        <p:spPr>
          <a:xfrm>
            <a:off x="7703820" y="7027545"/>
            <a:ext cx="2460942" cy="37782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5.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fastapi.tiangolo.com/" TargetMode="External"/><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hyperlink" Target="https://developers.cloudflare.com/cloudflare-one/" TargetMode="External"/><Relationship Id="rId4" Type="http://schemas.openxmlformats.org/officeDocument/2006/relationships/hyperlink" Target="https://www.mongodb.com/docs/"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772963"/>
            <a:ext cx="10698480" cy="6015971"/>
            <a:chOff x="0" y="0"/>
            <a:chExt cx="10698480" cy="6015965"/>
          </a:xfrm>
        </p:grpSpPr>
        <p:sp>
          <p:nvSpPr>
            <p:cNvPr id="3" name="Freeform 3"/>
            <p:cNvSpPr/>
            <p:nvPr/>
          </p:nvSpPr>
          <p:spPr>
            <a:xfrm>
              <a:off x="0" y="0"/>
              <a:ext cx="10696449" cy="6015984"/>
            </a:xfrm>
            <a:custGeom>
              <a:avLst/>
              <a:gdLst/>
              <a:ahLst/>
              <a:cxnLst/>
              <a:rect l="l" t="t" r="r" b="b"/>
              <a:pathLst>
                <a:path w="10696449" h="6015984">
                  <a:moveTo>
                    <a:pt x="0" y="0"/>
                  </a:moveTo>
                  <a:lnTo>
                    <a:pt x="0" y="6015984"/>
                  </a:lnTo>
                  <a:lnTo>
                    <a:pt x="10696449" y="6015984"/>
                  </a:lnTo>
                  <a:lnTo>
                    <a:pt x="10696449" y="0"/>
                  </a:lnTo>
                  <a:close/>
                </a:path>
              </a:pathLst>
            </a:custGeom>
            <a:solidFill>
              <a:srgbClr val="FFFFFF"/>
            </a:solidFill>
          </p:spPr>
          <p:txBody>
            <a:bodyPr/>
            <a:lstStyle/>
            <a:p>
              <a:endParaRPr lang="en-IN"/>
            </a:p>
          </p:txBody>
        </p:sp>
      </p:grpSp>
      <p:sp>
        <p:nvSpPr>
          <p:cNvPr id="4" name="Freeform 4"/>
          <p:cNvSpPr/>
          <p:nvPr/>
        </p:nvSpPr>
        <p:spPr>
          <a:xfrm>
            <a:off x="0" y="772963"/>
            <a:ext cx="10696575" cy="6012542"/>
          </a:xfrm>
          <a:custGeom>
            <a:avLst/>
            <a:gdLst/>
            <a:ahLst/>
            <a:cxnLst/>
            <a:rect l="l" t="t" r="r" b="b"/>
            <a:pathLst>
              <a:path w="10696575" h="6012542">
                <a:moveTo>
                  <a:pt x="0" y="0"/>
                </a:moveTo>
                <a:lnTo>
                  <a:pt x="10696575" y="0"/>
                </a:lnTo>
                <a:lnTo>
                  <a:pt x="10696575" y="6012542"/>
                </a:lnTo>
                <a:lnTo>
                  <a:pt x="0" y="6012542"/>
                </a:lnTo>
                <a:lnTo>
                  <a:pt x="0" y="0"/>
                </a:lnTo>
                <a:close/>
              </a:path>
            </a:pathLst>
          </a:custGeom>
          <a:blipFill>
            <a:blip r:embed="rId2"/>
            <a:stretch>
              <a:fillRect r="-37"/>
            </a:stretch>
          </a:blipFill>
        </p:spPr>
        <p:txBody>
          <a:bodyPr/>
          <a:lstStyle/>
          <a:p>
            <a:endParaRPr lang="en-IN"/>
          </a:p>
        </p:txBody>
      </p:sp>
      <p:sp>
        <p:nvSpPr>
          <p:cNvPr id="5" name="Freeform 5"/>
          <p:cNvSpPr/>
          <p:nvPr/>
        </p:nvSpPr>
        <p:spPr>
          <a:xfrm>
            <a:off x="79143" y="1061952"/>
            <a:ext cx="10357580" cy="4211641"/>
          </a:xfrm>
          <a:custGeom>
            <a:avLst/>
            <a:gdLst/>
            <a:ahLst/>
            <a:cxnLst/>
            <a:rect l="l" t="t" r="r" b="b"/>
            <a:pathLst>
              <a:path w="10357580" h="4211641">
                <a:moveTo>
                  <a:pt x="0" y="0"/>
                </a:moveTo>
                <a:lnTo>
                  <a:pt x="10357580" y="0"/>
                </a:lnTo>
                <a:lnTo>
                  <a:pt x="10357580" y="4211640"/>
                </a:lnTo>
                <a:lnTo>
                  <a:pt x="0" y="4211640"/>
                </a:lnTo>
                <a:lnTo>
                  <a:pt x="0" y="0"/>
                </a:lnTo>
                <a:close/>
              </a:path>
            </a:pathLst>
          </a:custGeom>
          <a:blipFill>
            <a:blip r:embed="rId3"/>
            <a:stretch>
              <a:fillRect t="-384" b="-293"/>
            </a:stretch>
          </a:blipFill>
        </p:spPr>
        <p:txBody>
          <a:bodyPr/>
          <a:lstStyle/>
          <a:p>
            <a:endParaRPr lang="en-IN"/>
          </a:p>
        </p:txBody>
      </p:sp>
      <p:sp>
        <p:nvSpPr>
          <p:cNvPr id="6" name="Freeform 6"/>
          <p:cNvSpPr/>
          <p:nvPr/>
        </p:nvSpPr>
        <p:spPr>
          <a:xfrm>
            <a:off x="79143" y="5273945"/>
            <a:ext cx="10357580" cy="1410233"/>
          </a:xfrm>
          <a:custGeom>
            <a:avLst/>
            <a:gdLst/>
            <a:ahLst/>
            <a:cxnLst/>
            <a:rect l="l" t="t" r="r" b="b"/>
            <a:pathLst>
              <a:path w="10357580" h="1410233">
                <a:moveTo>
                  <a:pt x="0" y="0"/>
                </a:moveTo>
                <a:lnTo>
                  <a:pt x="10357580" y="0"/>
                </a:lnTo>
                <a:lnTo>
                  <a:pt x="10357580" y="1410233"/>
                </a:lnTo>
                <a:lnTo>
                  <a:pt x="0" y="1410233"/>
                </a:lnTo>
                <a:lnTo>
                  <a:pt x="0" y="0"/>
                </a:lnTo>
                <a:close/>
              </a:path>
            </a:pathLst>
          </a:custGeom>
          <a:blipFill>
            <a:blip r:embed="rId4"/>
            <a:stretch>
              <a:fillRect/>
            </a:stretch>
          </a:blipFill>
        </p:spPr>
        <p:txBody>
          <a:bodyPr/>
          <a:lstStyle/>
          <a:p>
            <a:endParaRPr lang="en-IN"/>
          </a:p>
        </p:txBody>
      </p:sp>
      <p:grpSp>
        <p:nvGrpSpPr>
          <p:cNvPr id="7" name="Group 7"/>
          <p:cNvGrpSpPr/>
          <p:nvPr/>
        </p:nvGrpSpPr>
        <p:grpSpPr>
          <a:xfrm>
            <a:off x="0" y="756000"/>
            <a:ext cx="10819381" cy="4189219"/>
            <a:chOff x="0" y="0"/>
            <a:chExt cx="10819384" cy="4189222"/>
          </a:xfrm>
        </p:grpSpPr>
        <p:sp>
          <p:nvSpPr>
            <p:cNvPr id="8" name="Freeform 8"/>
            <p:cNvSpPr/>
            <p:nvPr/>
          </p:nvSpPr>
          <p:spPr>
            <a:xfrm>
              <a:off x="63500" y="63500"/>
              <a:ext cx="10692384" cy="4062222"/>
            </a:xfrm>
            <a:custGeom>
              <a:avLst/>
              <a:gdLst/>
              <a:ahLst/>
              <a:cxnLst/>
              <a:rect l="l" t="t" r="r" b="b"/>
              <a:pathLst>
                <a:path w="10692384" h="4062222">
                  <a:moveTo>
                    <a:pt x="0" y="0"/>
                  </a:moveTo>
                  <a:lnTo>
                    <a:pt x="0" y="4062222"/>
                  </a:lnTo>
                  <a:lnTo>
                    <a:pt x="10692384" y="4062222"/>
                  </a:lnTo>
                  <a:lnTo>
                    <a:pt x="10692384" y="0"/>
                  </a:lnTo>
                  <a:close/>
                </a:path>
              </a:pathLst>
            </a:custGeom>
            <a:solidFill>
              <a:srgbClr val="000000">
                <a:alpha val="0"/>
              </a:srgbClr>
            </a:solidFill>
          </p:spPr>
          <p:txBody>
            <a:bodyPr/>
            <a:lstStyle/>
            <a:p>
              <a:endParaRPr lang="en-IN"/>
            </a:p>
          </p:txBody>
        </p:sp>
        <p:sp>
          <p:nvSpPr>
            <p:cNvPr id="9" name="Freeform 9"/>
            <p:cNvSpPr/>
            <p:nvPr/>
          </p:nvSpPr>
          <p:spPr>
            <a:xfrm>
              <a:off x="142621" y="63500"/>
              <a:ext cx="10357104" cy="2547747"/>
            </a:xfrm>
            <a:custGeom>
              <a:avLst/>
              <a:gdLst/>
              <a:ahLst/>
              <a:cxnLst/>
              <a:rect l="l" t="t" r="r" b="b"/>
              <a:pathLst>
                <a:path w="10357104" h="2547747">
                  <a:moveTo>
                    <a:pt x="0" y="0"/>
                  </a:moveTo>
                  <a:lnTo>
                    <a:pt x="0" y="2547747"/>
                  </a:lnTo>
                  <a:lnTo>
                    <a:pt x="10357104" y="2547747"/>
                  </a:lnTo>
                  <a:lnTo>
                    <a:pt x="10357104" y="0"/>
                  </a:lnTo>
                  <a:close/>
                </a:path>
              </a:pathLst>
            </a:custGeom>
            <a:solidFill>
              <a:srgbClr val="000000">
                <a:alpha val="0"/>
              </a:srgbClr>
            </a:solidFill>
          </p:spPr>
          <p:txBody>
            <a:bodyPr/>
            <a:lstStyle/>
            <a:p>
              <a:endParaRPr lang="en-IN"/>
            </a:p>
          </p:txBody>
        </p:sp>
        <p:sp>
          <p:nvSpPr>
            <p:cNvPr id="10" name="Freeform 10"/>
            <p:cNvSpPr/>
            <p:nvPr/>
          </p:nvSpPr>
          <p:spPr>
            <a:xfrm>
              <a:off x="142621" y="2611247"/>
              <a:ext cx="10357104" cy="1414272"/>
            </a:xfrm>
            <a:custGeom>
              <a:avLst/>
              <a:gdLst/>
              <a:ahLst/>
              <a:cxnLst/>
              <a:rect l="l" t="t" r="r" b="b"/>
              <a:pathLst>
                <a:path w="10357104" h="1414272">
                  <a:moveTo>
                    <a:pt x="0" y="1414272"/>
                  </a:moveTo>
                  <a:lnTo>
                    <a:pt x="10357104" y="1414272"/>
                  </a:lnTo>
                  <a:lnTo>
                    <a:pt x="10357104" y="0"/>
                  </a:lnTo>
                  <a:lnTo>
                    <a:pt x="0" y="0"/>
                  </a:lnTo>
                  <a:close/>
                </a:path>
              </a:pathLst>
            </a:custGeom>
            <a:solidFill>
              <a:srgbClr val="000000">
                <a:alpha val="0"/>
              </a:srgbClr>
            </a:solidFill>
          </p:spPr>
          <p:txBody>
            <a:bodyPr/>
            <a:lstStyle/>
            <a:p>
              <a:endParaRPr lang="en-IN"/>
            </a:p>
          </p:txBody>
        </p:sp>
      </p:grpSp>
      <p:sp>
        <p:nvSpPr>
          <p:cNvPr id="11" name="TextBox 11"/>
          <p:cNvSpPr txBox="1"/>
          <p:nvPr/>
        </p:nvSpPr>
        <p:spPr>
          <a:xfrm>
            <a:off x="2167395" y="2844227"/>
            <a:ext cx="6484590" cy="433116"/>
          </a:xfrm>
          <a:prstGeom prst="rect">
            <a:avLst/>
          </a:prstGeom>
        </p:spPr>
        <p:txBody>
          <a:bodyPr lIns="0" tIns="0" rIns="0" bIns="0" rtlCol="0" anchor="t">
            <a:spAutoFit/>
          </a:bodyPr>
          <a:lstStyle/>
          <a:p>
            <a:pPr algn="ctr">
              <a:lnSpc>
                <a:spcPts val="3427"/>
              </a:lnSpc>
            </a:pPr>
            <a:r>
              <a:rPr lang="en-US" sz="2448" b="1">
                <a:solidFill>
                  <a:srgbClr val="FFFFFF"/>
                </a:solidFill>
                <a:latin typeface="Times New Roman Bold"/>
                <a:ea typeface="Times New Roman Bold"/>
                <a:cs typeface="Times New Roman Bold"/>
                <a:sym typeface="Times New Roman Bold"/>
              </a:rPr>
              <a:t>Department of Computer Science &amp; Engineering</a:t>
            </a:r>
          </a:p>
        </p:txBody>
      </p:sp>
      <p:sp>
        <p:nvSpPr>
          <p:cNvPr id="12" name="TextBox 12"/>
          <p:cNvSpPr txBox="1"/>
          <p:nvPr/>
        </p:nvSpPr>
        <p:spPr>
          <a:xfrm>
            <a:off x="932452" y="4792449"/>
            <a:ext cx="2927564" cy="962292"/>
          </a:xfrm>
          <a:prstGeom prst="rect">
            <a:avLst/>
          </a:prstGeom>
        </p:spPr>
        <p:txBody>
          <a:bodyPr lIns="0" tIns="0" rIns="0" bIns="0" rtlCol="0" anchor="t">
            <a:spAutoFit/>
          </a:bodyPr>
          <a:lstStyle/>
          <a:p>
            <a:pPr algn="l">
              <a:lnSpc>
                <a:spcPts val="2517"/>
              </a:lnSpc>
            </a:pPr>
            <a:r>
              <a:rPr lang="en-US" sz="2100" b="1">
                <a:solidFill>
                  <a:srgbClr val="FFFFFF"/>
                </a:solidFill>
                <a:latin typeface="Times New Roman Bold"/>
                <a:ea typeface="Times New Roman Bold"/>
                <a:cs typeface="Times New Roman Bold"/>
                <a:sym typeface="Times New Roman Bold"/>
              </a:rPr>
              <a:t>Guided By</a:t>
            </a:r>
          </a:p>
          <a:p>
            <a:pPr algn="l">
              <a:lnSpc>
                <a:spcPts val="2517"/>
              </a:lnSpc>
            </a:pPr>
            <a:r>
              <a:rPr lang="en-US" sz="2100" b="1">
                <a:solidFill>
                  <a:srgbClr val="FFFFFF"/>
                </a:solidFill>
                <a:latin typeface="Times New Roman Bold"/>
                <a:ea typeface="Times New Roman Bold"/>
                <a:cs typeface="Times New Roman Bold"/>
                <a:sym typeface="Times New Roman Bold"/>
              </a:rPr>
              <a:t>Dr.P.Nandhini</a:t>
            </a:r>
          </a:p>
          <a:p>
            <a:pPr algn="l">
              <a:lnSpc>
                <a:spcPts val="2517"/>
              </a:lnSpc>
            </a:pPr>
            <a:r>
              <a:rPr lang="en-US" sz="2100" b="1">
                <a:solidFill>
                  <a:srgbClr val="FFFFFF"/>
                </a:solidFill>
                <a:latin typeface="Times New Roman Bold"/>
                <a:ea typeface="Times New Roman Bold"/>
                <a:cs typeface="Times New Roman Bold"/>
                <a:sym typeface="Times New Roman Bold"/>
              </a:rPr>
              <a:t>HOD/CSE</a:t>
            </a:r>
          </a:p>
        </p:txBody>
      </p:sp>
      <p:sp>
        <p:nvSpPr>
          <p:cNvPr id="13" name="TextBox 13"/>
          <p:cNvSpPr txBox="1"/>
          <p:nvPr/>
        </p:nvSpPr>
        <p:spPr>
          <a:xfrm>
            <a:off x="7595366" y="4488553"/>
            <a:ext cx="2340634" cy="1849260"/>
          </a:xfrm>
          <a:prstGeom prst="rect">
            <a:avLst/>
          </a:prstGeom>
        </p:spPr>
        <p:txBody>
          <a:bodyPr lIns="0" tIns="0" rIns="0" bIns="0" rtlCol="0" anchor="t">
            <a:spAutoFit/>
          </a:bodyPr>
          <a:lstStyle/>
          <a:p>
            <a:pPr algn="l">
              <a:lnSpc>
                <a:spcPts val="2433"/>
              </a:lnSpc>
            </a:pPr>
            <a:r>
              <a:rPr lang="en-US" sz="2100" b="1">
                <a:solidFill>
                  <a:srgbClr val="FFFFFF"/>
                </a:solidFill>
                <a:latin typeface="Times New Roman Bold"/>
                <a:ea typeface="Times New Roman Bold"/>
                <a:cs typeface="Times New Roman Bold"/>
                <a:sym typeface="Times New Roman Bold"/>
              </a:rPr>
              <a:t>Presented by</a:t>
            </a:r>
          </a:p>
          <a:p>
            <a:pPr marL="453390" lvl="1" indent="-226695" algn="l">
              <a:lnSpc>
                <a:spcPts val="2433"/>
              </a:lnSpc>
              <a:buAutoNum type="arabicPeriod"/>
            </a:pPr>
            <a:r>
              <a:rPr lang="en-US" sz="2100">
                <a:solidFill>
                  <a:srgbClr val="FFFFFF"/>
                </a:solidFill>
                <a:latin typeface="Times New Roman"/>
                <a:ea typeface="Times New Roman"/>
                <a:cs typeface="Times New Roman"/>
                <a:sym typeface="Times New Roman"/>
              </a:rPr>
              <a:t>Sriganth.G.V</a:t>
            </a:r>
          </a:p>
          <a:p>
            <a:pPr marL="453390" lvl="1" indent="-226695" algn="l">
              <a:lnSpc>
                <a:spcPts val="2433"/>
              </a:lnSpc>
              <a:buAutoNum type="arabicPeriod"/>
            </a:pPr>
            <a:r>
              <a:rPr lang="en-US" sz="2100">
                <a:solidFill>
                  <a:srgbClr val="FFFFFF"/>
                </a:solidFill>
                <a:latin typeface="Times New Roman"/>
                <a:ea typeface="Times New Roman"/>
                <a:cs typeface="Times New Roman"/>
                <a:sym typeface="Times New Roman"/>
              </a:rPr>
              <a:t>Jayasimbu.J</a:t>
            </a:r>
          </a:p>
          <a:p>
            <a:pPr marL="453390" lvl="1" indent="-226695" algn="l">
              <a:lnSpc>
                <a:spcPts val="2433"/>
              </a:lnSpc>
              <a:buAutoNum type="arabicPeriod"/>
            </a:pPr>
            <a:r>
              <a:rPr lang="en-US" sz="2100">
                <a:solidFill>
                  <a:srgbClr val="FFFFFF"/>
                </a:solidFill>
                <a:latin typeface="Times New Roman"/>
                <a:ea typeface="Times New Roman"/>
                <a:cs typeface="Times New Roman"/>
                <a:sym typeface="Times New Roman"/>
              </a:rPr>
              <a:t>Aadhiseshan.S</a:t>
            </a:r>
          </a:p>
          <a:p>
            <a:pPr marL="453390" lvl="1" indent="-226695" algn="l">
              <a:lnSpc>
                <a:spcPts val="2433"/>
              </a:lnSpc>
              <a:buAutoNum type="arabicPeriod"/>
            </a:pPr>
            <a:r>
              <a:rPr lang="en-US" sz="2100">
                <a:solidFill>
                  <a:srgbClr val="FFFFFF"/>
                </a:solidFill>
                <a:latin typeface="Times New Roman"/>
                <a:ea typeface="Times New Roman"/>
                <a:cs typeface="Times New Roman"/>
                <a:sym typeface="Times New Roman"/>
              </a:rPr>
              <a:t>Remo.V</a:t>
            </a:r>
          </a:p>
          <a:p>
            <a:pPr algn="l">
              <a:lnSpc>
                <a:spcPts val="2433"/>
              </a:lnSpc>
            </a:pPr>
            <a:endParaRPr lang="en-US" sz="2100">
              <a:solidFill>
                <a:srgbClr val="FFFFFF"/>
              </a:solidFill>
              <a:latin typeface="Times New Roman"/>
              <a:ea typeface="Times New Roman"/>
              <a:cs typeface="Times New Roman"/>
              <a:sym typeface="Times New Roman"/>
            </a:endParaRPr>
          </a:p>
        </p:txBody>
      </p:sp>
      <p:sp>
        <p:nvSpPr>
          <p:cNvPr id="14" name="TextBox 14"/>
          <p:cNvSpPr txBox="1"/>
          <p:nvPr/>
        </p:nvSpPr>
        <p:spPr>
          <a:xfrm>
            <a:off x="1204090" y="3494981"/>
            <a:ext cx="8107687" cy="728308"/>
          </a:xfrm>
          <a:prstGeom prst="rect">
            <a:avLst/>
          </a:prstGeom>
        </p:spPr>
        <p:txBody>
          <a:bodyPr lIns="0" tIns="0" rIns="0" bIns="0" rtlCol="0" anchor="t">
            <a:spAutoFit/>
          </a:bodyPr>
          <a:lstStyle/>
          <a:p>
            <a:pPr algn="ctr">
              <a:lnSpc>
                <a:spcPts val="2907"/>
              </a:lnSpc>
            </a:pPr>
            <a:r>
              <a:rPr lang="en-US" sz="2076" b="1" dirty="0">
                <a:solidFill>
                  <a:srgbClr val="FFFFFF"/>
                </a:solidFill>
                <a:latin typeface="Times New Roman Bold"/>
                <a:ea typeface="Times New Roman Bold"/>
                <a:cs typeface="Times New Roman Bold"/>
                <a:sym typeface="Times New Roman Bold"/>
              </a:rPr>
              <a:t>Multimodal Document Intelligence System for Invoice and Receipt Processing Using Vision-Language Models with Layout-Aware OCR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4139" rIns="0" bIns="0" rtlCol="0">
            <a:spAutoFit/>
          </a:bodyPr>
          <a:lstStyle/>
          <a:p>
            <a:pPr marL="12700">
              <a:lnSpc>
                <a:spcPct val="100000"/>
              </a:lnSpc>
              <a:spcBef>
                <a:spcPts val="100"/>
              </a:spcBef>
            </a:pPr>
            <a:r>
              <a:rPr spc="-10" dirty="0"/>
              <a:t>Abstract</a:t>
            </a:r>
          </a:p>
        </p:txBody>
      </p:sp>
      <p:sp>
        <p:nvSpPr>
          <p:cNvPr id="3" name="object 3"/>
          <p:cNvSpPr txBox="1"/>
          <p:nvPr/>
        </p:nvSpPr>
        <p:spPr>
          <a:xfrm>
            <a:off x="455777" y="1873250"/>
            <a:ext cx="9784080" cy="3706143"/>
          </a:xfrm>
          <a:prstGeom prst="rect">
            <a:avLst/>
          </a:prstGeom>
        </p:spPr>
        <p:txBody>
          <a:bodyPr vert="horz" wrap="square" lIns="0" tIns="12700" rIns="0" bIns="0" rtlCol="0">
            <a:spAutoFit/>
          </a:bodyPr>
          <a:lstStyle/>
          <a:p>
            <a:pPr marL="12700" marR="5080" algn="just">
              <a:lnSpc>
                <a:spcPct val="100000"/>
              </a:lnSpc>
              <a:spcBef>
                <a:spcPts val="100"/>
              </a:spcBef>
            </a:pPr>
            <a:r>
              <a:rPr lang="en-US" sz="2400" dirty="0">
                <a:latin typeface="Times New Roman" panose="02020603050405020304" pitchFamily="18" charset="0"/>
                <a:cs typeface="Times New Roman" panose="02020603050405020304" pitchFamily="18" charset="0"/>
              </a:rPr>
              <a:t>The project implements a multimodal document intelligence platform designed to automate information extraction from complex invoices and receipts. It combines the power of the Qwen2.5-VL model with advanced image enhancement techniques like CLAHE to process challenging documents, including handwritten and faded thermal receipts. The system supports over 10 Indic languages and generates a unique "Digital Twin" layout representation to maintain spatial accuracy. By leveraging a Master-Worker architecture, the system provides a scalable and cost-effective solution for intelligent data extraction, translating raw visual inputs into structured enterprise-ready JSON data</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4139" rIns="0" bIns="0" rtlCol="0">
            <a:spAutoFit/>
          </a:bodyPr>
          <a:lstStyle/>
          <a:p>
            <a:pPr marL="12700">
              <a:lnSpc>
                <a:spcPct val="100000"/>
              </a:lnSpc>
              <a:spcBef>
                <a:spcPts val="100"/>
              </a:spcBef>
            </a:pPr>
            <a:r>
              <a:rPr spc="-10" dirty="0"/>
              <a:t>Problem</a:t>
            </a:r>
            <a:r>
              <a:rPr spc="-160" dirty="0"/>
              <a:t> </a:t>
            </a:r>
            <a:r>
              <a:rPr spc="-10" dirty="0"/>
              <a:t>Definition</a:t>
            </a:r>
          </a:p>
        </p:txBody>
      </p:sp>
      <p:sp>
        <p:nvSpPr>
          <p:cNvPr id="3" name="object 3"/>
          <p:cNvSpPr txBox="1"/>
          <p:nvPr/>
        </p:nvSpPr>
        <p:spPr>
          <a:xfrm>
            <a:off x="455777" y="1748507"/>
            <a:ext cx="9783445" cy="3706143"/>
          </a:xfrm>
          <a:prstGeom prst="rect">
            <a:avLst/>
          </a:prstGeom>
        </p:spPr>
        <p:txBody>
          <a:bodyPr vert="horz" wrap="square" lIns="0" tIns="12700" rIns="0" bIns="0" rtlCol="0">
            <a:spAutoFit/>
          </a:bodyPr>
          <a:lstStyle/>
          <a:p>
            <a:pPr algn="just"/>
            <a:r>
              <a:rPr lang="en-US" sz="2400" dirty="0">
                <a:latin typeface="Times New Roman" panose="02020603050405020304" pitchFamily="18" charset="0"/>
                <a:cs typeface="Times New Roman" panose="02020603050405020304" pitchFamily="18" charset="0"/>
              </a:rPr>
              <a:t>Current invoice processing systems rely heavily on manual data entry or basic OCR techniques that extract raw text without understanding the document layout or semantic context. These traditional systems struggle with complex formats, diverse column structures, and nested tables, often losing the relationship between related fields like item names and their corresponding prices. Furthermore, existing solutions fail to handle low-quality mobile photographs, handwritten content on thermal receipts, and multilingual documents in regional Indian scripts. This gap in technology leads to high error rates, significant manual verification costs, and extreme inefficiency in modern enterprise financial workflows.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4139" rIns="0" bIns="0" rtlCol="0">
            <a:spAutoFit/>
          </a:bodyPr>
          <a:lstStyle/>
          <a:p>
            <a:pPr marL="12700">
              <a:lnSpc>
                <a:spcPct val="100000"/>
              </a:lnSpc>
              <a:spcBef>
                <a:spcPts val="100"/>
              </a:spcBef>
            </a:pPr>
            <a:r>
              <a:rPr dirty="0"/>
              <a:t>Literacy</a:t>
            </a:r>
            <a:r>
              <a:rPr spc="-125" dirty="0"/>
              <a:t> </a:t>
            </a:r>
            <a:r>
              <a:rPr spc="-10" dirty="0"/>
              <a:t>Survey</a:t>
            </a:r>
          </a:p>
        </p:txBody>
      </p:sp>
      <p:sp>
        <p:nvSpPr>
          <p:cNvPr id="3" name="object 3"/>
          <p:cNvSpPr txBox="1"/>
          <p:nvPr/>
        </p:nvSpPr>
        <p:spPr>
          <a:xfrm>
            <a:off x="622300" y="1953771"/>
            <a:ext cx="9525000" cy="2967479"/>
          </a:xfrm>
          <a:prstGeom prst="rect">
            <a:avLst/>
          </a:prstGeom>
        </p:spPr>
        <p:txBody>
          <a:bodyPr vert="horz" wrap="square" lIns="0" tIns="12700" rIns="0" bIns="0" rtlCol="0">
            <a:spAutoFit/>
          </a:bodyPr>
          <a:lstStyle/>
          <a:p>
            <a:pPr algn="just"/>
            <a:r>
              <a:rPr lang="en-US" sz="2400" b="1" dirty="0">
                <a:latin typeface="Times New Roman" panose="02020603050405020304" pitchFamily="18" charset="0"/>
                <a:cs typeface="Times New Roman" panose="02020603050405020304" pitchFamily="18" charset="0"/>
              </a:rPr>
              <a:t>Traditional OCR and Text Extraction Research</a:t>
            </a:r>
            <a:r>
              <a:rPr lang="en-US" sz="2400" dirty="0">
                <a:latin typeface="Times New Roman" panose="02020603050405020304" pitchFamily="18" charset="0"/>
                <a:cs typeface="Times New Roman" panose="02020603050405020304" pitchFamily="18" charset="0"/>
              </a:rPr>
              <a:t> In the early stages of document intelligence, research focused primarily on Optical Character Recognition (OCR) engines like Tesseract and later </a:t>
            </a:r>
            <a:r>
              <a:rPr lang="en-US" sz="2400" b="1" dirty="0" err="1">
                <a:latin typeface="Times New Roman" panose="02020603050405020304" pitchFamily="18" charset="0"/>
                <a:cs typeface="Times New Roman" panose="02020603050405020304" pitchFamily="18" charset="0"/>
              </a:rPr>
              <a:t>PaddleOCR</a:t>
            </a:r>
            <a:r>
              <a:rPr lang="en-US" sz="2400" b="1" dirty="0">
                <a:latin typeface="Times New Roman" panose="02020603050405020304" pitchFamily="18" charset="0"/>
                <a:cs typeface="Times New Roman" panose="02020603050405020304" pitchFamily="18" charset="0"/>
              </a:rPr>
              <a:t> (Du et al., 2020)</a:t>
            </a:r>
            <a:r>
              <a:rPr lang="en-US" sz="2400" dirty="0">
                <a:latin typeface="Times New Roman" panose="02020603050405020304" pitchFamily="18" charset="0"/>
                <a:cs typeface="Times New Roman" panose="02020603050405020304" pitchFamily="18" charset="0"/>
              </a:rPr>
              <a:t>. These studies demonstrated high accuracy in character recognition but revealed a significant limitation: the loss of spatial context. While these systems could extract raw text, they were unable to understand the relationship between different fields, such as associating a line item description with its price in a multi-column invoice layout.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5033C-1BF9-2DBE-CBD7-A7BB1868130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CE54903-98FC-7570-65B8-AB2DAA9C2E05}"/>
              </a:ext>
            </a:extLst>
          </p:cNvPr>
          <p:cNvSpPr txBox="1">
            <a:spLocks noGrp="1"/>
          </p:cNvSpPr>
          <p:nvPr>
            <p:ph type="title"/>
          </p:nvPr>
        </p:nvSpPr>
        <p:spPr>
          <a:prstGeom prst="rect">
            <a:avLst/>
          </a:prstGeom>
        </p:spPr>
        <p:txBody>
          <a:bodyPr vert="horz" wrap="square" lIns="0" tIns="104139" rIns="0" bIns="0" rtlCol="0">
            <a:spAutoFit/>
          </a:bodyPr>
          <a:lstStyle/>
          <a:p>
            <a:pPr marL="12700">
              <a:lnSpc>
                <a:spcPct val="100000"/>
              </a:lnSpc>
              <a:spcBef>
                <a:spcPts val="100"/>
              </a:spcBef>
            </a:pPr>
            <a:r>
              <a:rPr dirty="0"/>
              <a:t>Literacy</a:t>
            </a:r>
            <a:r>
              <a:rPr spc="-125" dirty="0"/>
              <a:t> </a:t>
            </a:r>
            <a:r>
              <a:rPr spc="-10" dirty="0"/>
              <a:t>Survey</a:t>
            </a:r>
          </a:p>
        </p:txBody>
      </p:sp>
      <p:sp>
        <p:nvSpPr>
          <p:cNvPr id="3" name="object 3">
            <a:extLst>
              <a:ext uri="{FF2B5EF4-FFF2-40B4-BE49-F238E27FC236}">
                <a16:creationId xmlns:a16="http://schemas.microsoft.com/office/drawing/2014/main" id="{212385A3-246C-02BD-D8A0-DC88F51B2452}"/>
              </a:ext>
            </a:extLst>
          </p:cNvPr>
          <p:cNvSpPr txBox="1"/>
          <p:nvPr/>
        </p:nvSpPr>
        <p:spPr>
          <a:xfrm>
            <a:off x="546100" y="1953771"/>
            <a:ext cx="9525000" cy="2967479"/>
          </a:xfrm>
          <a:prstGeom prst="rect">
            <a:avLst/>
          </a:prstGeom>
        </p:spPr>
        <p:txBody>
          <a:bodyPr vert="horz" wrap="square" lIns="0" tIns="12700" rIns="0" bIns="0" rtlCol="0">
            <a:spAutoFit/>
          </a:bodyPr>
          <a:lstStyle/>
          <a:p>
            <a:pPr algn="just"/>
            <a:r>
              <a:rPr lang="en-US" sz="2400" b="1" dirty="0">
                <a:latin typeface="Times New Roman" panose="02020603050405020304" pitchFamily="18" charset="0"/>
                <a:cs typeface="Times New Roman" panose="02020603050405020304" pitchFamily="18" charset="0"/>
              </a:rPr>
              <a:t> Layout-Aware Neural Networks</a:t>
            </a:r>
            <a:r>
              <a:rPr lang="en-US" sz="2400" dirty="0">
                <a:latin typeface="Times New Roman" panose="02020603050405020304" pitchFamily="18" charset="0"/>
                <a:cs typeface="Times New Roman" panose="02020603050405020304" pitchFamily="18" charset="0"/>
              </a:rPr>
              <a:t> To address the limitations of plain OCR, researchers introduced models like </a:t>
            </a:r>
            <a:r>
              <a:rPr lang="en-US" sz="2400" b="1" dirty="0">
                <a:latin typeface="Times New Roman" panose="02020603050405020304" pitchFamily="18" charset="0"/>
                <a:cs typeface="Times New Roman" panose="02020603050405020304" pitchFamily="18" charset="0"/>
              </a:rPr>
              <a:t>LayoutLMv3 (Huang et al., 2022)</a:t>
            </a:r>
            <a:r>
              <a:rPr lang="en-US" sz="2400" dirty="0">
                <a:latin typeface="Times New Roman" panose="02020603050405020304" pitchFamily="18" charset="0"/>
                <a:cs typeface="Times New Roman" panose="02020603050405020304" pitchFamily="18" charset="0"/>
              </a:rPr>
              <a:t>, which utilize multi-modal transformers to process text, image, and position (bounding boxes) simultaneously. This research proved that understanding the visual "geometry" of a document is essential for accurate field extraction. However, these models still required a separate OCR engine to provide text hints, making the entire pipeline dependent on the accuracy of the initial text recognition step.</a:t>
            </a:r>
          </a:p>
        </p:txBody>
      </p:sp>
    </p:spTree>
    <p:extLst>
      <p:ext uri="{BB962C8B-B14F-4D97-AF65-F5344CB8AC3E}">
        <p14:creationId xmlns:p14="http://schemas.microsoft.com/office/powerpoint/2010/main" val="3071545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C5330-D1A2-83F2-78A7-5534611EEF4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BD7317D-2588-6542-2677-B813FD2573D9}"/>
              </a:ext>
            </a:extLst>
          </p:cNvPr>
          <p:cNvSpPr txBox="1">
            <a:spLocks noGrp="1"/>
          </p:cNvSpPr>
          <p:nvPr>
            <p:ph type="title"/>
          </p:nvPr>
        </p:nvSpPr>
        <p:spPr>
          <a:prstGeom prst="rect">
            <a:avLst/>
          </a:prstGeom>
        </p:spPr>
        <p:txBody>
          <a:bodyPr vert="horz" wrap="square" lIns="0" tIns="104139" rIns="0" bIns="0" rtlCol="0">
            <a:spAutoFit/>
          </a:bodyPr>
          <a:lstStyle/>
          <a:p>
            <a:pPr marL="12700">
              <a:lnSpc>
                <a:spcPct val="100000"/>
              </a:lnSpc>
              <a:spcBef>
                <a:spcPts val="100"/>
              </a:spcBef>
            </a:pPr>
            <a:r>
              <a:rPr dirty="0"/>
              <a:t>Literacy</a:t>
            </a:r>
            <a:r>
              <a:rPr spc="-125" dirty="0"/>
              <a:t> </a:t>
            </a:r>
            <a:r>
              <a:rPr spc="-10" dirty="0"/>
              <a:t>Survey</a:t>
            </a:r>
          </a:p>
        </p:txBody>
      </p:sp>
      <p:sp>
        <p:nvSpPr>
          <p:cNvPr id="3" name="object 3">
            <a:extLst>
              <a:ext uri="{FF2B5EF4-FFF2-40B4-BE49-F238E27FC236}">
                <a16:creationId xmlns:a16="http://schemas.microsoft.com/office/drawing/2014/main" id="{0D5EFFAF-C4AF-639B-2E58-E8909D7A2A80}"/>
              </a:ext>
            </a:extLst>
          </p:cNvPr>
          <p:cNvSpPr txBox="1"/>
          <p:nvPr/>
        </p:nvSpPr>
        <p:spPr>
          <a:xfrm>
            <a:off x="622300" y="2029971"/>
            <a:ext cx="9372600" cy="2967479"/>
          </a:xfrm>
          <a:prstGeom prst="rect">
            <a:avLst/>
          </a:prstGeom>
        </p:spPr>
        <p:txBody>
          <a:bodyPr vert="horz" wrap="square" lIns="0" tIns="12700" rIns="0" bIns="0" rtlCol="0">
            <a:spAutoFit/>
          </a:bodyPr>
          <a:lstStyle/>
          <a:p>
            <a:pPr algn="just"/>
            <a:r>
              <a:rPr lang="en-US" sz="2400" b="1" dirty="0">
                <a:latin typeface="Times New Roman" panose="02020603050405020304" pitchFamily="18" charset="0"/>
                <a:cs typeface="Times New Roman" panose="02020603050405020304" pitchFamily="18" charset="0"/>
              </a:rPr>
              <a:t>Vision-Language Models (VLM) &amp; Visual Reasoning</a:t>
            </a:r>
            <a:r>
              <a:rPr lang="en-US" sz="2400" dirty="0">
                <a:latin typeface="Times New Roman" panose="02020603050405020304" pitchFamily="18" charset="0"/>
                <a:cs typeface="Times New Roman" panose="02020603050405020304" pitchFamily="18" charset="0"/>
              </a:rPr>
              <a:t> Recent breakthroughs in Large Multimodal Models, such as </a:t>
            </a:r>
            <a:r>
              <a:rPr lang="en-US" sz="2400" b="1" dirty="0">
                <a:latin typeface="Times New Roman" panose="02020603050405020304" pitchFamily="18" charset="0"/>
                <a:cs typeface="Times New Roman" panose="02020603050405020304" pitchFamily="18" charset="0"/>
              </a:rPr>
              <a:t>Qwen2.5-VL (Bai et al., 2024)</a:t>
            </a:r>
            <a:r>
              <a:rPr lang="en-US" sz="2400" dirty="0">
                <a:latin typeface="Times New Roman" panose="02020603050405020304" pitchFamily="18" charset="0"/>
                <a:cs typeface="Times New Roman" panose="02020603050405020304" pitchFamily="18" charset="0"/>
              </a:rPr>
              <a:t> or </a:t>
            </a:r>
            <a:r>
              <a:rPr lang="en-US" sz="2400" b="1" dirty="0" err="1">
                <a:latin typeface="Times New Roman" panose="02020603050405020304" pitchFamily="18" charset="0"/>
                <a:cs typeface="Times New Roman" panose="02020603050405020304" pitchFamily="18" charset="0"/>
              </a:rPr>
              <a:t>MiniCPM</a:t>
            </a:r>
            <a:r>
              <a:rPr lang="en-US" sz="2400" b="1" dirty="0">
                <a:latin typeface="Times New Roman" panose="02020603050405020304" pitchFamily="18" charset="0"/>
                <a:cs typeface="Times New Roman" panose="02020603050405020304" pitchFamily="18" charset="0"/>
              </a:rPr>
              <a:t>-V (Hu et al., 2024)</a:t>
            </a:r>
            <a:r>
              <a:rPr lang="en-US" sz="2400" dirty="0">
                <a:latin typeface="Times New Roman" panose="02020603050405020304" pitchFamily="18" charset="0"/>
                <a:cs typeface="Times New Roman" panose="02020603050405020304" pitchFamily="18" charset="0"/>
              </a:rPr>
              <a:t>, have pioneered the concept of "Visual Reasoning." These studies show that advanced Vision Transformers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can natively interpret document images as a whole, eliminating the need for rigid templates or external OCR engines. Our project builds on this research by implementing a distributed master-worker architecture to bring this 32B-parameter level of intelligence to consumer-grade hardware.</a:t>
            </a:r>
          </a:p>
        </p:txBody>
      </p:sp>
    </p:spTree>
    <p:extLst>
      <p:ext uri="{BB962C8B-B14F-4D97-AF65-F5344CB8AC3E}">
        <p14:creationId xmlns:p14="http://schemas.microsoft.com/office/powerpoint/2010/main" val="1562865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774487"/>
            <a:ext cx="10696575" cy="6071359"/>
          </a:xfrm>
          <a:custGeom>
            <a:avLst/>
            <a:gdLst/>
            <a:ahLst/>
            <a:cxnLst/>
            <a:rect l="l" t="t" r="r" b="b"/>
            <a:pathLst>
              <a:path w="10696575" h="6071359">
                <a:moveTo>
                  <a:pt x="0" y="0"/>
                </a:moveTo>
                <a:lnTo>
                  <a:pt x="10696575" y="0"/>
                </a:lnTo>
                <a:lnTo>
                  <a:pt x="10696575" y="6071359"/>
                </a:lnTo>
                <a:lnTo>
                  <a:pt x="0" y="6071359"/>
                </a:lnTo>
                <a:lnTo>
                  <a:pt x="0" y="0"/>
                </a:lnTo>
                <a:close/>
              </a:path>
            </a:pathLst>
          </a:custGeom>
          <a:blipFill>
            <a:blip r:embed="rId2"/>
            <a:stretch>
              <a:fillRect/>
            </a:stretch>
          </a:blipFill>
        </p:spPr>
        <p:txBody>
          <a:bodyPr/>
          <a:lstStyle/>
          <a:p>
            <a:endParaRPr lang="en-IN"/>
          </a:p>
        </p:txBody>
      </p:sp>
      <p:sp>
        <p:nvSpPr>
          <p:cNvPr id="3" name="TextBox 3"/>
          <p:cNvSpPr txBox="1"/>
          <p:nvPr/>
        </p:nvSpPr>
        <p:spPr>
          <a:xfrm>
            <a:off x="115624" y="763285"/>
            <a:ext cx="3291036" cy="459228"/>
          </a:xfrm>
          <a:prstGeom prst="rect">
            <a:avLst/>
          </a:prstGeom>
        </p:spPr>
        <p:txBody>
          <a:bodyPr lIns="0" tIns="0" rIns="0" bIns="0" rtlCol="0" anchor="t">
            <a:spAutoFit/>
          </a:bodyPr>
          <a:lstStyle/>
          <a:p>
            <a:pPr algn="l">
              <a:lnSpc>
                <a:spcPts val="3920"/>
              </a:lnSpc>
            </a:pPr>
            <a:r>
              <a:rPr lang="en-US" sz="2800" b="1" dirty="0">
                <a:solidFill>
                  <a:srgbClr val="FFFFFF"/>
                </a:solidFill>
                <a:latin typeface="Times New Roman Bold"/>
                <a:ea typeface="Times New Roman Bold"/>
                <a:cs typeface="Times New Roman Bold"/>
                <a:sym typeface="Times New Roman Bold"/>
              </a:rPr>
              <a:t>Existing System</a:t>
            </a:r>
          </a:p>
        </p:txBody>
      </p:sp>
      <p:sp>
        <p:nvSpPr>
          <p:cNvPr id="4" name="TextBox 4"/>
          <p:cNvSpPr txBox="1"/>
          <p:nvPr/>
        </p:nvSpPr>
        <p:spPr>
          <a:xfrm>
            <a:off x="756000" y="1577557"/>
            <a:ext cx="8679716" cy="3708090"/>
          </a:xfrm>
          <a:prstGeom prst="rect">
            <a:avLst/>
          </a:prstGeom>
        </p:spPr>
        <p:txBody>
          <a:bodyPr lIns="0" tIns="0" rIns="0" bIns="0" rtlCol="0" anchor="t">
            <a:spAutoFit/>
          </a:bodyPr>
          <a:lstStyle/>
          <a:p>
            <a:pPr algn="just">
              <a:lnSpc>
                <a:spcPts val="2992"/>
              </a:lnSpc>
            </a:pPr>
            <a:r>
              <a:rPr lang="en-US" sz="2137" dirty="0">
                <a:solidFill>
                  <a:srgbClr val="000000"/>
                </a:solidFill>
                <a:latin typeface="Times New Roman"/>
                <a:ea typeface="Times New Roman"/>
                <a:cs typeface="Times New Roman"/>
                <a:sym typeface="Times New Roman"/>
              </a:rPr>
              <a:t>Existing systems mainly use basic OCR techniques that extract only raw text without understanding document structure. These systems fail to handle complex invoice layouts, handwritten text, and multilingual content effectively. Most solutions require manual verification and correction, making the process slow and inefficient.</a:t>
            </a:r>
          </a:p>
          <a:p>
            <a:pPr algn="just">
              <a:lnSpc>
                <a:spcPts val="2992"/>
              </a:lnSpc>
            </a:pPr>
            <a:r>
              <a:rPr lang="en-US" sz="2137" dirty="0">
                <a:solidFill>
                  <a:srgbClr val="000000"/>
                </a:solidFill>
                <a:latin typeface="Times New Roman"/>
                <a:ea typeface="Times New Roman"/>
                <a:cs typeface="Times New Roman"/>
                <a:sym typeface="Times New Roman"/>
              </a:rPr>
              <a:t>Problems in Existing System:</a:t>
            </a:r>
          </a:p>
          <a:p>
            <a:pPr marL="461425" lvl="1" indent="-230712" algn="just">
              <a:lnSpc>
                <a:spcPts val="2992"/>
              </a:lnSpc>
              <a:buFont typeface="Arial"/>
              <a:buChar char="•"/>
            </a:pPr>
            <a:r>
              <a:rPr lang="en-US" sz="2137" dirty="0">
                <a:solidFill>
                  <a:srgbClr val="000000"/>
                </a:solidFill>
                <a:latin typeface="Times New Roman"/>
                <a:ea typeface="Times New Roman"/>
                <a:cs typeface="Times New Roman"/>
                <a:sym typeface="Times New Roman"/>
              </a:rPr>
              <a:t>Cannot understand document layout properly</a:t>
            </a:r>
          </a:p>
          <a:p>
            <a:pPr marL="461425" lvl="1" indent="-230712" algn="just">
              <a:lnSpc>
                <a:spcPts val="2992"/>
              </a:lnSpc>
              <a:buFont typeface="Arial"/>
              <a:buChar char="•"/>
            </a:pPr>
            <a:r>
              <a:rPr lang="en-US" sz="2137" dirty="0">
                <a:solidFill>
                  <a:srgbClr val="000000"/>
                </a:solidFill>
                <a:latin typeface="Times New Roman"/>
                <a:ea typeface="Times New Roman"/>
                <a:cs typeface="Times New Roman"/>
                <a:sym typeface="Times New Roman"/>
              </a:rPr>
              <a:t>Poor accuracy in handwritten and multilingual data</a:t>
            </a:r>
          </a:p>
          <a:p>
            <a:pPr marL="461425" lvl="1" indent="-230712" algn="just">
              <a:lnSpc>
                <a:spcPts val="2992"/>
              </a:lnSpc>
              <a:buFont typeface="Arial"/>
              <a:buChar char="•"/>
            </a:pPr>
            <a:r>
              <a:rPr lang="en-US" sz="2137" dirty="0">
                <a:solidFill>
                  <a:srgbClr val="000000"/>
                </a:solidFill>
                <a:latin typeface="Times New Roman"/>
                <a:ea typeface="Times New Roman"/>
                <a:cs typeface="Times New Roman"/>
                <a:sym typeface="Times New Roman"/>
              </a:rPr>
              <a:t>Requires manual data correction</a:t>
            </a:r>
          </a:p>
          <a:p>
            <a:pPr marL="461425" lvl="1" indent="-230712" algn="just">
              <a:lnSpc>
                <a:spcPts val="2992"/>
              </a:lnSpc>
              <a:buFont typeface="Arial"/>
              <a:buChar char="•"/>
            </a:pPr>
            <a:r>
              <a:rPr lang="en-US" sz="2137" dirty="0">
                <a:solidFill>
                  <a:srgbClr val="000000"/>
                </a:solidFill>
                <a:latin typeface="Times New Roman"/>
                <a:ea typeface="Times New Roman"/>
                <a:cs typeface="Times New Roman"/>
                <a:sym typeface="Times New Roman"/>
              </a:rPr>
              <a:t>Does not extract structured fields effectively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4139" rIns="0" bIns="0" rtlCol="0">
            <a:spAutoFit/>
          </a:bodyPr>
          <a:lstStyle/>
          <a:p>
            <a:pPr marL="12700">
              <a:lnSpc>
                <a:spcPct val="100000"/>
              </a:lnSpc>
              <a:spcBef>
                <a:spcPts val="100"/>
              </a:spcBef>
            </a:pPr>
            <a:r>
              <a:rPr dirty="0"/>
              <a:t>Proposed</a:t>
            </a:r>
            <a:r>
              <a:rPr spc="-140" dirty="0"/>
              <a:t> </a:t>
            </a:r>
            <a:r>
              <a:rPr spc="-10" dirty="0"/>
              <a:t>System</a:t>
            </a:r>
          </a:p>
        </p:txBody>
      </p:sp>
      <p:sp>
        <p:nvSpPr>
          <p:cNvPr id="3" name="object 3"/>
          <p:cNvSpPr txBox="1"/>
          <p:nvPr/>
        </p:nvSpPr>
        <p:spPr>
          <a:xfrm>
            <a:off x="381101" y="1889239"/>
            <a:ext cx="9933305" cy="3336811"/>
          </a:xfrm>
          <a:prstGeom prst="rect">
            <a:avLst/>
          </a:prstGeom>
        </p:spPr>
        <p:txBody>
          <a:bodyPr vert="horz" wrap="square" lIns="0" tIns="12700" rIns="0" bIns="0" rtlCol="0">
            <a:spAutoFit/>
          </a:bodyPr>
          <a:lstStyle/>
          <a:p>
            <a:pPr marL="12700" marR="5080" algn="just">
              <a:lnSpc>
                <a:spcPct val="100000"/>
              </a:lnSpc>
              <a:spcBef>
                <a:spcPts val="100"/>
              </a:spcBef>
            </a:pPr>
            <a:r>
              <a:rPr lang="en-US" sz="2400" dirty="0">
                <a:latin typeface="Times New Roman" panose="02020603050405020304" pitchFamily="18" charset="0"/>
                <a:cs typeface="Times New Roman" panose="02020603050405020304" pitchFamily="18" charset="0"/>
              </a:rPr>
              <a:t>Our proposed system introduces a Distributed Multimodal Intelligence solution that integrates high-precision Vision-Language Models with intelligent local pre-processing. By utilizing an end-to-end visual reasoning approach, the system "sees" and understands the document layout just like a human assistant, enabling it to extract structured data directly into standardized formats without the need for rigid templates. The architecture bridges the hardware gap by offloading heavy 32B-parameter model inference to remote Kaggle GPU workers through secure tunnels, ensuring that enterprise-grade AI performance can be achieved even on standard consumer-grade computers.</a:t>
            </a:r>
            <a:endParaRPr sz="20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3063" rIns="0" bIns="0" rtlCol="0">
            <a:spAutoFit/>
          </a:bodyPr>
          <a:lstStyle/>
          <a:p>
            <a:pPr marL="12700">
              <a:lnSpc>
                <a:spcPct val="100000"/>
              </a:lnSpc>
              <a:spcBef>
                <a:spcPts val="100"/>
              </a:spcBef>
            </a:pPr>
            <a:r>
              <a:rPr spc="-30" dirty="0"/>
              <a:t>System</a:t>
            </a:r>
            <a:r>
              <a:rPr spc="-130" dirty="0"/>
              <a:t> </a:t>
            </a:r>
            <a:r>
              <a:rPr spc="-20" dirty="0"/>
              <a:t>Architecture</a:t>
            </a:r>
          </a:p>
        </p:txBody>
      </p:sp>
      <p:pic>
        <p:nvPicPr>
          <p:cNvPr id="5" name="Picture 4">
            <a:extLst>
              <a:ext uri="{FF2B5EF4-FFF2-40B4-BE49-F238E27FC236}">
                <a16:creationId xmlns:a16="http://schemas.microsoft.com/office/drawing/2014/main" id="{30022D58-5C3B-01C6-1BD5-A23285D0C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3501" y="1443037"/>
            <a:ext cx="5638800" cy="46704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8163" y="682244"/>
            <a:ext cx="3599815" cy="566821"/>
          </a:xfrm>
          <a:prstGeom prst="rect">
            <a:avLst/>
          </a:prstGeom>
        </p:spPr>
        <p:txBody>
          <a:bodyPr vert="horz" wrap="square" lIns="0" tIns="104139" rIns="0" bIns="0" rtlCol="0">
            <a:spAutoFit/>
          </a:bodyPr>
          <a:lstStyle/>
          <a:p>
            <a:r>
              <a:rPr lang="en-IN" dirty="0"/>
              <a:t> Technologies Used</a:t>
            </a:r>
            <a:endParaRPr lang="en-IN" b="0" dirty="0"/>
          </a:p>
        </p:txBody>
      </p:sp>
      <p:sp>
        <p:nvSpPr>
          <p:cNvPr id="3" name="object 3"/>
          <p:cNvSpPr txBox="1"/>
          <p:nvPr/>
        </p:nvSpPr>
        <p:spPr>
          <a:xfrm>
            <a:off x="426720" y="1422183"/>
            <a:ext cx="9720580" cy="4946867"/>
          </a:xfrm>
          <a:prstGeom prst="rect">
            <a:avLst/>
          </a:prstGeom>
        </p:spPr>
        <p:txBody>
          <a:bodyPr vert="horz" wrap="square" lIns="0" tIns="144145" rIns="0" bIns="0" rtlCol="0">
            <a:spAutoFit/>
          </a:bodyPr>
          <a:lstStyle/>
          <a:p>
            <a:pPr algn="just"/>
            <a:r>
              <a:rPr lang="en-IN" sz="2400" b="1" dirty="0">
                <a:latin typeface="Times New Roman" panose="02020603050405020304" pitchFamily="18" charset="0"/>
                <a:cs typeface="Times New Roman" panose="02020603050405020304" pitchFamily="18" charset="0"/>
              </a:rPr>
              <a:t>Frontend Technologies:</a:t>
            </a:r>
            <a:r>
              <a:rPr lang="en-IN" sz="2400" dirty="0">
                <a:latin typeface="Times New Roman" panose="02020603050405020304" pitchFamily="18" charset="0"/>
                <a:cs typeface="Times New Roman" panose="02020603050405020304" pitchFamily="18" charset="0"/>
              </a:rPr>
              <a:t> The user interface is built using </a:t>
            </a:r>
            <a:r>
              <a:rPr lang="en-IN" sz="2400" b="1" dirty="0">
                <a:latin typeface="Times New Roman" panose="02020603050405020304" pitchFamily="18" charset="0"/>
                <a:cs typeface="Times New Roman" panose="02020603050405020304" pitchFamily="18" charset="0"/>
              </a:rPr>
              <a:t>React.js</a:t>
            </a:r>
            <a:r>
              <a:rPr lang="en-IN" sz="2400" dirty="0">
                <a:latin typeface="Times New Roman" panose="02020603050405020304" pitchFamily="18" charset="0"/>
                <a:cs typeface="Times New Roman" panose="02020603050405020304" pitchFamily="18" charset="0"/>
              </a:rPr>
              <a:t> combined with </a:t>
            </a:r>
            <a:r>
              <a:rPr lang="en-IN" sz="2400" b="1" dirty="0" err="1">
                <a:latin typeface="Times New Roman" panose="02020603050405020304" pitchFamily="18" charset="0"/>
                <a:cs typeface="Times New Roman" panose="02020603050405020304" pitchFamily="18" charset="0"/>
              </a:rPr>
              <a:t>TailwindCSS</a:t>
            </a:r>
            <a:r>
              <a:rPr lang="en-IN" sz="2400" dirty="0">
                <a:latin typeface="Times New Roman" panose="02020603050405020304" pitchFamily="18" charset="0"/>
                <a:cs typeface="Times New Roman" panose="02020603050405020304" pitchFamily="18" charset="0"/>
              </a:rPr>
              <a:t> for a responsive, premium dashboard experience. We utilize </a:t>
            </a:r>
            <a:r>
              <a:rPr lang="en-IN" sz="2400" b="1" dirty="0">
                <a:latin typeface="Times New Roman" panose="02020603050405020304" pitchFamily="18" charset="0"/>
                <a:cs typeface="Times New Roman" panose="02020603050405020304" pitchFamily="18" charset="0"/>
              </a:rPr>
              <a:t>Axios</a:t>
            </a:r>
            <a:r>
              <a:rPr lang="en-IN" sz="2400" dirty="0">
                <a:latin typeface="Times New Roman" panose="02020603050405020304" pitchFamily="18" charset="0"/>
                <a:cs typeface="Times New Roman" panose="02020603050405020304" pitchFamily="18" charset="0"/>
              </a:rPr>
              <a:t> for API communication and</a:t>
            </a:r>
            <a:r>
              <a:rPr lang="en-IN" sz="2400" b="1" dirty="0">
                <a:latin typeface="Times New Roman" panose="02020603050405020304" pitchFamily="18" charset="0"/>
                <a:cs typeface="Times New Roman" panose="02020603050405020304" pitchFamily="18" charset="0"/>
              </a:rPr>
              <a:t> React</a:t>
            </a:r>
            <a:r>
              <a:rPr lang="en-IN" sz="2400" dirty="0">
                <a:latin typeface="Times New Roman" panose="02020603050405020304" pitchFamily="18" charset="0"/>
                <a:cs typeface="Times New Roman" panose="02020603050405020304" pitchFamily="18" charset="0"/>
              </a:rPr>
              <a:t> for consistent, modern iconography.</a:t>
            </a:r>
          </a:p>
          <a:p>
            <a:pPr algn="just"/>
            <a:r>
              <a:rPr lang="en-IN" sz="2400" b="1" dirty="0">
                <a:latin typeface="Times New Roman" panose="02020603050405020304" pitchFamily="18" charset="0"/>
                <a:cs typeface="Times New Roman" panose="02020603050405020304" pitchFamily="18" charset="0"/>
              </a:rPr>
              <a:t>Backend Infrastructure:</a:t>
            </a:r>
            <a:r>
              <a:rPr lang="en-IN" sz="2400" dirty="0">
                <a:latin typeface="Times New Roman" panose="02020603050405020304" pitchFamily="18" charset="0"/>
                <a:cs typeface="Times New Roman" panose="02020603050405020304" pitchFamily="18" charset="0"/>
              </a:rPr>
              <a:t> The server logic is powered by </a:t>
            </a:r>
            <a:r>
              <a:rPr lang="en-IN" sz="2400" b="1" dirty="0" err="1">
                <a:latin typeface="Times New Roman" panose="02020603050405020304" pitchFamily="18" charset="0"/>
                <a:cs typeface="Times New Roman" panose="02020603050405020304" pitchFamily="18" charset="0"/>
              </a:rPr>
              <a:t>FastAPI</a:t>
            </a:r>
            <a:r>
              <a:rPr lang="en-IN" sz="2400" b="1" dirty="0">
                <a:latin typeface="Times New Roman" panose="02020603050405020304" pitchFamily="18" charset="0"/>
                <a:cs typeface="Times New Roman" panose="02020603050405020304" pitchFamily="18" charset="0"/>
              </a:rPr>
              <a:t> (Python)</a:t>
            </a:r>
            <a:r>
              <a:rPr lang="en-IN" sz="2400" dirty="0">
                <a:latin typeface="Times New Roman" panose="02020603050405020304" pitchFamily="18" charset="0"/>
                <a:cs typeface="Times New Roman" panose="02020603050405020304" pitchFamily="18" charset="0"/>
              </a:rPr>
              <a:t>, chosen for its high performance and native support for asynchronous programming. </a:t>
            </a:r>
            <a:r>
              <a:rPr lang="en-IN" sz="2400" b="1" dirty="0" err="1">
                <a:latin typeface="Times New Roman" panose="02020603050405020304" pitchFamily="18" charset="0"/>
                <a:cs typeface="Times New Roman" panose="02020603050405020304" pitchFamily="18" charset="0"/>
              </a:rPr>
              <a:t>Uvicorn</a:t>
            </a:r>
            <a:r>
              <a:rPr lang="en-IN" sz="2400" dirty="0">
                <a:latin typeface="Times New Roman" panose="02020603050405020304" pitchFamily="18" charset="0"/>
                <a:cs typeface="Times New Roman" panose="02020603050405020304" pitchFamily="18" charset="0"/>
              </a:rPr>
              <a:t> serves as the lightning-fast ASGI server, while </a:t>
            </a:r>
            <a:r>
              <a:rPr lang="en-IN" sz="2400" b="1" dirty="0" err="1">
                <a:latin typeface="Times New Roman" panose="02020603050405020304" pitchFamily="18" charset="0"/>
                <a:cs typeface="Times New Roman" panose="02020603050405020304" pitchFamily="18" charset="0"/>
              </a:rPr>
              <a:t>Pydantic</a:t>
            </a:r>
            <a:r>
              <a:rPr lang="en-IN" sz="2400" dirty="0">
                <a:latin typeface="Times New Roman" panose="02020603050405020304" pitchFamily="18" charset="0"/>
                <a:cs typeface="Times New Roman" panose="02020603050405020304" pitchFamily="18" charset="0"/>
              </a:rPr>
              <a:t> ensures strict data validation.</a:t>
            </a:r>
          </a:p>
          <a:p>
            <a:pPr algn="just"/>
            <a:r>
              <a:rPr lang="en-IN" sz="2400" b="1" dirty="0">
                <a:latin typeface="Times New Roman" panose="02020603050405020304" pitchFamily="18" charset="0"/>
                <a:cs typeface="Times New Roman" panose="02020603050405020304" pitchFamily="18" charset="0"/>
              </a:rPr>
              <a:t>AI &amp; ML Core:</a:t>
            </a:r>
            <a:r>
              <a:rPr lang="en-IN" sz="2400" dirty="0">
                <a:latin typeface="Times New Roman" panose="02020603050405020304" pitchFamily="18" charset="0"/>
                <a:cs typeface="Times New Roman" panose="02020603050405020304" pitchFamily="18" charset="0"/>
              </a:rPr>
              <a:t> The project leverages the </a:t>
            </a:r>
            <a:r>
              <a:rPr lang="en-IN" sz="2400" b="1" dirty="0">
                <a:latin typeface="Times New Roman" panose="02020603050405020304" pitchFamily="18" charset="0"/>
                <a:cs typeface="Times New Roman" panose="02020603050405020304" pitchFamily="18" charset="0"/>
              </a:rPr>
              <a:t>Qwen2.5-VL-32B</a:t>
            </a:r>
            <a:r>
              <a:rPr lang="en-IN" sz="2400" dirty="0">
                <a:latin typeface="Times New Roman" panose="02020603050405020304" pitchFamily="18" charset="0"/>
                <a:cs typeface="Times New Roman" panose="02020603050405020304" pitchFamily="18" charset="0"/>
              </a:rPr>
              <a:t> and </a:t>
            </a:r>
            <a:r>
              <a:rPr lang="en-IN" sz="2400" b="1" dirty="0" err="1">
                <a:latin typeface="Times New Roman" panose="02020603050405020304" pitchFamily="18" charset="0"/>
                <a:cs typeface="Times New Roman" panose="02020603050405020304" pitchFamily="18" charset="0"/>
              </a:rPr>
              <a:t>MiniCPM</a:t>
            </a:r>
            <a:r>
              <a:rPr lang="en-IN" sz="2400" b="1" dirty="0">
                <a:latin typeface="Times New Roman" panose="02020603050405020304" pitchFamily="18" charset="0"/>
                <a:cs typeface="Times New Roman" panose="02020603050405020304" pitchFamily="18" charset="0"/>
              </a:rPr>
              <a:t>-V 2.6</a:t>
            </a:r>
            <a:r>
              <a:rPr lang="en-IN" sz="2400" dirty="0">
                <a:latin typeface="Times New Roman" panose="02020603050405020304" pitchFamily="18" charset="0"/>
                <a:cs typeface="Times New Roman" panose="02020603050405020304" pitchFamily="18" charset="0"/>
              </a:rPr>
              <a:t> models for multimodal visual reasoning. Inference is managed via the </a:t>
            </a:r>
            <a:r>
              <a:rPr lang="en-IN" sz="2400" b="1" dirty="0">
                <a:latin typeface="Times New Roman" panose="02020603050405020304" pitchFamily="18" charset="0"/>
                <a:cs typeface="Times New Roman" panose="02020603050405020304" pitchFamily="18" charset="0"/>
              </a:rPr>
              <a:t>Llama-</a:t>
            </a:r>
            <a:r>
              <a:rPr lang="en-IN" sz="2400" b="1" dirty="0" err="1">
                <a:latin typeface="Times New Roman" panose="02020603050405020304" pitchFamily="18" charset="0"/>
                <a:cs typeface="Times New Roman" panose="02020603050405020304" pitchFamily="18" charset="0"/>
              </a:rPr>
              <a:t>cpp</a:t>
            </a:r>
            <a:r>
              <a:rPr lang="en-IN" sz="2400" b="1" dirty="0">
                <a:latin typeface="Times New Roman" panose="02020603050405020304" pitchFamily="18" charset="0"/>
                <a:cs typeface="Times New Roman" panose="02020603050405020304" pitchFamily="18" charset="0"/>
              </a:rPr>
              <a:t> (GGUF)</a:t>
            </a:r>
            <a:r>
              <a:rPr lang="en-IN" sz="2400" dirty="0">
                <a:latin typeface="Times New Roman" panose="02020603050405020304" pitchFamily="18" charset="0"/>
                <a:cs typeface="Times New Roman" panose="02020603050405020304" pitchFamily="18" charset="0"/>
              </a:rPr>
              <a:t> engine, allowing for high-performance execution of quantized models.</a:t>
            </a:r>
          </a:p>
          <a:p>
            <a:pPr algn="just"/>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C94AB-562C-30E1-D39E-9EA8285014E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A6A2FF1-A434-6A37-44F0-0679EC4D4A8F}"/>
              </a:ext>
            </a:extLst>
          </p:cNvPr>
          <p:cNvSpPr txBox="1">
            <a:spLocks noGrp="1"/>
          </p:cNvSpPr>
          <p:nvPr>
            <p:ph type="title"/>
          </p:nvPr>
        </p:nvSpPr>
        <p:spPr>
          <a:xfrm>
            <a:off x="188163" y="682244"/>
            <a:ext cx="3599815" cy="566821"/>
          </a:xfrm>
          <a:prstGeom prst="rect">
            <a:avLst/>
          </a:prstGeom>
        </p:spPr>
        <p:txBody>
          <a:bodyPr vert="horz" wrap="square" lIns="0" tIns="104139" rIns="0" bIns="0" rtlCol="0">
            <a:spAutoFit/>
          </a:bodyPr>
          <a:lstStyle/>
          <a:p>
            <a:r>
              <a:rPr lang="en-IN" dirty="0"/>
              <a:t> Technologies Used</a:t>
            </a:r>
            <a:endParaRPr lang="en-IN" b="0" dirty="0"/>
          </a:p>
        </p:txBody>
      </p:sp>
      <p:sp>
        <p:nvSpPr>
          <p:cNvPr id="3" name="object 3">
            <a:extLst>
              <a:ext uri="{FF2B5EF4-FFF2-40B4-BE49-F238E27FC236}">
                <a16:creationId xmlns:a16="http://schemas.microsoft.com/office/drawing/2014/main" id="{1F8F09D2-4F6B-A293-94DE-33B33D6CC8F8}"/>
              </a:ext>
            </a:extLst>
          </p:cNvPr>
          <p:cNvSpPr txBox="1"/>
          <p:nvPr/>
        </p:nvSpPr>
        <p:spPr>
          <a:xfrm>
            <a:off x="426720" y="1422183"/>
            <a:ext cx="9720580" cy="4577535"/>
          </a:xfrm>
          <a:prstGeom prst="rect">
            <a:avLst/>
          </a:prstGeom>
        </p:spPr>
        <p:txBody>
          <a:bodyPr vert="horz" wrap="square" lIns="0" tIns="144145" rIns="0" bIns="0" rtlCol="0">
            <a:spAutoFit/>
          </a:bodyPr>
          <a:lstStyle/>
          <a:p>
            <a:pPr algn="just"/>
            <a:r>
              <a:rPr lang="en-IN" sz="2400" b="1" dirty="0">
                <a:latin typeface="Times New Roman" panose="02020603050405020304" pitchFamily="18" charset="0"/>
                <a:cs typeface="Times New Roman" panose="02020603050405020304" pitchFamily="18" charset="0"/>
              </a:rPr>
              <a:t>Image Processing &amp; Vision:</a:t>
            </a:r>
            <a:r>
              <a:rPr lang="en-IN" sz="2400" dirty="0">
                <a:latin typeface="Times New Roman" panose="02020603050405020304" pitchFamily="18" charset="0"/>
                <a:cs typeface="Times New Roman" panose="02020603050405020304" pitchFamily="18" charset="0"/>
              </a:rPr>
              <a:t> We utilize </a:t>
            </a:r>
            <a:r>
              <a:rPr lang="en-IN" sz="2400" b="1" dirty="0">
                <a:latin typeface="Times New Roman" panose="02020603050405020304" pitchFamily="18" charset="0"/>
                <a:cs typeface="Times New Roman" panose="02020603050405020304" pitchFamily="18" charset="0"/>
              </a:rPr>
              <a:t>OpenCV (Open Source Computer Vision Library)</a:t>
            </a:r>
            <a:r>
              <a:rPr lang="en-IN" sz="2400" dirty="0">
                <a:latin typeface="Times New Roman" panose="02020603050405020304" pitchFamily="18" charset="0"/>
                <a:cs typeface="Times New Roman" panose="02020603050405020304" pitchFamily="18" charset="0"/>
              </a:rPr>
              <a:t> and </a:t>
            </a:r>
            <a:r>
              <a:rPr lang="en-IN" sz="2400" b="1" dirty="0">
                <a:latin typeface="Times New Roman" panose="02020603050405020304" pitchFamily="18" charset="0"/>
                <a:cs typeface="Times New Roman" panose="02020603050405020304" pitchFamily="18" charset="0"/>
              </a:rPr>
              <a:t>Pillow (PIL)</a:t>
            </a:r>
            <a:r>
              <a:rPr lang="en-IN" sz="2400" dirty="0">
                <a:latin typeface="Times New Roman" panose="02020603050405020304" pitchFamily="18" charset="0"/>
                <a:cs typeface="Times New Roman" panose="02020603050405020304" pitchFamily="18" charset="0"/>
              </a:rPr>
              <a:t> for core image operations. The </a:t>
            </a:r>
            <a:r>
              <a:rPr lang="en-IN" sz="2400" b="1" dirty="0">
                <a:latin typeface="Times New Roman" panose="02020603050405020304" pitchFamily="18" charset="0"/>
                <a:cs typeface="Times New Roman" panose="02020603050405020304" pitchFamily="18" charset="0"/>
              </a:rPr>
              <a:t>CLAHE algorithm</a:t>
            </a:r>
            <a:r>
              <a:rPr lang="en-IN" sz="2400" dirty="0">
                <a:latin typeface="Times New Roman" panose="02020603050405020304" pitchFamily="18" charset="0"/>
                <a:cs typeface="Times New Roman" panose="02020603050405020304" pitchFamily="18" charset="0"/>
              </a:rPr>
              <a:t> and </a:t>
            </a:r>
            <a:r>
              <a:rPr lang="en-IN" sz="2400" b="1" dirty="0">
                <a:latin typeface="Times New Roman" panose="02020603050405020304" pitchFamily="18" charset="0"/>
                <a:cs typeface="Times New Roman" panose="02020603050405020304" pitchFamily="18" charset="0"/>
              </a:rPr>
              <a:t>Custom Segment Splitting</a:t>
            </a:r>
            <a:r>
              <a:rPr lang="en-IN" sz="2400" dirty="0">
                <a:latin typeface="Times New Roman" panose="02020603050405020304" pitchFamily="18" charset="0"/>
                <a:cs typeface="Times New Roman" panose="02020603050405020304" pitchFamily="18" charset="0"/>
              </a:rPr>
              <a:t> logic are implemented to optimize input for the VLM.</a:t>
            </a:r>
          </a:p>
          <a:p>
            <a:pPr algn="just"/>
            <a:r>
              <a:rPr lang="en-IN" sz="2400" b="1" dirty="0">
                <a:latin typeface="Times New Roman" panose="02020603050405020304" pitchFamily="18" charset="0"/>
                <a:cs typeface="Times New Roman" panose="02020603050405020304" pitchFamily="18" charset="0"/>
              </a:rPr>
              <a:t>Deployment &amp; Networking:</a:t>
            </a:r>
            <a:r>
              <a:rPr lang="en-IN" sz="2400" dirty="0">
                <a:latin typeface="Times New Roman" panose="02020603050405020304" pitchFamily="18" charset="0"/>
                <a:cs typeface="Times New Roman" panose="02020603050405020304" pitchFamily="18" charset="0"/>
              </a:rPr>
              <a:t> The system uses a distributed architecture with </a:t>
            </a:r>
            <a:r>
              <a:rPr lang="en-IN" sz="2400" b="1" dirty="0">
                <a:latin typeface="Times New Roman" panose="02020603050405020304" pitchFamily="18" charset="0"/>
                <a:cs typeface="Times New Roman" panose="02020603050405020304" pitchFamily="18" charset="0"/>
              </a:rPr>
              <a:t>Kaggle Dual-T4 GPUs</a:t>
            </a:r>
            <a:r>
              <a:rPr lang="en-IN" sz="2400" dirty="0">
                <a:latin typeface="Times New Roman" panose="02020603050405020304" pitchFamily="18" charset="0"/>
                <a:cs typeface="Times New Roman" panose="02020603050405020304" pitchFamily="18" charset="0"/>
              </a:rPr>
              <a:t> acting as the remote worker. Secure communication between the local master and remote worker is established through a </a:t>
            </a:r>
            <a:r>
              <a:rPr lang="en-IN" sz="2400" b="1" dirty="0">
                <a:latin typeface="Times New Roman" panose="02020603050405020304" pitchFamily="18" charset="0"/>
                <a:cs typeface="Times New Roman" panose="02020603050405020304" pitchFamily="18" charset="0"/>
              </a:rPr>
              <a:t>Cloudflare Tunnel (</a:t>
            </a:r>
            <a:r>
              <a:rPr lang="en-IN" sz="2400" b="1" dirty="0" err="1">
                <a:latin typeface="Times New Roman" panose="02020603050405020304" pitchFamily="18" charset="0"/>
                <a:cs typeface="Times New Roman" panose="02020603050405020304" pitchFamily="18" charset="0"/>
              </a:rPr>
              <a:t>argo</a:t>
            </a:r>
            <a:r>
              <a:rPr lang="en-IN" sz="2400" b="1" dirty="0">
                <a:latin typeface="Times New Roman" panose="02020603050405020304" pitchFamily="18" charset="0"/>
                <a:cs typeface="Times New Roman" panose="02020603050405020304" pitchFamily="18" charset="0"/>
              </a:rPr>
              <a:t>-tunnel)</a:t>
            </a:r>
            <a:r>
              <a:rPr lang="en-IN" sz="2400" dirty="0">
                <a:latin typeface="Times New Roman" panose="02020603050405020304" pitchFamily="18" charset="0"/>
                <a:cs typeface="Times New Roman" panose="02020603050405020304" pitchFamily="18" charset="0"/>
              </a:rPr>
              <a:t>.</a:t>
            </a:r>
          </a:p>
          <a:p>
            <a:pPr algn="just"/>
            <a:r>
              <a:rPr lang="en-IN" sz="2400" b="1" dirty="0">
                <a:latin typeface="Times New Roman" panose="02020603050405020304" pitchFamily="18" charset="0"/>
                <a:cs typeface="Times New Roman" panose="02020603050405020304" pitchFamily="18" charset="0"/>
              </a:rPr>
              <a:t>Database &amp; Storage:</a:t>
            </a: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MongoDB</a:t>
            </a:r>
            <a:r>
              <a:rPr lang="en-IN" sz="2400" dirty="0">
                <a:latin typeface="Times New Roman" panose="02020603050405020304" pitchFamily="18" charset="0"/>
                <a:cs typeface="Times New Roman" panose="02020603050405020304" pitchFamily="18" charset="0"/>
              </a:rPr>
              <a:t> is used as the primary NoSQL database for flexible storage of extraction results. </a:t>
            </a:r>
            <a:r>
              <a:rPr lang="en-IN" sz="2400" b="1" dirty="0">
                <a:latin typeface="Times New Roman" panose="02020603050405020304" pitchFamily="18" charset="0"/>
                <a:cs typeface="Times New Roman" panose="02020603050405020304" pitchFamily="18" charset="0"/>
              </a:rPr>
              <a:t>Motor</a:t>
            </a:r>
            <a:r>
              <a:rPr lang="en-IN" sz="2400" dirty="0">
                <a:latin typeface="Times New Roman" panose="02020603050405020304" pitchFamily="18" charset="0"/>
                <a:cs typeface="Times New Roman" panose="02020603050405020304" pitchFamily="18" charset="0"/>
              </a:rPr>
              <a:t> provides an asynchronous driver for MongoDB, ensuring that database operations never block the processing pipeline.</a:t>
            </a:r>
          </a:p>
        </p:txBody>
      </p:sp>
    </p:spTree>
    <p:extLst>
      <p:ext uri="{BB962C8B-B14F-4D97-AF65-F5344CB8AC3E}">
        <p14:creationId xmlns:p14="http://schemas.microsoft.com/office/powerpoint/2010/main" val="403212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191A8-C821-5448-C17D-0FDB8474534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873F7D7-8982-8D53-FADF-7DF693DF03B5}"/>
              </a:ext>
            </a:extLst>
          </p:cNvPr>
          <p:cNvSpPr txBox="1">
            <a:spLocks noGrp="1"/>
          </p:cNvSpPr>
          <p:nvPr>
            <p:ph type="title"/>
          </p:nvPr>
        </p:nvSpPr>
        <p:spPr>
          <a:prstGeom prst="rect">
            <a:avLst/>
          </a:prstGeom>
        </p:spPr>
        <p:txBody>
          <a:bodyPr vert="horz" wrap="square" lIns="0" tIns="104139" rIns="0" bIns="0" rtlCol="0">
            <a:spAutoFit/>
          </a:bodyPr>
          <a:lstStyle/>
          <a:p>
            <a:pPr marL="12700">
              <a:lnSpc>
                <a:spcPct val="100000"/>
              </a:lnSpc>
              <a:spcBef>
                <a:spcPts val="100"/>
              </a:spcBef>
            </a:pPr>
            <a:r>
              <a:rPr spc="-30" dirty="0"/>
              <a:t>Techniques</a:t>
            </a:r>
          </a:p>
        </p:txBody>
      </p:sp>
      <p:sp>
        <p:nvSpPr>
          <p:cNvPr id="3" name="object 3">
            <a:extLst>
              <a:ext uri="{FF2B5EF4-FFF2-40B4-BE49-F238E27FC236}">
                <a16:creationId xmlns:a16="http://schemas.microsoft.com/office/drawing/2014/main" id="{B7C04095-5C57-3D04-DED1-CB6ACC5BC0B0}"/>
              </a:ext>
            </a:extLst>
          </p:cNvPr>
          <p:cNvSpPr txBox="1"/>
          <p:nvPr/>
        </p:nvSpPr>
        <p:spPr>
          <a:xfrm>
            <a:off x="315569" y="1287069"/>
            <a:ext cx="9720580" cy="4946867"/>
          </a:xfrm>
          <a:prstGeom prst="rect">
            <a:avLst/>
          </a:prstGeom>
        </p:spPr>
        <p:txBody>
          <a:bodyPr vert="horz" wrap="square" lIns="0" tIns="144145" rIns="0" bIns="0" rtlCol="0">
            <a:spAutoFit/>
          </a:bodyPr>
          <a:lstStyle/>
          <a:p>
            <a:pPr algn="just"/>
            <a:r>
              <a:rPr lang="en-US" sz="2400" b="1" dirty="0">
                <a:latin typeface="Times New Roman" panose="02020603050405020304" pitchFamily="18" charset="0"/>
                <a:cs typeface="Times New Roman" panose="02020603050405020304" pitchFamily="18" charset="0"/>
              </a:rPr>
              <a:t>1. Vision Transformer (</a:t>
            </a:r>
            <a:r>
              <a:rPr lang="en-US" sz="2400" b="1" dirty="0" err="1">
                <a:latin typeface="Times New Roman" panose="02020603050405020304" pitchFamily="18" charset="0"/>
                <a:cs typeface="Times New Roman" panose="02020603050405020304" pitchFamily="18" charset="0"/>
              </a:rPr>
              <a:t>ViT</a:t>
            </a:r>
            <a:r>
              <a:rPr lang="en-US" sz="2400" b="1" dirty="0">
                <a:latin typeface="Times New Roman" panose="02020603050405020304" pitchFamily="18" charset="0"/>
                <a:cs typeface="Times New Roman" panose="02020603050405020304" pitchFamily="18" charset="0"/>
              </a:rPr>
              <a:t>) Spatial Attention:</a:t>
            </a:r>
            <a:r>
              <a:rPr lang="en-US" sz="2400" dirty="0">
                <a:latin typeface="Times New Roman" panose="02020603050405020304" pitchFamily="18" charset="0"/>
                <a:cs typeface="Times New Roman" panose="02020603050405020304" pitchFamily="18" charset="0"/>
              </a:rPr>
              <a:t> The core of our extraction technique lies in the Vision Transformer architecture, which employs spatial self-attention mechanisms. Unlike traditional models that process text in a linear sequence,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allows the AI to "see" the entire document at once, enabling it to understand the complex spatial relationships between different layout blocks, such as matching a total amount to its corresponding label across the page.</a:t>
            </a:r>
          </a:p>
          <a:p>
            <a:pPr algn="just"/>
            <a:r>
              <a:rPr lang="en-US" sz="2400" b="1" dirty="0">
                <a:latin typeface="Times New Roman" panose="02020603050405020304" pitchFamily="18" charset="0"/>
                <a:cs typeface="Times New Roman" panose="02020603050405020304" pitchFamily="18" charset="0"/>
              </a:rPr>
              <a:t>2. Master-Worker Hardware Offloading:</a:t>
            </a:r>
            <a:r>
              <a:rPr lang="en-US" sz="2400" dirty="0">
                <a:latin typeface="Times New Roman" panose="02020603050405020304" pitchFamily="18" charset="0"/>
                <a:cs typeface="Times New Roman" panose="02020603050405020304" pitchFamily="18" charset="0"/>
              </a:rPr>
              <a:t> To overcome the hardware limitations of 4GB VRAM machines, we implemented a distributed offloading technique. This mechanism segments the workload, keeping sensitive pre-processing and user management on the local "Master" node while securely tunneling the heavy 32B-parameter VLM inference tasks to a high-performance "Worker" node equipped with Dual-T4 GPUs.</a:t>
            </a:r>
          </a:p>
        </p:txBody>
      </p:sp>
    </p:spTree>
    <p:extLst>
      <p:ext uri="{BB962C8B-B14F-4D97-AF65-F5344CB8AC3E}">
        <p14:creationId xmlns:p14="http://schemas.microsoft.com/office/powerpoint/2010/main" val="2493235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C1FAC-454C-D663-9F81-37AF3FA1805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F412771-71C4-4D0E-19CA-53FDB3382635}"/>
              </a:ext>
            </a:extLst>
          </p:cNvPr>
          <p:cNvSpPr txBox="1">
            <a:spLocks noGrp="1"/>
          </p:cNvSpPr>
          <p:nvPr>
            <p:ph type="title"/>
          </p:nvPr>
        </p:nvSpPr>
        <p:spPr>
          <a:prstGeom prst="rect">
            <a:avLst/>
          </a:prstGeom>
        </p:spPr>
        <p:txBody>
          <a:bodyPr vert="horz" wrap="square" lIns="0" tIns="104139" rIns="0" bIns="0" rtlCol="0">
            <a:spAutoFit/>
          </a:bodyPr>
          <a:lstStyle/>
          <a:p>
            <a:pPr marL="12700">
              <a:lnSpc>
                <a:spcPct val="100000"/>
              </a:lnSpc>
              <a:spcBef>
                <a:spcPts val="100"/>
              </a:spcBef>
            </a:pPr>
            <a:r>
              <a:rPr spc="-30" dirty="0"/>
              <a:t>Techniques</a:t>
            </a:r>
          </a:p>
        </p:txBody>
      </p:sp>
      <p:sp>
        <p:nvSpPr>
          <p:cNvPr id="3" name="object 3">
            <a:extLst>
              <a:ext uri="{FF2B5EF4-FFF2-40B4-BE49-F238E27FC236}">
                <a16:creationId xmlns:a16="http://schemas.microsoft.com/office/drawing/2014/main" id="{17B7643E-C71D-F834-0F89-FB384BEEED9A}"/>
              </a:ext>
            </a:extLst>
          </p:cNvPr>
          <p:cNvSpPr txBox="1"/>
          <p:nvPr/>
        </p:nvSpPr>
        <p:spPr>
          <a:xfrm>
            <a:off x="502920" y="1287069"/>
            <a:ext cx="9720580" cy="4577535"/>
          </a:xfrm>
          <a:prstGeom prst="rect">
            <a:avLst/>
          </a:prstGeom>
        </p:spPr>
        <p:txBody>
          <a:bodyPr vert="horz" wrap="square" lIns="0" tIns="144145" rIns="0" bIns="0" rtlCol="0">
            <a:spAutoFit/>
          </a:bodyPr>
          <a:lstStyle/>
          <a:p>
            <a:pPr algn="just"/>
            <a:r>
              <a:rPr lang="en-US" sz="2400" b="1" dirty="0">
                <a:latin typeface="Times New Roman" panose="02020603050405020304" pitchFamily="18" charset="0"/>
                <a:cs typeface="Times New Roman" panose="02020603050405020304" pitchFamily="18" charset="0"/>
              </a:rPr>
              <a:t>3. Quantized GGUF &amp; 4-bit Normalization:</a:t>
            </a:r>
            <a:r>
              <a:rPr lang="en-US" sz="2400" dirty="0">
                <a:latin typeface="Times New Roman" panose="02020603050405020304" pitchFamily="18" charset="0"/>
                <a:cs typeface="Times New Roman" panose="02020603050405020304" pitchFamily="18" charset="0"/>
              </a:rPr>
              <a:t> To ensure high processing speed and reduced latency, we utilize GGUF-formatted quantized models. By normalizing the Vision-Language Model weights into 4-bit precision, we significantly reduce the computational footprint without compromising the model's ability to understand fine-grained details in handwritten text and complex multilingual scripts.</a:t>
            </a:r>
          </a:p>
          <a:p>
            <a:pPr algn="just"/>
            <a:r>
              <a:rPr lang="en-US" sz="2400" b="1" dirty="0">
                <a:latin typeface="Times New Roman" panose="02020603050405020304" pitchFamily="18" charset="0"/>
                <a:cs typeface="Times New Roman" panose="02020603050405020304" pitchFamily="18" charset="0"/>
              </a:rPr>
              <a:t>4. Real-time SSE Stream Communication:</a:t>
            </a:r>
            <a:r>
              <a:rPr lang="en-US" sz="2400" dirty="0">
                <a:latin typeface="Times New Roman" panose="02020603050405020304" pitchFamily="18" charset="0"/>
                <a:cs typeface="Times New Roman" panose="02020603050405020304" pitchFamily="18" charset="0"/>
              </a:rPr>
              <a:t> We utilize Server-Sent Events (SSE) to manage the communication between the backend and frontend. This technique allows for a persistent, unidirectional data stream that provides the user with real-time feedback on every processing stage—from image enhancement to final JSON generation—ensuring a responsive and transparent user experience.</a:t>
            </a:r>
          </a:p>
        </p:txBody>
      </p:sp>
    </p:spTree>
    <p:extLst>
      <p:ext uri="{BB962C8B-B14F-4D97-AF65-F5344CB8AC3E}">
        <p14:creationId xmlns:p14="http://schemas.microsoft.com/office/powerpoint/2010/main" val="1736428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4139" rIns="0" bIns="0" rtlCol="0">
            <a:spAutoFit/>
          </a:bodyPr>
          <a:lstStyle/>
          <a:p>
            <a:pPr marL="12700">
              <a:lnSpc>
                <a:spcPct val="100000"/>
              </a:lnSpc>
              <a:spcBef>
                <a:spcPts val="100"/>
              </a:spcBef>
            </a:pPr>
            <a:r>
              <a:rPr spc="-10" dirty="0"/>
              <a:t>Algorithm</a:t>
            </a:r>
          </a:p>
        </p:txBody>
      </p:sp>
      <p:sp>
        <p:nvSpPr>
          <p:cNvPr id="4" name="object 4"/>
          <p:cNvSpPr txBox="1"/>
          <p:nvPr/>
        </p:nvSpPr>
        <p:spPr>
          <a:xfrm>
            <a:off x="577215" y="1416050"/>
            <a:ext cx="9570085" cy="4814138"/>
          </a:xfrm>
          <a:prstGeom prst="rect">
            <a:avLst/>
          </a:prstGeom>
        </p:spPr>
        <p:txBody>
          <a:bodyPr vert="horz" wrap="square" lIns="0" tIns="12700" rIns="0" bIns="0" rtlCol="0">
            <a:spAutoFit/>
          </a:bodyPr>
          <a:lstStyle/>
          <a:p>
            <a:pPr algn="just"/>
            <a:r>
              <a:rPr lang="en-US" sz="2400" b="1" dirty="0">
                <a:latin typeface="Times New Roman" panose="02020603050405020304" pitchFamily="18" charset="0"/>
                <a:cs typeface="Times New Roman" panose="02020603050405020304" pitchFamily="18" charset="0"/>
              </a:rPr>
              <a:t>1. Adaptive Image Enhancement (CLAHE):</a:t>
            </a:r>
            <a:r>
              <a:rPr lang="en-US" sz="2400" dirty="0">
                <a:latin typeface="Times New Roman" panose="02020603050405020304" pitchFamily="18" charset="0"/>
                <a:cs typeface="Times New Roman" panose="02020603050405020304" pitchFamily="18" charset="0"/>
              </a:rPr>
              <a:t> The process begins with Contrast Limited Adaptive Histogram Equalization to restore visibility on faded or low-contrast thermal receipts. This algorithm enhances local details without over-exposing the image, ensuring that small text remains legible for the AI.</a:t>
            </a:r>
          </a:p>
          <a:p>
            <a:pPr algn="just"/>
            <a:r>
              <a:rPr lang="en-US" sz="2400" b="1" dirty="0">
                <a:latin typeface="Times New Roman" panose="02020603050405020304" pitchFamily="18" charset="0"/>
                <a:cs typeface="Times New Roman" panose="02020603050405020304" pitchFamily="18" charset="0"/>
              </a:rPr>
              <a:t>2. Dynamic Resolution &amp; Splitting:</a:t>
            </a:r>
            <a:r>
              <a:rPr lang="en-US" sz="2400" dirty="0">
                <a:latin typeface="Times New Roman" panose="02020603050405020304" pitchFamily="18" charset="0"/>
                <a:cs typeface="Times New Roman" panose="02020603050405020304" pitchFamily="18" charset="0"/>
              </a:rPr>
              <a:t> To maintain high precision, a custom logic resizes images into optimized patches while preserving aspect ratios. For extremely tall documents, a dynamic splitting algorithm cuts the invoice into overlapping segments to prevent data loss at the edges.</a:t>
            </a:r>
          </a:p>
          <a:p>
            <a:pPr algn="just"/>
            <a:r>
              <a:rPr lang="en-US" sz="2400" b="1" dirty="0">
                <a:latin typeface="Times New Roman" panose="02020603050405020304" pitchFamily="18" charset="0"/>
                <a:cs typeface="Times New Roman" panose="02020603050405020304" pitchFamily="18" charset="0"/>
              </a:rPr>
              <a:t>3. Structured JSON Decoding:</a:t>
            </a:r>
            <a:r>
              <a:rPr lang="en-US" sz="2400" dirty="0">
                <a:latin typeface="Times New Roman" panose="02020603050405020304" pitchFamily="18" charset="0"/>
                <a:cs typeface="Times New Roman" panose="02020603050405020304" pitchFamily="18" charset="0"/>
              </a:rPr>
              <a:t> In the final stage, the raw textual output from the model is passed through a greedy decoding process. This parses the AI’s visual interpretations into a clean, hierarchical JSON format, which is then stitched back together if the image was split.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4139" rIns="0" bIns="0" rtlCol="0">
            <a:spAutoFit/>
          </a:bodyPr>
          <a:lstStyle/>
          <a:p>
            <a:pPr marL="12700">
              <a:lnSpc>
                <a:spcPct val="100000"/>
              </a:lnSpc>
              <a:spcBef>
                <a:spcPts val="100"/>
              </a:spcBef>
            </a:pPr>
            <a:r>
              <a:rPr spc="-10" dirty="0"/>
              <a:t>Mechanism</a:t>
            </a:r>
          </a:p>
        </p:txBody>
      </p:sp>
      <p:sp>
        <p:nvSpPr>
          <p:cNvPr id="3" name="object 3"/>
          <p:cNvSpPr txBox="1"/>
          <p:nvPr/>
        </p:nvSpPr>
        <p:spPr>
          <a:xfrm>
            <a:off x="469900" y="1492250"/>
            <a:ext cx="9786620" cy="4444807"/>
          </a:xfrm>
          <a:prstGeom prst="rect">
            <a:avLst/>
          </a:prstGeom>
        </p:spPr>
        <p:txBody>
          <a:bodyPr vert="horz" wrap="square" lIns="0" tIns="12700" rIns="0" bIns="0" rtlCol="0">
            <a:spAutoFit/>
          </a:bodyPr>
          <a:lstStyle/>
          <a:p>
            <a:pPr algn="just"/>
            <a:r>
              <a:rPr lang="en-US" sz="2400" b="1" dirty="0">
                <a:latin typeface="Times New Roman" panose="02020603050405020304" pitchFamily="18" charset="0"/>
                <a:cs typeface="Times New Roman" panose="02020603050405020304" pitchFamily="18" charset="0"/>
              </a:rPr>
              <a:t>1. Distributed Master-Worker Offloading:</a:t>
            </a:r>
            <a:r>
              <a:rPr lang="en-US" sz="2400" dirty="0">
                <a:latin typeface="Times New Roman" panose="02020603050405020304" pitchFamily="18" charset="0"/>
                <a:cs typeface="Times New Roman" panose="02020603050405020304" pitchFamily="18" charset="0"/>
              </a:rPr>
              <a:t> The system utilizes a unique architecture where lightweight tasks like image prep are handled locally (Master), while heavy AI inference is offloaded to remote Kaggle Dual-T4 GPUs (Worker) to overcome local hardware limitations.</a:t>
            </a:r>
          </a:p>
          <a:p>
            <a:pPr algn="just"/>
            <a:r>
              <a:rPr lang="en-US" sz="2400" b="1" dirty="0">
                <a:latin typeface="Times New Roman" panose="02020603050405020304" pitchFamily="18" charset="0"/>
                <a:cs typeface="Times New Roman" panose="02020603050405020304" pitchFamily="18" charset="0"/>
              </a:rPr>
              <a:t>2. Spatial Self-Attention &amp; Visual Reasoning:</a:t>
            </a:r>
            <a:r>
              <a:rPr lang="en-US" sz="2400" dirty="0">
                <a:latin typeface="Times New Roman" panose="02020603050405020304" pitchFamily="18" charset="0"/>
                <a:cs typeface="Times New Roman" panose="02020603050405020304" pitchFamily="18" charset="0"/>
              </a:rPr>
              <a:t> Instead of traditional sequential OCR, the system uses a Vision Transformer mechanism. This allows the AI to "visually reason" by looking at the entire document layout simultaneously to understand relationships between headers and values.</a:t>
            </a:r>
          </a:p>
          <a:p>
            <a:pPr algn="just"/>
            <a:r>
              <a:rPr lang="en-US" sz="2400" b="1" dirty="0">
                <a:latin typeface="Times New Roman" panose="02020603050405020304" pitchFamily="18" charset="0"/>
                <a:cs typeface="Times New Roman" panose="02020603050405020304" pitchFamily="18" charset="0"/>
              </a:rPr>
              <a:t>3. Secure Tunneling &amp; Asynchronous Polling:</a:t>
            </a:r>
            <a:r>
              <a:rPr lang="en-US" sz="2400" dirty="0">
                <a:latin typeface="Times New Roman" panose="02020603050405020304" pitchFamily="18" charset="0"/>
                <a:cs typeface="Times New Roman" panose="02020603050405020304" pitchFamily="18" charset="0"/>
              </a:rPr>
              <a:t> Data transfer is managed through an encrypted Cloudflare Tunnel, ensuring security between nodes. An asynchronous polling mechanism tracks the remote job status, streaming real-time updates to the frontend until processing is complete.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737057"/>
            <a:ext cx="10693400" cy="6036621"/>
          </a:xfrm>
          <a:prstGeom prst="rect">
            <a:avLst/>
          </a:prstGeom>
        </p:spPr>
      </p:pic>
      <p:sp>
        <p:nvSpPr>
          <p:cNvPr id="3" name="object 3"/>
          <p:cNvSpPr txBox="1">
            <a:spLocks noGrp="1"/>
          </p:cNvSpPr>
          <p:nvPr>
            <p:ph type="title"/>
          </p:nvPr>
        </p:nvSpPr>
        <p:spPr>
          <a:xfrm>
            <a:off x="188163" y="742950"/>
            <a:ext cx="1412875" cy="482600"/>
          </a:xfrm>
          <a:prstGeom prst="rect">
            <a:avLst/>
          </a:prstGeom>
        </p:spPr>
        <p:txBody>
          <a:bodyPr vert="horz" wrap="square" lIns="0" tIns="12700" rIns="0" bIns="0" rtlCol="0">
            <a:spAutoFit/>
          </a:bodyPr>
          <a:lstStyle/>
          <a:p>
            <a:pPr marL="12700">
              <a:lnSpc>
                <a:spcPct val="100000"/>
              </a:lnSpc>
              <a:spcBef>
                <a:spcPts val="100"/>
              </a:spcBef>
            </a:pPr>
            <a:r>
              <a:rPr spc="-10" dirty="0"/>
              <a:t>Modules</a:t>
            </a:r>
          </a:p>
        </p:txBody>
      </p:sp>
      <p:sp>
        <p:nvSpPr>
          <p:cNvPr id="4" name="object 4"/>
          <p:cNvSpPr txBox="1"/>
          <p:nvPr/>
        </p:nvSpPr>
        <p:spPr>
          <a:xfrm>
            <a:off x="562457" y="1431983"/>
            <a:ext cx="9584843" cy="4523674"/>
          </a:xfrm>
          <a:prstGeom prst="rect">
            <a:avLst/>
          </a:prstGeom>
        </p:spPr>
        <p:txBody>
          <a:bodyPr vert="horz" wrap="square" lIns="0" tIns="90805" rIns="0" bIns="0" rtlCol="0">
            <a:spAutoFit/>
          </a:bodyPr>
          <a:lstStyle/>
          <a:p>
            <a:pPr algn="just"/>
            <a:r>
              <a:rPr lang="en-US" sz="2400" b="1" dirty="0">
                <a:latin typeface="Times New Roman" panose="02020603050405020304" pitchFamily="18" charset="0"/>
                <a:cs typeface="Times New Roman" panose="02020603050405020304" pitchFamily="18" charset="0"/>
              </a:rPr>
              <a:t>1. Image Intelligence &amp; Pre-processing Module:</a:t>
            </a:r>
            <a:r>
              <a:rPr lang="en-US" sz="2400" dirty="0">
                <a:latin typeface="Times New Roman" panose="02020603050405020304" pitchFamily="18" charset="0"/>
                <a:cs typeface="Times New Roman" panose="02020603050405020304" pitchFamily="18" charset="0"/>
              </a:rPr>
              <a:t> This module acts as the "Eyes" of the system, handling initial document acquisition, </a:t>
            </a:r>
            <a:r>
              <a:rPr lang="en-US" sz="2400" dirty="0" err="1">
                <a:latin typeface="Times New Roman" panose="02020603050405020304" pitchFamily="18" charset="0"/>
                <a:cs typeface="Times New Roman" panose="02020603050405020304" pitchFamily="18" charset="0"/>
              </a:rPr>
              <a:t>deskewing</a:t>
            </a:r>
            <a:r>
              <a:rPr lang="en-US" sz="2400" dirty="0">
                <a:latin typeface="Times New Roman" panose="02020603050405020304" pitchFamily="18" charset="0"/>
                <a:cs typeface="Times New Roman" panose="02020603050405020304" pitchFamily="18" charset="0"/>
              </a:rPr>
              <a:t>, and the application of enhancement filters like CLAHE and Segment Splitting to prepare the image for the AI brain.</a:t>
            </a:r>
          </a:p>
          <a:p>
            <a:pPr algn="just"/>
            <a:r>
              <a:rPr lang="en-US" sz="2400" b="1" dirty="0">
                <a:latin typeface="Times New Roman" panose="02020603050405020304" pitchFamily="18" charset="0"/>
                <a:cs typeface="Times New Roman" panose="02020603050405020304" pitchFamily="18" charset="0"/>
              </a:rPr>
              <a:t>2. Remote VLM Inference &amp; Logic Module:</a:t>
            </a:r>
            <a:r>
              <a:rPr lang="en-US" sz="2400" dirty="0">
                <a:latin typeface="Times New Roman" panose="02020603050405020304" pitchFamily="18" charset="0"/>
                <a:cs typeface="Times New Roman" panose="02020603050405020304" pitchFamily="18" charset="0"/>
              </a:rPr>
              <a:t> Residing on the high-performance worker node, this module performs the core extraction. It uses the Qwen2.5-VL engine to natively read 10+ Indic languages and interpret complex layouts to generate a "Digital Twin" of the document.</a:t>
            </a:r>
          </a:p>
          <a:p>
            <a:pPr algn="just"/>
            <a:r>
              <a:rPr lang="en-US" sz="2400" b="1" dirty="0">
                <a:latin typeface="Times New Roman" panose="02020603050405020304" pitchFamily="18" charset="0"/>
                <a:cs typeface="Times New Roman" panose="02020603050405020304" pitchFamily="18" charset="0"/>
              </a:rPr>
              <a:t>3. Data Standardization &amp; Visualization Module:</a:t>
            </a:r>
            <a:r>
              <a:rPr lang="en-US" sz="2400" dirty="0">
                <a:latin typeface="Times New Roman" panose="02020603050405020304" pitchFamily="18" charset="0"/>
                <a:cs typeface="Times New Roman" panose="02020603050405020304" pitchFamily="18" charset="0"/>
              </a:rPr>
              <a:t> The final module receives raw AI results and applies fuzzy matching logic to map them to a standard enterprise schema. It then visualizes the results on a React dashboard, providing both structured data and a spatial layout map.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4139" rIns="0" bIns="0" rtlCol="0">
            <a:spAutoFit/>
          </a:bodyPr>
          <a:lstStyle/>
          <a:p>
            <a:pPr marL="12700">
              <a:lnSpc>
                <a:spcPct val="100000"/>
              </a:lnSpc>
              <a:spcBef>
                <a:spcPts val="100"/>
              </a:spcBef>
            </a:pPr>
            <a:r>
              <a:rPr dirty="0"/>
              <a:t>Block</a:t>
            </a:r>
            <a:r>
              <a:rPr spc="-100" dirty="0"/>
              <a:t> </a:t>
            </a:r>
            <a:r>
              <a:rPr spc="-10" dirty="0"/>
              <a:t>Diagram</a:t>
            </a:r>
          </a:p>
        </p:txBody>
      </p:sp>
      <p:pic>
        <p:nvPicPr>
          <p:cNvPr id="5" name="Picture 4">
            <a:extLst>
              <a:ext uri="{FF2B5EF4-FFF2-40B4-BE49-F238E27FC236}">
                <a16:creationId xmlns:a16="http://schemas.microsoft.com/office/drawing/2014/main" id="{6D4051B3-8484-489D-A288-9FC9D2B5A7A8}"/>
              </a:ext>
            </a:extLst>
          </p:cNvPr>
          <p:cNvPicPr>
            <a:picLocks noChangeAspect="1"/>
          </p:cNvPicPr>
          <p:nvPr/>
        </p:nvPicPr>
        <p:blipFill>
          <a:blip r:embed="rId2">
            <a:extLst>
              <a:ext uri="{28A0092B-C50C-407E-A947-70E740481C1C}">
                <a14:useLocalDpi xmlns:a14="http://schemas.microsoft.com/office/drawing/2010/main" val="0"/>
              </a:ext>
            </a:extLst>
          </a:blip>
          <a:srcRect t="34097" b="30864"/>
          <a:stretch>
            <a:fillRect/>
          </a:stretch>
        </p:blipFill>
        <p:spPr>
          <a:xfrm>
            <a:off x="724682" y="2618613"/>
            <a:ext cx="9244036" cy="29247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4139" rIns="0" bIns="0" rtlCol="0">
            <a:spAutoFit/>
          </a:bodyPr>
          <a:lstStyle/>
          <a:p>
            <a:pPr marL="12700">
              <a:lnSpc>
                <a:spcPct val="100000"/>
              </a:lnSpc>
              <a:spcBef>
                <a:spcPts val="100"/>
              </a:spcBef>
            </a:pPr>
            <a:r>
              <a:rPr spc="-30" dirty="0"/>
              <a:t>UML</a:t>
            </a:r>
            <a:r>
              <a:rPr spc="-175" dirty="0"/>
              <a:t> </a:t>
            </a:r>
            <a:r>
              <a:rPr spc="-10" dirty="0"/>
              <a:t>Diagram</a:t>
            </a:r>
          </a:p>
        </p:txBody>
      </p:sp>
      <p:pic>
        <p:nvPicPr>
          <p:cNvPr id="6" name="Picture 5">
            <a:extLst>
              <a:ext uri="{FF2B5EF4-FFF2-40B4-BE49-F238E27FC236}">
                <a16:creationId xmlns:a16="http://schemas.microsoft.com/office/drawing/2014/main" id="{7527DD59-E452-9CEC-94F1-B82D20FECBF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5200" y="1770623"/>
            <a:ext cx="8763000" cy="401525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4139" rIns="0" bIns="0" rtlCol="0">
            <a:spAutoFit/>
          </a:bodyPr>
          <a:lstStyle/>
          <a:p>
            <a:pPr marL="12700">
              <a:lnSpc>
                <a:spcPct val="100000"/>
              </a:lnSpc>
              <a:spcBef>
                <a:spcPts val="100"/>
              </a:spcBef>
            </a:pPr>
            <a:r>
              <a:rPr dirty="0"/>
              <a:t>Result</a:t>
            </a:r>
            <a:r>
              <a:rPr spc="-85" dirty="0"/>
              <a:t> </a:t>
            </a:r>
            <a:r>
              <a:rPr dirty="0"/>
              <a:t>/</a:t>
            </a:r>
            <a:r>
              <a:rPr spc="-95" dirty="0"/>
              <a:t> </a:t>
            </a:r>
            <a:r>
              <a:rPr spc="-10" dirty="0"/>
              <a:t>Screenshot</a:t>
            </a:r>
          </a:p>
        </p:txBody>
      </p:sp>
      <p:sp>
        <p:nvSpPr>
          <p:cNvPr id="3" name="object 3"/>
          <p:cNvSpPr txBox="1"/>
          <p:nvPr/>
        </p:nvSpPr>
        <p:spPr>
          <a:xfrm>
            <a:off x="4149090" y="5906262"/>
            <a:ext cx="239458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Figure</a:t>
            </a:r>
            <a:r>
              <a:rPr sz="1800" spc="-20" dirty="0">
                <a:latin typeface="Times New Roman"/>
                <a:cs typeface="Times New Roman"/>
              </a:rPr>
              <a:t> </a:t>
            </a:r>
            <a:r>
              <a:rPr sz="1800" dirty="0">
                <a:latin typeface="Times New Roman"/>
                <a:cs typeface="Times New Roman"/>
              </a:rPr>
              <a:t>1</a:t>
            </a:r>
            <a:r>
              <a:rPr sz="1800" spc="-25" dirty="0">
                <a:latin typeface="Times New Roman"/>
                <a:cs typeface="Times New Roman"/>
              </a:rPr>
              <a:t> </a:t>
            </a:r>
            <a:r>
              <a:rPr sz="1800" dirty="0">
                <a:latin typeface="Times New Roman"/>
                <a:cs typeface="Times New Roman"/>
              </a:rPr>
              <a:t>-</a:t>
            </a:r>
            <a:r>
              <a:rPr sz="1800" spc="-15" dirty="0">
                <a:latin typeface="Times New Roman"/>
                <a:cs typeface="Times New Roman"/>
              </a:rPr>
              <a:t> </a:t>
            </a:r>
            <a:r>
              <a:rPr sz="1800" dirty="0">
                <a:latin typeface="Times New Roman"/>
                <a:cs typeface="Times New Roman"/>
              </a:rPr>
              <a:t>Home</a:t>
            </a:r>
            <a:r>
              <a:rPr sz="1800" spc="-10" dirty="0">
                <a:latin typeface="Times New Roman"/>
                <a:cs typeface="Times New Roman"/>
              </a:rPr>
              <a:t> Screen</a:t>
            </a:r>
            <a:endParaRPr sz="1800" dirty="0">
              <a:latin typeface="Times New Roman"/>
              <a:cs typeface="Times New Roman"/>
            </a:endParaRPr>
          </a:p>
        </p:txBody>
      </p:sp>
      <p:pic>
        <p:nvPicPr>
          <p:cNvPr id="8" name="Picture 7">
            <a:extLst>
              <a:ext uri="{FF2B5EF4-FFF2-40B4-BE49-F238E27FC236}">
                <a16:creationId xmlns:a16="http://schemas.microsoft.com/office/drawing/2014/main" id="{1C14C2BF-46F8-9C77-7EB9-035EFAC70A1F}"/>
              </a:ext>
            </a:extLst>
          </p:cNvPr>
          <p:cNvPicPr>
            <a:picLocks noChangeAspect="1"/>
          </p:cNvPicPr>
          <p:nvPr/>
        </p:nvPicPr>
        <p:blipFill>
          <a:blip r:embed="rId2">
            <a:extLst>
              <a:ext uri="{28A0092B-C50C-407E-A947-70E740481C1C}">
                <a14:useLocalDpi xmlns:a14="http://schemas.microsoft.com/office/drawing/2010/main" val="0"/>
              </a:ext>
            </a:extLst>
          </a:blip>
          <a:srcRect l="9382" t="11995" r="7244" b="14622"/>
          <a:stretch>
            <a:fillRect/>
          </a:stretch>
        </p:blipFill>
        <p:spPr>
          <a:xfrm>
            <a:off x="1003300" y="1492251"/>
            <a:ext cx="8915400" cy="441401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4139" rIns="0" bIns="0" rtlCol="0">
            <a:spAutoFit/>
          </a:bodyPr>
          <a:lstStyle/>
          <a:p>
            <a:pPr marL="12700">
              <a:lnSpc>
                <a:spcPct val="100000"/>
              </a:lnSpc>
              <a:spcBef>
                <a:spcPts val="100"/>
              </a:spcBef>
            </a:pPr>
            <a:r>
              <a:rPr dirty="0"/>
              <a:t>Result</a:t>
            </a:r>
            <a:r>
              <a:rPr spc="-85" dirty="0"/>
              <a:t> </a:t>
            </a:r>
            <a:r>
              <a:rPr dirty="0"/>
              <a:t>/</a:t>
            </a:r>
            <a:r>
              <a:rPr spc="-95" dirty="0"/>
              <a:t> </a:t>
            </a:r>
            <a:r>
              <a:rPr spc="-10" dirty="0"/>
              <a:t>Screenshot</a:t>
            </a:r>
          </a:p>
        </p:txBody>
      </p:sp>
      <p:sp>
        <p:nvSpPr>
          <p:cNvPr id="3" name="object 3"/>
          <p:cNvSpPr txBox="1"/>
          <p:nvPr/>
        </p:nvSpPr>
        <p:spPr>
          <a:xfrm>
            <a:off x="3947541" y="5587565"/>
            <a:ext cx="2542159"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Figure</a:t>
            </a:r>
            <a:r>
              <a:rPr sz="1800" spc="-25" dirty="0">
                <a:latin typeface="Times New Roman"/>
                <a:cs typeface="Times New Roman"/>
              </a:rPr>
              <a:t> </a:t>
            </a:r>
            <a:r>
              <a:rPr lang="en-US" spc="-25" dirty="0">
                <a:latin typeface="Times New Roman"/>
                <a:cs typeface="Times New Roman"/>
              </a:rPr>
              <a:t>2</a:t>
            </a:r>
            <a:r>
              <a:rPr lang="en-US" sz="1800" dirty="0">
                <a:latin typeface="Times New Roman"/>
                <a:cs typeface="Times New Roman"/>
              </a:rPr>
              <a:t> – Upload Screen</a:t>
            </a:r>
            <a:endParaRPr sz="1800" dirty="0">
              <a:latin typeface="Times New Roman"/>
              <a:cs typeface="Times New Roman"/>
            </a:endParaRPr>
          </a:p>
        </p:txBody>
      </p:sp>
      <p:pic>
        <p:nvPicPr>
          <p:cNvPr id="8" name="Picture 7">
            <a:extLst>
              <a:ext uri="{FF2B5EF4-FFF2-40B4-BE49-F238E27FC236}">
                <a16:creationId xmlns:a16="http://schemas.microsoft.com/office/drawing/2014/main" id="{D6BF6325-F190-0889-A3B8-FEA4739535D5}"/>
              </a:ext>
            </a:extLst>
          </p:cNvPr>
          <p:cNvPicPr>
            <a:picLocks noChangeAspect="1"/>
          </p:cNvPicPr>
          <p:nvPr/>
        </p:nvPicPr>
        <p:blipFill>
          <a:blip r:embed="rId2">
            <a:extLst>
              <a:ext uri="{28A0092B-C50C-407E-A947-70E740481C1C}">
                <a14:useLocalDpi xmlns:a14="http://schemas.microsoft.com/office/drawing/2010/main" val="0"/>
              </a:ext>
            </a:extLst>
          </a:blip>
          <a:srcRect t="6928" r="8670" b="10177"/>
          <a:stretch>
            <a:fillRect/>
          </a:stretch>
        </p:blipFill>
        <p:spPr>
          <a:xfrm>
            <a:off x="381000" y="1405582"/>
            <a:ext cx="9766300" cy="420146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3ABDF-448F-7161-898A-E2302636885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19B2A20-70A9-8AB0-865A-4A761ABF9FC2}"/>
              </a:ext>
            </a:extLst>
          </p:cNvPr>
          <p:cNvSpPr txBox="1">
            <a:spLocks noGrp="1"/>
          </p:cNvSpPr>
          <p:nvPr>
            <p:ph type="title"/>
          </p:nvPr>
        </p:nvSpPr>
        <p:spPr>
          <a:prstGeom prst="rect">
            <a:avLst/>
          </a:prstGeom>
        </p:spPr>
        <p:txBody>
          <a:bodyPr vert="horz" wrap="square" lIns="0" tIns="104139" rIns="0" bIns="0" rtlCol="0">
            <a:spAutoFit/>
          </a:bodyPr>
          <a:lstStyle/>
          <a:p>
            <a:pPr marL="12700">
              <a:lnSpc>
                <a:spcPct val="100000"/>
              </a:lnSpc>
              <a:spcBef>
                <a:spcPts val="100"/>
              </a:spcBef>
            </a:pPr>
            <a:r>
              <a:rPr dirty="0"/>
              <a:t>Result</a:t>
            </a:r>
            <a:r>
              <a:rPr spc="-85" dirty="0"/>
              <a:t> </a:t>
            </a:r>
            <a:r>
              <a:rPr dirty="0"/>
              <a:t>/</a:t>
            </a:r>
            <a:r>
              <a:rPr spc="-95" dirty="0"/>
              <a:t> </a:t>
            </a:r>
            <a:r>
              <a:rPr spc="-10" dirty="0"/>
              <a:t>Screenshot</a:t>
            </a:r>
          </a:p>
        </p:txBody>
      </p:sp>
      <p:sp>
        <p:nvSpPr>
          <p:cNvPr id="3" name="object 3">
            <a:extLst>
              <a:ext uri="{FF2B5EF4-FFF2-40B4-BE49-F238E27FC236}">
                <a16:creationId xmlns:a16="http://schemas.microsoft.com/office/drawing/2014/main" id="{75880D1D-7737-6526-384A-56B5ECFCDD9D}"/>
              </a:ext>
            </a:extLst>
          </p:cNvPr>
          <p:cNvSpPr txBox="1"/>
          <p:nvPr/>
        </p:nvSpPr>
        <p:spPr>
          <a:xfrm>
            <a:off x="3871341" y="5873877"/>
            <a:ext cx="2694559" cy="299720"/>
          </a:xfrm>
          <a:prstGeom prst="rect">
            <a:avLst/>
          </a:prstGeom>
        </p:spPr>
        <p:txBody>
          <a:bodyPr vert="horz" wrap="square" lIns="0" tIns="12700" rIns="0" bIns="0" rtlCol="0">
            <a:spAutoFit/>
          </a:bodyPr>
          <a:lstStyle/>
          <a:p>
            <a:pPr marL="12700" algn="ctr">
              <a:lnSpc>
                <a:spcPct val="100000"/>
              </a:lnSpc>
              <a:spcBef>
                <a:spcPts val="100"/>
              </a:spcBef>
            </a:pPr>
            <a:r>
              <a:rPr sz="1800" dirty="0">
                <a:latin typeface="Times New Roman"/>
                <a:cs typeface="Times New Roman"/>
              </a:rPr>
              <a:t>Figure</a:t>
            </a:r>
            <a:r>
              <a:rPr sz="1800" spc="-25" dirty="0">
                <a:latin typeface="Times New Roman"/>
                <a:cs typeface="Times New Roman"/>
              </a:rPr>
              <a:t> </a:t>
            </a:r>
            <a:r>
              <a:rPr sz="1800" dirty="0">
                <a:latin typeface="Times New Roman"/>
                <a:cs typeface="Times New Roman"/>
              </a:rPr>
              <a:t>3</a:t>
            </a:r>
            <a:r>
              <a:rPr lang="en-US" sz="1800" dirty="0">
                <a:latin typeface="Times New Roman"/>
                <a:cs typeface="Times New Roman"/>
              </a:rPr>
              <a:t> – Processing Screen</a:t>
            </a:r>
            <a:endParaRPr sz="1800" dirty="0">
              <a:latin typeface="Times New Roman"/>
              <a:cs typeface="Times New Roman"/>
            </a:endParaRPr>
          </a:p>
        </p:txBody>
      </p:sp>
      <p:pic>
        <p:nvPicPr>
          <p:cNvPr id="5" name="Picture 4">
            <a:extLst>
              <a:ext uri="{FF2B5EF4-FFF2-40B4-BE49-F238E27FC236}">
                <a16:creationId xmlns:a16="http://schemas.microsoft.com/office/drawing/2014/main" id="{58458EB7-4786-C404-7BA9-4C2EE8D8CC96}"/>
              </a:ext>
            </a:extLst>
          </p:cNvPr>
          <p:cNvPicPr>
            <a:picLocks noChangeAspect="1"/>
          </p:cNvPicPr>
          <p:nvPr/>
        </p:nvPicPr>
        <p:blipFill>
          <a:blip r:embed="rId2">
            <a:extLst>
              <a:ext uri="{28A0092B-C50C-407E-A947-70E740481C1C}">
                <a14:useLocalDpi xmlns:a14="http://schemas.microsoft.com/office/drawing/2010/main" val="0"/>
              </a:ext>
            </a:extLst>
          </a:blip>
          <a:srcRect l="10095" t="14529" r="7958" b="8195"/>
          <a:stretch>
            <a:fillRect/>
          </a:stretch>
        </p:blipFill>
        <p:spPr>
          <a:xfrm>
            <a:off x="1079500" y="1492250"/>
            <a:ext cx="8763000" cy="4343401"/>
          </a:xfrm>
          <a:prstGeom prst="rect">
            <a:avLst/>
          </a:prstGeom>
        </p:spPr>
      </p:pic>
    </p:spTree>
    <p:extLst>
      <p:ext uri="{BB962C8B-B14F-4D97-AF65-F5344CB8AC3E}">
        <p14:creationId xmlns:p14="http://schemas.microsoft.com/office/powerpoint/2010/main" val="3082077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4139" rIns="0" bIns="0" rtlCol="0">
            <a:spAutoFit/>
          </a:bodyPr>
          <a:lstStyle/>
          <a:p>
            <a:pPr marL="12700">
              <a:lnSpc>
                <a:spcPct val="100000"/>
              </a:lnSpc>
              <a:spcBef>
                <a:spcPts val="100"/>
              </a:spcBef>
            </a:pPr>
            <a:r>
              <a:rPr dirty="0"/>
              <a:t>Result</a:t>
            </a:r>
            <a:r>
              <a:rPr spc="-85" dirty="0"/>
              <a:t> </a:t>
            </a:r>
            <a:r>
              <a:rPr dirty="0"/>
              <a:t>/</a:t>
            </a:r>
            <a:r>
              <a:rPr spc="-95" dirty="0"/>
              <a:t> </a:t>
            </a:r>
            <a:r>
              <a:rPr spc="-10" dirty="0"/>
              <a:t>Screenshot</a:t>
            </a:r>
          </a:p>
        </p:txBody>
      </p:sp>
      <p:sp>
        <p:nvSpPr>
          <p:cNvPr id="3" name="object 3"/>
          <p:cNvSpPr txBox="1"/>
          <p:nvPr/>
        </p:nvSpPr>
        <p:spPr>
          <a:xfrm>
            <a:off x="3975100" y="5862320"/>
            <a:ext cx="2370836" cy="299720"/>
          </a:xfrm>
          <a:prstGeom prst="rect">
            <a:avLst/>
          </a:prstGeom>
        </p:spPr>
        <p:txBody>
          <a:bodyPr vert="horz" wrap="square" lIns="0" tIns="12700" rIns="0" bIns="0" rtlCol="0">
            <a:spAutoFit/>
          </a:bodyPr>
          <a:lstStyle/>
          <a:p>
            <a:pPr marL="12700" algn="ctr">
              <a:lnSpc>
                <a:spcPct val="100000"/>
              </a:lnSpc>
              <a:spcBef>
                <a:spcPts val="100"/>
              </a:spcBef>
            </a:pPr>
            <a:r>
              <a:rPr sz="1800" dirty="0">
                <a:latin typeface="Times New Roman"/>
                <a:cs typeface="Times New Roman"/>
              </a:rPr>
              <a:t>Figure</a:t>
            </a:r>
            <a:r>
              <a:rPr sz="1800" spc="-15" dirty="0">
                <a:latin typeface="Times New Roman"/>
                <a:cs typeface="Times New Roman"/>
              </a:rPr>
              <a:t> </a:t>
            </a:r>
            <a:r>
              <a:rPr lang="en-US" spc="-15" dirty="0">
                <a:latin typeface="Times New Roman"/>
                <a:cs typeface="Times New Roman"/>
              </a:rPr>
              <a:t>4 – Output Screen</a:t>
            </a:r>
            <a:endParaRPr sz="1800" dirty="0">
              <a:latin typeface="Times New Roman"/>
              <a:cs typeface="Times New Roman"/>
            </a:endParaRPr>
          </a:p>
        </p:txBody>
      </p:sp>
      <p:pic>
        <p:nvPicPr>
          <p:cNvPr id="8" name="Picture 7">
            <a:extLst>
              <a:ext uri="{FF2B5EF4-FFF2-40B4-BE49-F238E27FC236}">
                <a16:creationId xmlns:a16="http://schemas.microsoft.com/office/drawing/2014/main" id="{5F0C26C1-66DA-F733-938B-A83BFC202A32}"/>
              </a:ext>
            </a:extLst>
          </p:cNvPr>
          <p:cNvPicPr>
            <a:picLocks noChangeAspect="1"/>
          </p:cNvPicPr>
          <p:nvPr/>
        </p:nvPicPr>
        <p:blipFill>
          <a:blip r:embed="rId2">
            <a:extLst>
              <a:ext uri="{28A0092B-C50C-407E-A947-70E740481C1C}">
                <a14:useLocalDpi xmlns:a14="http://schemas.microsoft.com/office/drawing/2010/main" val="0"/>
              </a:ext>
            </a:extLst>
          </a:blip>
          <a:srcRect l="6631" t="14018" r="8931" b="4420"/>
          <a:stretch>
            <a:fillRect/>
          </a:stretch>
        </p:blipFill>
        <p:spPr>
          <a:xfrm>
            <a:off x="1536700" y="1568450"/>
            <a:ext cx="7924800" cy="425532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4139" rIns="0" bIns="0" rtlCol="0">
            <a:spAutoFit/>
          </a:bodyPr>
          <a:lstStyle/>
          <a:p>
            <a:pPr marL="12700">
              <a:lnSpc>
                <a:spcPct val="100000"/>
              </a:lnSpc>
              <a:spcBef>
                <a:spcPts val="100"/>
              </a:spcBef>
            </a:pPr>
            <a:r>
              <a:rPr spc="-10" dirty="0"/>
              <a:t>Future</a:t>
            </a:r>
            <a:r>
              <a:rPr spc="-145" dirty="0"/>
              <a:t> </a:t>
            </a:r>
            <a:r>
              <a:rPr spc="-10" dirty="0"/>
              <a:t>Enhancements</a:t>
            </a:r>
          </a:p>
        </p:txBody>
      </p:sp>
      <p:sp>
        <p:nvSpPr>
          <p:cNvPr id="3" name="object 3"/>
          <p:cNvSpPr txBox="1"/>
          <p:nvPr/>
        </p:nvSpPr>
        <p:spPr>
          <a:xfrm>
            <a:off x="387197" y="1545463"/>
            <a:ext cx="9921875" cy="4444807"/>
          </a:xfrm>
          <a:prstGeom prst="rect">
            <a:avLst/>
          </a:prstGeom>
        </p:spPr>
        <p:txBody>
          <a:bodyPr vert="horz" wrap="square" lIns="0" tIns="12700" rIns="0" bIns="0" rtlCol="0">
            <a:spAutoFit/>
          </a:bodyPr>
          <a:lstStyle/>
          <a:p>
            <a:pPr algn="just"/>
            <a:r>
              <a:rPr lang="en-US" sz="2400" b="1" dirty="0">
                <a:latin typeface="Times New Roman" panose="02020603050405020304" pitchFamily="18" charset="0"/>
                <a:cs typeface="Times New Roman" panose="02020603050405020304" pitchFamily="18" charset="0"/>
              </a:rPr>
              <a:t>1. Seamless ERP &amp; Cloud Ecosystem Integration:</a:t>
            </a:r>
            <a:r>
              <a:rPr lang="en-US" sz="2400" dirty="0">
                <a:latin typeface="Times New Roman" panose="02020603050405020304" pitchFamily="18" charset="0"/>
                <a:cs typeface="Times New Roman" panose="02020603050405020304" pitchFamily="18" charset="0"/>
              </a:rPr>
              <a:t> We aim to develop pre-built integration modules for global ERP platforms such as </a:t>
            </a:r>
            <a:r>
              <a:rPr lang="en-US" sz="2400" b="1" dirty="0">
                <a:latin typeface="Times New Roman" panose="02020603050405020304" pitchFamily="18" charset="0"/>
                <a:cs typeface="Times New Roman" panose="02020603050405020304" pitchFamily="18" charset="0"/>
              </a:rPr>
              <a:t>SAP S/4HANA, Oracle NetSuite, and Microsoft Dynamics 365</a:t>
            </a:r>
            <a:r>
              <a:rPr lang="en-US" sz="2400" dirty="0">
                <a:latin typeface="Times New Roman" panose="02020603050405020304" pitchFamily="18" charset="0"/>
                <a:cs typeface="Times New Roman" panose="02020603050405020304" pitchFamily="18" charset="0"/>
              </a:rPr>
              <a:t>. This would allow extracted financial data to flow directly into corporate accounting systems, tax filing portals, and supply chain management dashboards without any human intervention.</a:t>
            </a:r>
          </a:p>
          <a:p>
            <a:pPr algn="just"/>
            <a:r>
              <a:rPr lang="en-US" sz="2400" b="1" dirty="0">
                <a:latin typeface="Times New Roman" panose="02020603050405020304" pitchFamily="18" charset="0"/>
                <a:cs typeface="Times New Roman" panose="02020603050405020304" pitchFamily="18" charset="0"/>
              </a:rPr>
              <a:t>2. AI-Driven Fraud Detection &amp; Signature Verification:</a:t>
            </a:r>
            <a:r>
              <a:rPr lang="en-US" sz="2400" dirty="0">
                <a:latin typeface="Times New Roman" panose="02020603050405020304" pitchFamily="18" charset="0"/>
                <a:cs typeface="Times New Roman" panose="02020603050405020304" pitchFamily="18" charset="0"/>
              </a:rPr>
              <a:t> Future iterations will include a comprehensive forensic analysis layer. This module will use secondary neural networks to detect </a:t>
            </a:r>
            <a:r>
              <a:rPr lang="en-US" sz="2400" b="1" dirty="0">
                <a:latin typeface="Times New Roman" panose="02020603050405020304" pitchFamily="18" charset="0"/>
                <a:cs typeface="Times New Roman" panose="02020603050405020304" pitchFamily="18" charset="0"/>
              </a:rPr>
              <a:t>digital tampering</a:t>
            </a:r>
            <a:r>
              <a:rPr lang="en-US" sz="2400" dirty="0">
                <a:latin typeface="Times New Roman" panose="02020603050405020304" pitchFamily="18" charset="0"/>
                <a:cs typeface="Times New Roman" panose="02020603050405020304" pitchFamily="18" charset="0"/>
              </a:rPr>
              <a:t>, check for inconsistent fonts, and perform </a:t>
            </a:r>
            <a:r>
              <a:rPr lang="en-US" sz="2400" b="1" dirty="0">
                <a:latin typeface="Times New Roman" panose="02020603050405020304" pitchFamily="18" charset="0"/>
                <a:cs typeface="Times New Roman" panose="02020603050405020304" pitchFamily="18" charset="0"/>
              </a:rPr>
              <a:t>automated signature verification</a:t>
            </a:r>
            <a:r>
              <a:rPr lang="en-US" sz="2400" dirty="0">
                <a:latin typeface="Times New Roman" panose="02020603050405020304" pitchFamily="18" charset="0"/>
                <a:cs typeface="Times New Roman" panose="02020603050405020304" pitchFamily="18" charset="0"/>
              </a:rPr>
              <a:t> against a secure database of authorized signers, adding a layer of security for high-value transactions.</a:t>
            </a:r>
          </a:p>
          <a:p>
            <a:pPr algn="just"/>
            <a:r>
              <a:rPr lang="en-US" sz="24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60AB1-96DA-5B20-C17D-D0ABD9F8DED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58472B3-561A-28EC-6D36-C8CAB036EF83}"/>
              </a:ext>
            </a:extLst>
          </p:cNvPr>
          <p:cNvSpPr txBox="1">
            <a:spLocks noGrp="1"/>
          </p:cNvSpPr>
          <p:nvPr>
            <p:ph type="title"/>
          </p:nvPr>
        </p:nvSpPr>
        <p:spPr>
          <a:prstGeom prst="rect">
            <a:avLst/>
          </a:prstGeom>
        </p:spPr>
        <p:txBody>
          <a:bodyPr vert="horz" wrap="square" lIns="0" tIns="104139" rIns="0" bIns="0" rtlCol="0">
            <a:spAutoFit/>
          </a:bodyPr>
          <a:lstStyle/>
          <a:p>
            <a:pPr marL="12700">
              <a:lnSpc>
                <a:spcPct val="100000"/>
              </a:lnSpc>
              <a:spcBef>
                <a:spcPts val="100"/>
              </a:spcBef>
            </a:pPr>
            <a:r>
              <a:rPr spc="-10" dirty="0"/>
              <a:t>Future</a:t>
            </a:r>
            <a:r>
              <a:rPr spc="-145" dirty="0"/>
              <a:t> </a:t>
            </a:r>
            <a:r>
              <a:rPr spc="-10" dirty="0"/>
              <a:t>Enhancements</a:t>
            </a:r>
          </a:p>
        </p:txBody>
      </p:sp>
      <p:sp>
        <p:nvSpPr>
          <p:cNvPr id="3" name="object 3">
            <a:extLst>
              <a:ext uri="{FF2B5EF4-FFF2-40B4-BE49-F238E27FC236}">
                <a16:creationId xmlns:a16="http://schemas.microsoft.com/office/drawing/2014/main" id="{D3C9B22F-FC08-DC4A-4B0D-8D6BEE11E210}"/>
              </a:ext>
            </a:extLst>
          </p:cNvPr>
          <p:cNvSpPr txBox="1"/>
          <p:nvPr/>
        </p:nvSpPr>
        <p:spPr>
          <a:xfrm>
            <a:off x="387197" y="1545463"/>
            <a:ext cx="9921875" cy="3706143"/>
          </a:xfrm>
          <a:prstGeom prst="rect">
            <a:avLst/>
          </a:prstGeom>
        </p:spPr>
        <p:txBody>
          <a:bodyPr vert="horz" wrap="square" lIns="0" tIns="12700" rIns="0" bIns="0" rtlCol="0">
            <a:spAutoFit/>
          </a:bodyPr>
          <a:lstStyle/>
          <a:p>
            <a:pPr algn="just"/>
            <a:r>
              <a:rPr lang="en-US" sz="2400" b="1" dirty="0">
                <a:latin typeface="Times New Roman" panose="02020603050405020304" pitchFamily="18" charset="0"/>
                <a:cs typeface="Times New Roman" panose="02020603050405020304" pitchFamily="18" charset="0"/>
              </a:rPr>
              <a:t>3. Large-Scale Batch Processing &amp; API Marketplace:</a:t>
            </a:r>
            <a:r>
              <a:rPr lang="en-US" sz="2400" dirty="0">
                <a:latin typeface="Times New Roman" panose="02020603050405020304" pitchFamily="18" charset="0"/>
                <a:cs typeface="Times New Roman" panose="02020603050405020304" pitchFamily="18" charset="0"/>
              </a:rPr>
              <a:t> To support enterprise-level workloads, we plan to implement a high-concurrency batch processing engine. This would allow for the simultaneous extraction of thousands of multi-page PDF documents and images, eventually offering this as an </a:t>
            </a:r>
            <a:r>
              <a:rPr lang="en-US" sz="2400" b="1" dirty="0">
                <a:latin typeface="Times New Roman" panose="02020603050405020304" pitchFamily="18" charset="0"/>
                <a:cs typeface="Times New Roman" panose="02020603050405020304" pitchFamily="18" charset="0"/>
              </a:rPr>
              <a:t>AI-as-a-Service (</a:t>
            </a:r>
            <a:r>
              <a:rPr lang="en-US" sz="2400" b="1" dirty="0" err="1">
                <a:latin typeface="Times New Roman" panose="02020603050405020304" pitchFamily="18" charset="0"/>
                <a:cs typeface="Times New Roman" panose="02020603050405020304" pitchFamily="18" charset="0"/>
              </a:rPr>
              <a:t>AIaaS</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platform for third-party developers.</a:t>
            </a:r>
          </a:p>
          <a:p>
            <a:pPr algn="just"/>
            <a:r>
              <a:rPr lang="en-US" sz="2400" b="1" dirty="0">
                <a:latin typeface="Times New Roman" panose="02020603050405020304" pitchFamily="18" charset="0"/>
                <a:cs typeface="Times New Roman" panose="02020603050405020304" pitchFamily="18" charset="0"/>
              </a:rPr>
              <a:t>4. Continuous Learning &amp; Self-Correction Feedback Loop:</a:t>
            </a:r>
            <a:r>
              <a:rPr lang="en-US" sz="2400" dirty="0">
                <a:latin typeface="Times New Roman" panose="02020603050405020304" pitchFamily="18" charset="0"/>
                <a:cs typeface="Times New Roman" panose="02020603050405020304" pitchFamily="18" charset="0"/>
              </a:rPr>
              <a:t> By implementing a </a:t>
            </a:r>
            <a:r>
              <a:rPr lang="en-US" sz="2400" b="1" dirty="0">
                <a:latin typeface="Times New Roman" panose="02020603050405020304" pitchFamily="18" charset="0"/>
                <a:cs typeface="Times New Roman" panose="02020603050405020304" pitchFamily="18" charset="0"/>
              </a:rPr>
              <a:t>Human-in-the-Loop (HITL)</a:t>
            </a:r>
            <a:r>
              <a:rPr lang="en-US" sz="2400" dirty="0">
                <a:latin typeface="Times New Roman" panose="02020603050405020304" pitchFamily="18" charset="0"/>
                <a:cs typeface="Times New Roman" panose="02020603050405020304" pitchFamily="18" charset="0"/>
              </a:rPr>
              <a:t> feedback system, the AI can learn from manual corrections. Every time a user corrects a minor extraction error, the system will store that data to periodically fine-tune the model, progressively increasing its accuracy for unique, customer-specific invoice formats.</a:t>
            </a:r>
          </a:p>
        </p:txBody>
      </p:sp>
    </p:spTree>
    <p:extLst>
      <p:ext uri="{BB962C8B-B14F-4D97-AF65-F5344CB8AC3E}">
        <p14:creationId xmlns:p14="http://schemas.microsoft.com/office/powerpoint/2010/main" val="17947920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8163" y="773684"/>
            <a:ext cx="1831975" cy="482600"/>
          </a:xfrm>
          <a:prstGeom prst="rect">
            <a:avLst/>
          </a:prstGeom>
        </p:spPr>
        <p:txBody>
          <a:bodyPr vert="horz" wrap="square" lIns="0" tIns="12700" rIns="0" bIns="0" rtlCol="0">
            <a:spAutoFit/>
          </a:bodyPr>
          <a:lstStyle/>
          <a:p>
            <a:pPr marL="12700">
              <a:lnSpc>
                <a:spcPct val="100000"/>
              </a:lnSpc>
              <a:spcBef>
                <a:spcPts val="100"/>
              </a:spcBef>
            </a:pPr>
            <a:r>
              <a:rPr spc="-10" dirty="0"/>
              <a:t>Conclusion</a:t>
            </a:r>
          </a:p>
        </p:txBody>
      </p:sp>
      <p:sp>
        <p:nvSpPr>
          <p:cNvPr id="3" name="object 3"/>
          <p:cNvSpPr txBox="1"/>
          <p:nvPr/>
        </p:nvSpPr>
        <p:spPr>
          <a:xfrm>
            <a:off x="387197" y="1726819"/>
            <a:ext cx="9924415" cy="3336811"/>
          </a:xfrm>
          <a:prstGeom prst="rect">
            <a:avLst/>
          </a:prstGeom>
        </p:spPr>
        <p:txBody>
          <a:bodyPr vert="horz" wrap="square" lIns="0" tIns="12700" rIns="0" bIns="0" rtlCol="0">
            <a:spAutoFit/>
          </a:bodyPr>
          <a:lstStyle/>
          <a:p>
            <a:pPr marL="12700" marR="5080" algn="just">
              <a:lnSpc>
                <a:spcPct val="100000"/>
              </a:lnSpc>
              <a:spcBef>
                <a:spcPts val="100"/>
              </a:spcBef>
            </a:pPr>
            <a:r>
              <a:rPr lang="en-US" sz="2400" dirty="0">
                <a:latin typeface="Times New Roman" panose="02020603050405020304" pitchFamily="18" charset="0"/>
                <a:cs typeface="Times New Roman" panose="02020603050405020304" pitchFamily="18" charset="0"/>
              </a:rPr>
              <a:t>In conclusion, this project successfully demonstrates a robust and scalable method for automating financial document processing using modern Vision-Language Models. By overcoming local hardware limitations through distributed offloading and implementing advanced pre-processing algorithms, we have created a system that is both highly accurate and adaptable to various invoice formats and languages. This solution significantly reduces the need for manual data entry and provides a foundation for seamless integration into larger enterprise ERP ecosystems, ultimately improving the speed and reliability of financial data management.</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756463"/>
            <a:ext cx="10680064" cy="6053813"/>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0" dirty="0"/>
              <a:t>References</a:t>
            </a:r>
          </a:p>
        </p:txBody>
      </p:sp>
      <p:sp>
        <p:nvSpPr>
          <p:cNvPr id="4" name="object 4"/>
          <p:cNvSpPr txBox="1"/>
          <p:nvPr/>
        </p:nvSpPr>
        <p:spPr>
          <a:xfrm>
            <a:off x="474065" y="1339850"/>
            <a:ext cx="9747250" cy="4075475"/>
          </a:xfrm>
          <a:prstGeom prst="rect">
            <a:avLst/>
          </a:prstGeom>
        </p:spPr>
        <p:txBody>
          <a:bodyPr vert="horz" wrap="square" lIns="0" tIns="12700" rIns="0" bIns="0" rtlCol="0">
            <a:spAutoFit/>
          </a:bodyPr>
          <a:lstStyle/>
          <a:p>
            <a:pPr algn="just"/>
            <a:r>
              <a:rPr lang="en-IN" sz="2400" b="1" dirty="0">
                <a:latin typeface="Times New Roman" panose="02020603050405020304" pitchFamily="18" charset="0"/>
                <a:cs typeface="Times New Roman" panose="02020603050405020304" pitchFamily="18" charset="0"/>
              </a:rPr>
              <a:t>1. Huang, Y., et al. (2022).</a:t>
            </a:r>
            <a:r>
              <a:rPr lang="en-IN" sz="2400" dirty="0">
                <a:latin typeface="Times New Roman" panose="02020603050405020304" pitchFamily="18" charset="0"/>
                <a:cs typeface="Times New Roman" panose="02020603050405020304" pitchFamily="18" charset="0"/>
              </a:rPr>
              <a:t> "LayoutLMv3: Pre-training for Document AI with Unified Text and Image Masking." </a:t>
            </a:r>
            <a:r>
              <a:rPr lang="en-IN" sz="2400" i="1" dirty="0">
                <a:latin typeface="Times New Roman" panose="02020603050405020304" pitchFamily="18" charset="0"/>
                <a:cs typeface="Times New Roman" panose="02020603050405020304" pitchFamily="18" charset="0"/>
              </a:rPr>
              <a:t>Proceedings of the 30th ACM International Conference on Multimedia.</a:t>
            </a: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2. Bai, J., et al. (2024).</a:t>
            </a:r>
            <a:r>
              <a:rPr lang="en-IN" sz="2400" dirty="0">
                <a:latin typeface="Times New Roman" panose="02020603050405020304" pitchFamily="18" charset="0"/>
                <a:cs typeface="Times New Roman" panose="02020603050405020304" pitchFamily="18" charset="0"/>
              </a:rPr>
              <a:t> "Qwen2-VL: Enhancing Vision-Language Models' Understanding of the World at Different Resolutions." </a:t>
            </a:r>
            <a:r>
              <a:rPr lang="en-IN" sz="2400" i="1" dirty="0" err="1">
                <a:latin typeface="Times New Roman" panose="02020603050405020304" pitchFamily="18" charset="0"/>
                <a:cs typeface="Times New Roman" panose="02020603050405020304" pitchFamily="18" charset="0"/>
              </a:rPr>
              <a:t>arXiv</a:t>
            </a:r>
            <a:r>
              <a:rPr lang="en-IN" sz="2400" i="1" dirty="0">
                <a:latin typeface="Times New Roman" panose="02020603050405020304" pitchFamily="18" charset="0"/>
                <a:cs typeface="Times New Roman" panose="02020603050405020304" pitchFamily="18" charset="0"/>
              </a:rPr>
              <a:t> preprint arXiv:2409.12191.</a:t>
            </a: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3. Du, Y., et al. (2020).</a:t>
            </a:r>
            <a:r>
              <a:rPr lang="en-IN" sz="2400" dirty="0">
                <a:latin typeface="Times New Roman" panose="02020603050405020304" pitchFamily="18" charset="0"/>
                <a:cs typeface="Times New Roman" panose="02020603050405020304" pitchFamily="18" charset="0"/>
              </a:rPr>
              <a:t> "PP-OCR: A Practical Ultra Lightweight OCR System." </a:t>
            </a:r>
            <a:r>
              <a:rPr lang="en-IN" sz="2400" i="1" dirty="0" err="1">
                <a:latin typeface="Times New Roman" panose="02020603050405020304" pitchFamily="18" charset="0"/>
                <a:cs typeface="Times New Roman" panose="02020603050405020304" pitchFamily="18" charset="0"/>
              </a:rPr>
              <a:t>arXiv</a:t>
            </a:r>
            <a:r>
              <a:rPr lang="en-IN" sz="2400" i="1" dirty="0">
                <a:latin typeface="Times New Roman" panose="02020603050405020304" pitchFamily="18" charset="0"/>
                <a:cs typeface="Times New Roman" panose="02020603050405020304" pitchFamily="18" charset="0"/>
              </a:rPr>
              <a:t> preprint arXiv:2009.09941.</a:t>
            </a: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4. Multimodal &amp; Transformer Architecture</a:t>
            </a:r>
            <a:r>
              <a:rPr lang="en-IN" sz="2400" dirty="0">
                <a:latin typeface="Times New Roman" panose="02020603050405020304" pitchFamily="18" charset="0"/>
                <a:cs typeface="Times New Roman" panose="02020603050405020304" pitchFamily="18" charset="0"/>
              </a:rPr>
              <a:t> 4. </a:t>
            </a:r>
            <a:r>
              <a:rPr lang="en-IN" sz="2400" b="1" dirty="0">
                <a:latin typeface="Times New Roman" panose="02020603050405020304" pitchFamily="18" charset="0"/>
                <a:cs typeface="Times New Roman" panose="02020603050405020304" pitchFamily="18" charset="0"/>
              </a:rPr>
              <a:t>Vaswani, A., et al. (2017).</a:t>
            </a:r>
            <a:r>
              <a:rPr lang="en-IN" sz="2400" dirty="0">
                <a:latin typeface="Times New Roman" panose="02020603050405020304" pitchFamily="18" charset="0"/>
                <a:cs typeface="Times New Roman" panose="02020603050405020304" pitchFamily="18" charset="0"/>
              </a:rPr>
              <a:t> "Attention is All You Need." </a:t>
            </a:r>
            <a:r>
              <a:rPr lang="en-IN" sz="2400" i="1" dirty="0">
                <a:latin typeface="Times New Roman" panose="02020603050405020304" pitchFamily="18" charset="0"/>
                <a:cs typeface="Times New Roman" panose="02020603050405020304" pitchFamily="18" charset="0"/>
              </a:rPr>
              <a:t>Advances in Neural Information Processing Systems (</a:t>
            </a:r>
            <a:r>
              <a:rPr lang="en-IN" sz="2400" i="1" dirty="0" err="1">
                <a:latin typeface="Times New Roman" panose="02020603050405020304" pitchFamily="18" charset="0"/>
                <a:cs typeface="Times New Roman" panose="02020603050405020304" pitchFamily="18" charset="0"/>
              </a:rPr>
              <a:t>NeurIPS</a:t>
            </a:r>
            <a:r>
              <a:rPr lang="en-IN" sz="2400" i="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756463"/>
            <a:ext cx="10680064" cy="6053813"/>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0" dirty="0"/>
              <a:t>References</a:t>
            </a:r>
          </a:p>
        </p:txBody>
      </p:sp>
      <p:sp>
        <p:nvSpPr>
          <p:cNvPr id="4" name="object 4"/>
          <p:cNvSpPr txBox="1"/>
          <p:nvPr/>
        </p:nvSpPr>
        <p:spPr>
          <a:xfrm>
            <a:off x="463702" y="1481455"/>
            <a:ext cx="9743440" cy="3739485"/>
          </a:xfrm>
          <a:prstGeom prst="rect">
            <a:avLst/>
          </a:prstGeom>
        </p:spPr>
        <p:txBody>
          <a:bodyPr vert="horz" wrap="square" lIns="0" tIns="45720" rIns="0" bIns="0" rtlCol="0">
            <a:spAutoFit/>
          </a:bodyPr>
          <a:lstStyle/>
          <a:p>
            <a:pPr algn="just"/>
            <a:r>
              <a:rPr lang="en-IN" sz="2400" dirty="0">
                <a:latin typeface="Times New Roman" panose="02020603050405020304" pitchFamily="18" charset="0"/>
                <a:cs typeface="Times New Roman" panose="02020603050405020304" pitchFamily="18" charset="0"/>
              </a:rPr>
              <a:t>5. </a:t>
            </a:r>
            <a:r>
              <a:rPr lang="en-IN" sz="2400" b="1" dirty="0">
                <a:latin typeface="Times New Roman" panose="02020603050405020304" pitchFamily="18" charset="0"/>
                <a:cs typeface="Times New Roman" panose="02020603050405020304" pitchFamily="18" charset="0"/>
              </a:rPr>
              <a:t>Dosovitskiy, A., et al. (2020).</a:t>
            </a:r>
            <a:r>
              <a:rPr lang="en-IN" sz="2400" dirty="0">
                <a:latin typeface="Times New Roman" panose="02020603050405020304" pitchFamily="18" charset="0"/>
                <a:cs typeface="Times New Roman" panose="02020603050405020304" pitchFamily="18" charset="0"/>
              </a:rPr>
              <a:t> "An Image is Worth 16x16 Words: Transformers for Image Recognition at Scale." </a:t>
            </a:r>
            <a:r>
              <a:rPr lang="en-IN" sz="2400" i="1" dirty="0">
                <a:latin typeface="Times New Roman" panose="02020603050405020304" pitchFamily="18" charset="0"/>
                <a:cs typeface="Times New Roman" panose="02020603050405020304" pitchFamily="18" charset="0"/>
              </a:rPr>
              <a:t>International Conference on Learning Representations (ICLR).</a:t>
            </a:r>
            <a:r>
              <a:rPr lang="en-IN" sz="2400" dirty="0">
                <a:latin typeface="Times New Roman" panose="02020603050405020304" pitchFamily="18" charset="0"/>
                <a:cs typeface="Times New Roman" panose="02020603050405020304" pitchFamily="18" charset="0"/>
              </a:rPr>
              <a:t> </a:t>
            </a:r>
          </a:p>
          <a:p>
            <a:pPr algn="just"/>
            <a:r>
              <a:rPr lang="en-IN" sz="2400" dirty="0">
                <a:latin typeface="Times New Roman" panose="02020603050405020304" pitchFamily="18" charset="0"/>
                <a:cs typeface="Times New Roman" panose="02020603050405020304" pitchFamily="18" charset="0"/>
              </a:rPr>
              <a:t> 6. </a:t>
            </a:r>
            <a:r>
              <a:rPr lang="en-IN" sz="2400" b="1" dirty="0">
                <a:latin typeface="Times New Roman" panose="02020603050405020304" pitchFamily="18" charset="0"/>
                <a:cs typeface="Times New Roman" panose="02020603050405020304" pitchFamily="18" charset="0"/>
              </a:rPr>
              <a:t>Hu, S., et al. (2024).</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MiniCPM</a:t>
            </a:r>
            <a:r>
              <a:rPr lang="en-IN" sz="2400" dirty="0">
                <a:latin typeface="Times New Roman" panose="02020603050405020304" pitchFamily="18" charset="0"/>
                <a:cs typeface="Times New Roman" panose="02020603050405020304" pitchFamily="18" charset="0"/>
              </a:rPr>
              <a:t>-V: A GPT-4V Level Multimodal LLM on Your Phone." </a:t>
            </a:r>
            <a:r>
              <a:rPr lang="en-IN" sz="2400" i="1" dirty="0" err="1">
                <a:latin typeface="Times New Roman" panose="02020603050405020304" pitchFamily="18" charset="0"/>
                <a:cs typeface="Times New Roman" panose="02020603050405020304" pitchFamily="18" charset="0"/>
              </a:rPr>
              <a:t>OpenBMB</a:t>
            </a:r>
            <a:r>
              <a:rPr lang="en-IN" sz="2400" i="1" dirty="0">
                <a:latin typeface="Times New Roman" panose="02020603050405020304" pitchFamily="18" charset="0"/>
                <a:cs typeface="Times New Roman" panose="02020603050405020304" pitchFamily="18" charset="0"/>
              </a:rPr>
              <a:t> Research.</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7. </a:t>
            </a:r>
            <a:r>
              <a:rPr lang="en-IN" sz="2400" b="1" dirty="0">
                <a:latin typeface="Times New Roman" panose="02020603050405020304" pitchFamily="18" charset="0"/>
                <a:cs typeface="Times New Roman" panose="02020603050405020304" pitchFamily="18" charset="0"/>
              </a:rPr>
              <a:t>Pizer, S. M., et al. (1987).</a:t>
            </a:r>
            <a:r>
              <a:rPr lang="en-IN" sz="2400" dirty="0">
                <a:latin typeface="Times New Roman" panose="02020603050405020304" pitchFamily="18" charset="0"/>
                <a:cs typeface="Times New Roman" panose="02020603050405020304" pitchFamily="18" charset="0"/>
              </a:rPr>
              <a:t> "Adaptive Histogram Equalization and Its Variations." </a:t>
            </a:r>
            <a:r>
              <a:rPr lang="en-IN" sz="2400" i="1" dirty="0">
                <a:latin typeface="Times New Roman" panose="02020603050405020304" pitchFamily="18" charset="0"/>
                <a:cs typeface="Times New Roman" panose="02020603050405020304" pitchFamily="18" charset="0"/>
              </a:rPr>
              <a:t>Computer Vision, Graphics, and Image Processing.</a:t>
            </a:r>
            <a:r>
              <a:rPr lang="en-IN" sz="2400" dirty="0">
                <a:latin typeface="Times New Roman" panose="02020603050405020304" pitchFamily="18" charset="0"/>
                <a:cs typeface="Times New Roman" panose="02020603050405020304" pitchFamily="18" charset="0"/>
              </a:rPr>
              <a:t> (Reference for CLAHE). </a:t>
            </a:r>
          </a:p>
          <a:p>
            <a:pPr algn="just"/>
            <a:r>
              <a:rPr lang="en-IN" sz="2400" dirty="0">
                <a:latin typeface="Times New Roman" panose="02020603050405020304" pitchFamily="18" charset="0"/>
                <a:cs typeface="Times New Roman" panose="02020603050405020304" pitchFamily="18" charset="0"/>
              </a:rPr>
              <a:t>8. </a:t>
            </a:r>
            <a:r>
              <a:rPr lang="en-IN" sz="2400" b="1" dirty="0" err="1">
                <a:latin typeface="Times New Roman" panose="02020603050405020304" pitchFamily="18" charset="0"/>
                <a:cs typeface="Times New Roman" panose="02020603050405020304" pitchFamily="18" charset="0"/>
              </a:rPr>
              <a:t>Reisswig</a:t>
            </a:r>
            <a:r>
              <a:rPr lang="en-IN" sz="2400" b="1" dirty="0">
                <a:latin typeface="Times New Roman" panose="02020603050405020304" pitchFamily="18" charset="0"/>
                <a:cs typeface="Times New Roman" panose="02020603050405020304" pitchFamily="18" charset="0"/>
              </a:rPr>
              <a:t>, C. (2021).</a:t>
            </a:r>
            <a:r>
              <a:rPr lang="en-IN" sz="2400" dirty="0">
                <a:latin typeface="Times New Roman" panose="02020603050405020304" pitchFamily="18" charset="0"/>
                <a:cs typeface="Times New Roman" panose="02020603050405020304" pitchFamily="18" charset="0"/>
              </a:rPr>
              <a:t> "Distributed Inference for Large Language Models." </a:t>
            </a:r>
            <a:r>
              <a:rPr lang="en-IN" sz="2400" i="1" dirty="0">
                <a:latin typeface="Times New Roman" panose="02020603050405020304" pitchFamily="18" charset="0"/>
                <a:cs typeface="Times New Roman" panose="02020603050405020304" pitchFamily="18" charset="0"/>
              </a:rPr>
              <a:t>Journal of Machine Learning Systems.</a:t>
            </a:r>
            <a:r>
              <a:rPr lang="en-IN" sz="24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2E3F951-BA02-9FAB-F97C-3A2681CE3147}"/>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669FC4A1-E02F-A8AE-0CEA-E9B44B55B7B7}"/>
              </a:ext>
            </a:extLst>
          </p:cNvPr>
          <p:cNvPicPr/>
          <p:nvPr/>
        </p:nvPicPr>
        <p:blipFill>
          <a:blip r:embed="rId2" cstate="print"/>
          <a:stretch>
            <a:fillRect/>
          </a:stretch>
        </p:blipFill>
        <p:spPr>
          <a:xfrm>
            <a:off x="0" y="756463"/>
            <a:ext cx="10680064" cy="6053813"/>
          </a:xfrm>
          <a:prstGeom prst="rect">
            <a:avLst/>
          </a:prstGeom>
        </p:spPr>
      </p:pic>
      <p:sp>
        <p:nvSpPr>
          <p:cNvPr id="3" name="object 3">
            <a:extLst>
              <a:ext uri="{FF2B5EF4-FFF2-40B4-BE49-F238E27FC236}">
                <a16:creationId xmlns:a16="http://schemas.microsoft.com/office/drawing/2014/main" id="{B140D52D-07A4-20EC-98FC-D6E4ED8849BE}"/>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0" dirty="0"/>
              <a:t>References</a:t>
            </a:r>
          </a:p>
        </p:txBody>
      </p:sp>
      <p:sp>
        <p:nvSpPr>
          <p:cNvPr id="4" name="object 4">
            <a:extLst>
              <a:ext uri="{FF2B5EF4-FFF2-40B4-BE49-F238E27FC236}">
                <a16:creationId xmlns:a16="http://schemas.microsoft.com/office/drawing/2014/main" id="{2DDE90E3-8CF2-3EEB-62A1-AB81805F7B5A}"/>
              </a:ext>
            </a:extLst>
          </p:cNvPr>
          <p:cNvSpPr txBox="1"/>
          <p:nvPr/>
        </p:nvSpPr>
        <p:spPr>
          <a:xfrm>
            <a:off x="463702" y="1481455"/>
            <a:ext cx="9743440" cy="3370153"/>
          </a:xfrm>
          <a:prstGeom prst="rect">
            <a:avLst/>
          </a:prstGeom>
        </p:spPr>
        <p:txBody>
          <a:bodyPr vert="horz" wrap="square" lIns="0" tIns="45720" rIns="0" bIns="0" rtlCol="0">
            <a:spAutoFit/>
          </a:bodyPr>
          <a:lstStyle/>
          <a:p>
            <a:pPr algn="just"/>
            <a:r>
              <a:rPr lang="en-IN" sz="2400" dirty="0">
                <a:latin typeface="Times New Roman" panose="02020603050405020304" pitchFamily="18" charset="0"/>
                <a:cs typeface="Times New Roman" panose="02020603050405020304" pitchFamily="18" charset="0"/>
              </a:rPr>
              <a:t>9. </a:t>
            </a:r>
            <a:r>
              <a:rPr lang="en-IN" sz="2400" b="1" dirty="0">
                <a:latin typeface="Times New Roman" panose="02020603050405020304" pitchFamily="18" charset="0"/>
                <a:cs typeface="Times New Roman" panose="02020603050405020304" pitchFamily="18" charset="0"/>
              </a:rPr>
              <a:t>VanderPlas, J. (2016).</a:t>
            </a:r>
            <a:r>
              <a:rPr lang="en-IN" sz="2400" dirty="0">
                <a:latin typeface="Times New Roman" panose="02020603050405020304" pitchFamily="18" charset="0"/>
                <a:cs typeface="Times New Roman" panose="02020603050405020304" pitchFamily="18" charset="0"/>
              </a:rPr>
              <a:t> "Python Data Science Handbook: Essential Tools for Working with Data." </a:t>
            </a:r>
            <a:r>
              <a:rPr lang="en-IN" sz="2400" i="1" dirty="0">
                <a:latin typeface="Times New Roman" panose="02020603050405020304" pitchFamily="18" charset="0"/>
                <a:cs typeface="Times New Roman" panose="02020603050405020304" pitchFamily="18" charset="0"/>
              </a:rPr>
              <a:t>O'Reilly Media.</a:t>
            </a: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Technical Frameworks &amp; Documentation</a:t>
            </a:r>
            <a:r>
              <a:rPr lang="en-IN" sz="2400" dirty="0">
                <a:latin typeface="Times New Roman" panose="02020603050405020304" pitchFamily="18" charset="0"/>
                <a:cs typeface="Times New Roman" panose="02020603050405020304" pitchFamily="18" charset="0"/>
              </a:rPr>
              <a:t> </a:t>
            </a:r>
          </a:p>
          <a:p>
            <a:pPr algn="just"/>
            <a:r>
              <a:rPr lang="en-IN" sz="2400" dirty="0">
                <a:latin typeface="Times New Roman" panose="02020603050405020304" pitchFamily="18" charset="0"/>
                <a:cs typeface="Times New Roman" panose="02020603050405020304" pitchFamily="18" charset="0"/>
              </a:rPr>
              <a:t>10. </a:t>
            </a:r>
            <a:r>
              <a:rPr lang="en-IN" sz="2400" b="1" dirty="0" err="1">
                <a:latin typeface="Times New Roman" panose="02020603050405020304" pitchFamily="18" charset="0"/>
                <a:cs typeface="Times New Roman" panose="02020603050405020304" pitchFamily="18" charset="0"/>
              </a:rPr>
              <a:t>FastAPI</a:t>
            </a:r>
            <a:r>
              <a:rPr lang="en-IN" sz="2400" b="1" dirty="0">
                <a:latin typeface="Times New Roman" panose="02020603050405020304" pitchFamily="18" charset="0"/>
                <a:cs typeface="Times New Roman" panose="02020603050405020304" pitchFamily="18" charset="0"/>
              </a:rPr>
              <a:t> Documentation.</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FastAPI</a:t>
            </a:r>
            <a:r>
              <a:rPr lang="en-IN" sz="2400" dirty="0">
                <a:latin typeface="Times New Roman" panose="02020603050405020304" pitchFamily="18" charset="0"/>
                <a:cs typeface="Times New Roman" panose="02020603050405020304" pitchFamily="18" charset="0"/>
              </a:rPr>
              <a:t>: A modern, fast (high-performance), web framework for building APIs with Python." </a:t>
            </a:r>
            <a:r>
              <a:rPr lang="en-IN" sz="2400" dirty="0">
                <a:latin typeface="Times New Roman" panose="02020603050405020304" pitchFamily="18" charset="0"/>
                <a:cs typeface="Times New Roman" panose="02020603050405020304" pitchFamily="18" charset="0"/>
                <a:hlinkClick r:id="rId3"/>
              </a:rPr>
              <a:t>https://fastapi.tiangolo.com/</a:t>
            </a:r>
            <a:r>
              <a:rPr lang="en-IN" sz="2400" dirty="0">
                <a:latin typeface="Times New Roman" panose="02020603050405020304" pitchFamily="18" charset="0"/>
                <a:cs typeface="Times New Roman" panose="02020603050405020304" pitchFamily="18" charset="0"/>
              </a:rPr>
              <a:t> </a:t>
            </a:r>
          </a:p>
          <a:p>
            <a:pPr algn="just"/>
            <a:r>
              <a:rPr lang="en-IN" sz="2400" dirty="0">
                <a:latin typeface="Times New Roman" panose="02020603050405020304" pitchFamily="18" charset="0"/>
                <a:cs typeface="Times New Roman" panose="02020603050405020304" pitchFamily="18" charset="0"/>
              </a:rPr>
              <a:t>11. </a:t>
            </a:r>
            <a:r>
              <a:rPr lang="en-IN" sz="2400" b="1" dirty="0">
                <a:latin typeface="Times New Roman" panose="02020603050405020304" pitchFamily="18" charset="0"/>
                <a:cs typeface="Times New Roman" panose="02020603050405020304" pitchFamily="18" charset="0"/>
              </a:rPr>
              <a:t>MongoDB Manual.</a:t>
            </a:r>
            <a:r>
              <a:rPr lang="en-IN" sz="2400" dirty="0">
                <a:latin typeface="Times New Roman" panose="02020603050405020304" pitchFamily="18" charset="0"/>
                <a:cs typeface="Times New Roman" panose="02020603050405020304" pitchFamily="18" charset="0"/>
              </a:rPr>
              <a:t> "NoSQL Database Management for Document-Oriented Data." </a:t>
            </a:r>
            <a:r>
              <a:rPr lang="en-IN" sz="2400" dirty="0">
                <a:latin typeface="Times New Roman" panose="02020603050405020304" pitchFamily="18" charset="0"/>
                <a:cs typeface="Times New Roman" panose="02020603050405020304" pitchFamily="18" charset="0"/>
                <a:hlinkClick r:id="rId4"/>
              </a:rPr>
              <a:t>https://www.mongodb.com/docs/</a:t>
            </a:r>
            <a:r>
              <a:rPr lang="en-IN" sz="2400" dirty="0">
                <a:latin typeface="Times New Roman" panose="02020603050405020304" pitchFamily="18" charset="0"/>
                <a:cs typeface="Times New Roman" panose="02020603050405020304" pitchFamily="18" charset="0"/>
              </a:rPr>
              <a:t> </a:t>
            </a:r>
          </a:p>
          <a:p>
            <a:pPr algn="just"/>
            <a:r>
              <a:rPr lang="en-IN" sz="2400" dirty="0">
                <a:latin typeface="Times New Roman" panose="02020603050405020304" pitchFamily="18" charset="0"/>
                <a:cs typeface="Times New Roman" panose="02020603050405020304" pitchFamily="18" charset="0"/>
              </a:rPr>
              <a:t>12. </a:t>
            </a:r>
            <a:r>
              <a:rPr lang="en-IN" sz="2400" b="1" dirty="0">
                <a:latin typeface="Times New Roman" panose="02020603050405020304" pitchFamily="18" charset="0"/>
                <a:cs typeface="Times New Roman" panose="02020603050405020304" pitchFamily="18" charset="0"/>
              </a:rPr>
              <a:t>Cloudflare Argo Tunnel Documentation.</a:t>
            </a:r>
            <a:r>
              <a:rPr lang="en-IN" sz="2400" dirty="0">
                <a:latin typeface="Times New Roman" panose="02020603050405020304" pitchFamily="18" charset="0"/>
                <a:cs typeface="Times New Roman" panose="02020603050405020304" pitchFamily="18" charset="0"/>
              </a:rPr>
              <a:t> "Secure Cloud-to-Edge Communication." </a:t>
            </a:r>
            <a:r>
              <a:rPr lang="en-IN" sz="2400" dirty="0">
                <a:latin typeface="Times New Roman" panose="02020603050405020304" pitchFamily="18" charset="0"/>
                <a:cs typeface="Times New Roman" panose="02020603050405020304" pitchFamily="18" charset="0"/>
                <a:hlinkClick r:id="rId5"/>
              </a:rPr>
              <a:t>https://developers.cloudflare.com/cloudflare-one/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45725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773735"/>
            <a:ext cx="10693400" cy="6015990"/>
            <a:chOff x="0" y="773735"/>
            <a:chExt cx="10693400" cy="6015990"/>
          </a:xfrm>
        </p:grpSpPr>
        <p:pic>
          <p:nvPicPr>
            <p:cNvPr id="3" name="object 3"/>
            <p:cNvPicPr/>
            <p:nvPr/>
          </p:nvPicPr>
          <p:blipFill>
            <a:blip r:embed="rId2" cstate="print"/>
            <a:stretch>
              <a:fillRect/>
            </a:stretch>
          </p:blipFill>
          <p:spPr>
            <a:xfrm>
              <a:off x="0" y="773735"/>
              <a:ext cx="10693399" cy="6015736"/>
            </a:xfrm>
            <a:prstGeom prst="rect">
              <a:avLst/>
            </a:prstGeom>
          </p:spPr>
        </p:pic>
        <p:pic>
          <p:nvPicPr>
            <p:cNvPr id="4" name="object 4"/>
            <p:cNvPicPr/>
            <p:nvPr/>
          </p:nvPicPr>
          <p:blipFill>
            <a:blip r:embed="rId3" cstate="print"/>
            <a:stretch>
              <a:fillRect/>
            </a:stretch>
          </p:blipFill>
          <p:spPr>
            <a:xfrm>
              <a:off x="167855" y="956754"/>
              <a:ext cx="10361930" cy="5657215"/>
            </a:xfrm>
            <a:prstGeom prst="rect">
              <a:avLst/>
            </a:prstGeom>
          </p:spPr>
        </p:pic>
      </p:grpSp>
      <p:sp>
        <p:nvSpPr>
          <p:cNvPr id="5" name="object 5"/>
          <p:cNvSpPr txBox="1">
            <a:spLocks noGrp="1"/>
          </p:cNvSpPr>
          <p:nvPr>
            <p:ph type="title"/>
          </p:nvPr>
        </p:nvSpPr>
        <p:spPr>
          <a:xfrm>
            <a:off x="3171189" y="3490087"/>
            <a:ext cx="4247515" cy="824865"/>
          </a:xfrm>
          <a:prstGeom prst="rect">
            <a:avLst/>
          </a:prstGeom>
        </p:spPr>
        <p:txBody>
          <a:bodyPr vert="horz" wrap="square" lIns="0" tIns="11430" rIns="0" bIns="0" rtlCol="0">
            <a:spAutoFit/>
          </a:bodyPr>
          <a:lstStyle/>
          <a:p>
            <a:pPr marL="12700">
              <a:lnSpc>
                <a:spcPct val="100000"/>
              </a:lnSpc>
              <a:spcBef>
                <a:spcPts val="90"/>
              </a:spcBef>
              <a:tabLst>
                <a:tab pos="2755900" algn="l"/>
              </a:tabLst>
            </a:pPr>
            <a:r>
              <a:rPr sz="5250" spc="-10" dirty="0"/>
              <a:t>THANK</a:t>
            </a:r>
            <a:r>
              <a:rPr sz="5250" dirty="0"/>
              <a:t>	</a:t>
            </a:r>
            <a:r>
              <a:rPr sz="5250" spc="-25" dirty="0"/>
              <a:t>YOU</a:t>
            </a:r>
            <a:endParaRPr sz="52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68</TotalTime>
  <Words>2379</Words>
  <Application>Microsoft Office PowerPoint</Application>
  <PresentationFormat>Custom</PresentationFormat>
  <Paragraphs>92</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Times New Roman</vt:lpstr>
      <vt:lpstr>Times New Roman Bold</vt:lpstr>
      <vt:lpstr>Office Theme</vt:lpstr>
      <vt:lpstr>PowerPoint Presentation</vt:lpstr>
      <vt:lpstr>Abstract</vt:lpstr>
      <vt:lpstr>Problem Definition</vt:lpstr>
      <vt:lpstr>Literacy Survey</vt:lpstr>
      <vt:lpstr>Literacy Survey</vt:lpstr>
      <vt:lpstr>Literacy Survey</vt:lpstr>
      <vt:lpstr>PowerPoint Presentation</vt:lpstr>
      <vt:lpstr>Proposed System</vt:lpstr>
      <vt:lpstr>System Architecture</vt:lpstr>
      <vt:lpstr> Technologies Used</vt:lpstr>
      <vt:lpstr> Technologies Used</vt:lpstr>
      <vt:lpstr>Techniques</vt:lpstr>
      <vt:lpstr>Techniques</vt:lpstr>
      <vt:lpstr>Algorithm</vt:lpstr>
      <vt:lpstr>Mechanism</vt:lpstr>
      <vt:lpstr>Modules</vt:lpstr>
      <vt:lpstr>Block Diagram</vt:lpstr>
      <vt:lpstr>UML Diagram</vt:lpstr>
      <vt:lpstr>Result / Screenshot</vt:lpstr>
      <vt:lpstr>Result / Screenshot</vt:lpstr>
      <vt:lpstr>Result / Screenshot</vt:lpstr>
      <vt:lpstr>Result / Screenshot</vt:lpstr>
      <vt:lpstr>Future Enhancements</vt:lpstr>
      <vt:lpstr>Future Enhancements</vt:lpstr>
      <vt:lpstr>Conclusion</vt:lpstr>
      <vt:lpstr>References</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SECOND REVIEW.pptx</dc:title>
  <dc:creator>Dancing wolf</dc:creator>
  <cp:lastModifiedBy>srignthgv06@gmail.com</cp:lastModifiedBy>
  <cp:revision>6</cp:revision>
  <dcterms:created xsi:type="dcterms:W3CDTF">2026-05-11T07:30:48Z</dcterms:created>
  <dcterms:modified xsi:type="dcterms:W3CDTF">2026-05-11T08:56:55Z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2026-05-10T00:00:00Z</vt:filetime>
  </property>
  <property fmtid="{D5CDD505-2E9C-101B-9397-08002B2CF9AE}" pid="3" name="Creator">
    <vt:lpwstr>Microsoft® PowerPoint® 2021</vt:lpwstr>
  </property>
  <property fmtid="{D5CDD505-2E9C-101B-9397-08002B2CF9AE}" pid="4" name="LastSaved">
    <vt:filetime>2026-05-11T00:00:00Z</vt:filetime>
  </property>
  <property fmtid="{D5CDD505-2E9C-101B-9397-08002B2CF9AE}" pid="5" name="Producer">
    <vt:lpwstr>Microsoft® PowerPoint® 2021</vt:lpwstr>
  </property>
</Properties>
</file>