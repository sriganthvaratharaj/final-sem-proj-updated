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81" y="2342515"/>
            <a:ext cx="9094788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3735"/>
            <a:ext cx="10693400" cy="60366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163" y="682244"/>
            <a:ext cx="3599815" cy="592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6996" y="1445514"/>
            <a:ext cx="9706610" cy="3775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703820" y="7027545"/>
            <a:ext cx="246094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773735"/>
            <a:ext cx="10693400" cy="6015990"/>
            <a:chOff x="0" y="773735"/>
            <a:chExt cx="10693400" cy="60159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73735"/>
              <a:ext cx="10693399" cy="601573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18" y="1062990"/>
              <a:ext cx="10358628" cy="5626735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676757" y="3385769"/>
            <a:ext cx="9338310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Long-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Sequence ECG</a:t>
            </a:r>
            <a:r>
              <a:rPr dirty="0" sz="2400" spc="-1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Arrhythmia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Mamba</a:t>
            </a:r>
            <a:endParaRPr sz="240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Linear-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Inference</a:t>
            </a:r>
            <a:r>
              <a:rPr dirty="0" sz="2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400" spc="-1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Wearable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316216" y="4442307"/>
            <a:ext cx="2126615" cy="144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Presented</a:t>
            </a:r>
            <a:r>
              <a:rPr dirty="0" sz="20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by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1.Boopathikannan</a:t>
            </a:r>
            <a:r>
              <a:rPr dirty="0" sz="2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sz="2000" spc="-55">
                <a:solidFill>
                  <a:srgbClr val="FFFFFF"/>
                </a:solidFill>
                <a:latin typeface="Times New Roman"/>
                <a:cs typeface="Times New Roman"/>
              </a:rPr>
              <a:t>2.Deenathayalan</a:t>
            </a:r>
            <a:r>
              <a:rPr dirty="0" sz="2000" spc="-50">
                <a:solidFill>
                  <a:srgbClr val="FFFFFF"/>
                </a:solidFill>
                <a:latin typeface="Times New Roman"/>
                <a:cs typeface="Times New Roman"/>
              </a:rPr>
              <a:t> P </a:t>
            </a:r>
            <a:r>
              <a:rPr dirty="0" sz="2000" spc="-45">
                <a:solidFill>
                  <a:srgbClr val="FFFFFF"/>
                </a:solidFill>
                <a:latin typeface="Times New Roman"/>
                <a:cs typeface="Times New Roman"/>
              </a:rPr>
              <a:t>3.Surendhar</a:t>
            </a:r>
            <a:r>
              <a:rPr dirty="0" sz="2000" spc="-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3464" y="4453890"/>
            <a:ext cx="231711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Under</a:t>
            </a:r>
            <a:r>
              <a:rPr dirty="0" sz="20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Guidance</a:t>
            </a:r>
            <a:r>
              <a:rPr dirty="0" sz="20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35">
                <a:solidFill>
                  <a:srgbClr val="FFFFFF"/>
                </a:solidFill>
                <a:latin typeface="Times New Roman"/>
                <a:cs typeface="Times New Roman"/>
              </a:rPr>
              <a:t>Mrs.P.Sathya,</a:t>
            </a:r>
            <a:r>
              <a:rPr dirty="0" sz="2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AP/CSE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62301" y="2783840"/>
            <a:ext cx="61925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latin typeface="Times New Roman"/>
                <a:cs typeface="Times New Roman"/>
              </a:rPr>
              <a:t>Department</a:t>
            </a:r>
            <a:r>
              <a:rPr dirty="0" sz="2400" spc="-1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of</a:t>
            </a:r>
            <a:r>
              <a:rPr dirty="0" sz="2400" spc="-2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Computer</a:t>
            </a:r>
            <a:r>
              <a:rPr dirty="0" sz="2400" spc="-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Science</a:t>
            </a:r>
            <a:r>
              <a:rPr dirty="0" sz="2400" spc="-3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and</a:t>
            </a:r>
            <a:r>
              <a:rPr dirty="0" sz="2400" spc="-10" b="0">
                <a:latin typeface="Times New Roman"/>
                <a:cs typeface="Times New Roman"/>
              </a:rPr>
              <a:t> Engineering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5777" y="1572514"/>
            <a:ext cx="9784080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Electrocardiogram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(ECG)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analysis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essential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detecting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cardiac</a:t>
            </a:r>
            <a:r>
              <a:rPr dirty="0" sz="2400" spc="-10">
                <a:latin typeface="Times New Roman"/>
                <a:cs typeface="Times New Roman"/>
              </a:rPr>
              <a:t> arrhythmias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real-</a:t>
            </a:r>
            <a:r>
              <a:rPr dirty="0" sz="2400">
                <a:latin typeface="Times New Roman"/>
                <a:cs typeface="Times New Roman"/>
              </a:rPr>
              <a:t>time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healthcare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systems.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Traditional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Transformer-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models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struggle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long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sequences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due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computational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cost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latency.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This </a:t>
            </a:r>
            <a:r>
              <a:rPr dirty="0" sz="2400">
                <a:latin typeface="Times New Roman"/>
                <a:cs typeface="Times New Roman"/>
              </a:rPr>
              <a:t>project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proposes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1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Mamba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architecture,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enables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linear-time </a:t>
            </a:r>
            <a:r>
              <a:rPr dirty="0" sz="2400">
                <a:latin typeface="Times New Roman"/>
                <a:cs typeface="Times New Roman"/>
              </a:rPr>
              <a:t>inference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efficient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long-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processing.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replacing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Transformers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Mamba,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achieves</a:t>
            </a:r>
            <a:r>
              <a:rPr dirty="0" sz="2400" spc="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faster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performance,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reduced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memory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usage,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better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scalability.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makes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highly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suitable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deployment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wearable </a:t>
            </a:r>
            <a:r>
              <a:rPr dirty="0" sz="2400">
                <a:latin typeface="Times New Roman"/>
                <a:cs typeface="Times New Roman"/>
              </a:rPr>
              <a:t>devices,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accurate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real-time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arrhythmia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classification.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Problem</a:t>
            </a:r>
            <a:r>
              <a:rPr dirty="0" spc="-160"/>
              <a:t> </a:t>
            </a:r>
            <a:r>
              <a:rPr dirty="0" spc="-10"/>
              <a:t>Definition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5777" y="1572514"/>
            <a:ext cx="978344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Traditional</a:t>
            </a:r>
            <a:r>
              <a:rPr dirty="0" sz="2400" spc="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8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arrhythmia</a:t>
            </a:r>
            <a:r>
              <a:rPr dirty="0" sz="2400" spc="10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classification</a:t>
            </a:r>
            <a:r>
              <a:rPr dirty="0" sz="2400" spc="9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models,</a:t>
            </a:r>
            <a:r>
              <a:rPr dirty="0" sz="2400" spc="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especially</a:t>
            </a:r>
            <a:r>
              <a:rPr dirty="0" sz="2400" spc="9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Transformer- 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architectures,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face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computational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complexity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increased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latency </a:t>
            </a:r>
            <a:r>
              <a:rPr dirty="0" sz="2400">
                <a:latin typeface="Times New Roman"/>
                <a:cs typeface="Times New Roman"/>
              </a:rPr>
              <a:t>when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processing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long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sequences.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makes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them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unsuitable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3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real- </a:t>
            </a:r>
            <a:r>
              <a:rPr dirty="0" sz="2400">
                <a:latin typeface="Times New Roman"/>
                <a:cs typeface="Times New Roman"/>
              </a:rPr>
              <a:t>time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applications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wearable</a:t>
            </a:r>
            <a:r>
              <a:rPr dirty="0" sz="2400" spc="1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devices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1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limited</a:t>
            </a:r>
            <a:r>
              <a:rPr dirty="0" sz="2400" spc="1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resources.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Therefore,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there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need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efficient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handle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long-sequence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with </a:t>
            </a:r>
            <a:r>
              <a:rPr dirty="0" sz="2400">
                <a:latin typeface="Times New Roman"/>
                <a:cs typeface="Times New Roman"/>
              </a:rPr>
              <a:t>lower</a:t>
            </a:r>
            <a:r>
              <a:rPr dirty="0" sz="2400" spc="2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computation,</a:t>
            </a:r>
            <a:r>
              <a:rPr dirty="0" sz="2400" spc="28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faster</a:t>
            </a:r>
            <a:r>
              <a:rPr dirty="0" sz="2400" spc="27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inference,</a:t>
            </a:r>
            <a:r>
              <a:rPr dirty="0" sz="2400" spc="28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7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reduced</a:t>
            </a:r>
            <a:r>
              <a:rPr dirty="0" sz="2400" spc="2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memory</a:t>
            </a:r>
            <a:r>
              <a:rPr dirty="0" sz="2400" spc="2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usage</a:t>
            </a:r>
            <a:r>
              <a:rPr dirty="0" sz="2400" spc="27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while </a:t>
            </a:r>
            <a:r>
              <a:rPr dirty="0" sz="2400">
                <a:latin typeface="Times New Roman"/>
                <a:cs typeface="Times New Roman"/>
              </a:rPr>
              <a:t>maintaining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classification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accuracy.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Literacy</a:t>
            </a:r>
            <a:r>
              <a:rPr dirty="0" spc="-125"/>
              <a:t> </a:t>
            </a:r>
            <a:r>
              <a:rPr dirty="0" spc="-10"/>
              <a:t>Survey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0491" y="1621663"/>
            <a:ext cx="993457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Literature</a:t>
            </a:r>
            <a:r>
              <a:rPr dirty="0" sz="2400" spc="22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survey</a:t>
            </a:r>
            <a:r>
              <a:rPr dirty="0" sz="2400" spc="23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focuses</a:t>
            </a:r>
            <a:r>
              <a:rPr dirty="0" sz="2400" spc="229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229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23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22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arrhythmia</a:t>
            </a:r>
            <a:r>
              <a:rPr dirty="0" sz="2400" spc="229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classification</a:t>
            </a:r>
            <a:r>
              <a:rPr dirty="0" sz="2400" spc="229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wearable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monitoring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systems.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Previous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studies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used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CNN,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LSTM,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machine </a:t>
            </a:r>
            <a:r>
              <a:rPr dirty="0" sz="2400">
                <a:latin typeface="Times New Roman"/>
                <a:cs typeface="Times New Roman"/>
              </a:rPr>
              <a:t>learning</a:t>
            </a:r>
            <a:r>
              <a:rPr dirty="0" sz="2400" spc="4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techniques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4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detecting</a:t>
            </a:r>
            <a:r>
              <a:rPr dirty="0" sz="2400" spc="4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abnormal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heart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rhythms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4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49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signals. </a:t>
            </a:r>
            <a:r>
              <a:rPr dirty="0" sz="2400">
                <a:latin typeface="Times New Roman"/>
                <a:cs typeface="Times New Roman"/>
              </a:rPr>
              <a:t>Lightweight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IoT-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wearable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systems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were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also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developed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real-</a:t>
            </a:r>
            <a:r>
              <a:rPr dirty="0" sz="2400" spc="-20">
                <a:latin typeface="Times New Roman"/>
                <a:cs typeface="Times New Roman"/>
              </a:rPr>
              <a:t>time </a:t>
            </a:r>
            <a:r>
              <a:rPr dirty="0" sz="2400">
                <a:latin typeface="Times New Roman"/>
                <a:cs typeface="Times New Roman"/>
              </a:rPr>
              <a:t>monitoring.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Recent</a:t>
            </a:r>
            <a:r>
              <a:rPr dirty="0" sz="2400" spc="2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models</a:t>
            </a:r>
            <a:r>
              <a:rPr dirty="0" sz="2400" spc="2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like</a:t>
            </a:r>
            <a:r>
              <a:rPr dirty="0" sz="2400" spc="25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ECG-</a:t>
            </a:r>
            <a:r>
              <a:rPr dirty="0" sz="2400">
                <a:latin typeface="Times New Roman"/>
                <a:cs typeface="Times New Roman"/>
              </a:rPr>
              <a:t>Mamba</a:t>
            </a:r>
            <a:r>
              <a:rPr dirty="0" sz="2400" spc="2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improved</a:t>
            </a:r>
            <a:r>
              <a:rPr dirty="0" sz="2400" spc="2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long-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25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ECG </a:t>
            </a:r>
            <a:r>
              <a:rPr dirty="0" sz="2400">
                <a:latin typeface="Times New Roman"/>
                <a:cs typeface="Times New Roman"/>
              </a:rPr>
              <a:t>analysis.</a:t>
            </a:r>
            <a:r>
              <a:rPr dirty="0" sz="2400" spc="23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However,</a:t>
            </a:r>
            <a:r>
              <a:rPr dirty="0" sz="2400" spc="24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24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methods</a:t>
            </a:r>
            <a:r>
              <a:rPr dirty="0" sz="2400" spc="24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still</a:t>
            </a:r>
            <a:r>
              <a:rPr dirty="0" sz="2400" spc="24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face</a:t>
            </a:r>
            <a:r>
              <a:rPr dirty="0" sz="2400" spc="24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challenges</a:t>
            </a:r>
            <a:r>
              <a:rPr dirty="0" sz="2400" spc="24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such</a:t>
            </a:r>
            <a:r>
              <a:rPr dirty="0" sz="2400" spc="24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23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noise sensitivity,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computational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complexity,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wearable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deployment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limitations.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83615"/>
            <a:ext cx="10693400" cy="60963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Literacy</a:t>
            </a:r>
            <a:r>
              <a:rPr dirty="0" spc="-125"/>
              <a:t> </a:t>
            </a:r>
            <a:r>
              <a:rPr dirty="0" spc="-10"/>
              <a:t>Survey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46341" y="1451102"/>
          <a:ext cx="10276840" cy="460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714"/>
                <a:gridCol w="2037714"/>
                <a:gridCol w="2037714"/>
                <a:gridCol w="2037714"/>
                <a:gridCol w="2037715"/>
              </a:tblGrid>
              <a:tr h="1189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68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65" b="1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dirty="0" sz="1800" spc="-1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5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800" spc="-1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Year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R="3810">
                        <a:lnSpc>
                          <a:spcPct val="100000"/>
                        </a:lnSpc>
                      </a:pPr>
                      <a:r>
                        <a:rPr dirty="0" sz="1800" spc="-65" b="1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dirty="0" sz="18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Used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955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8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4990">
                        <a:lnSpc>
                          <a:spcPct val="100000"/>
                        </a:lnSpc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Features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00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69900">
                        <a:lnSpc>
                          <a:spcPct val="100000"/>
                        </a:lnSpc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87655">
                        <a:lnSpc>
                          <a:spcPct val="100000"/>
                        </a:lnSpc>
                      </a:pPr>
                      <a:r>
                        <a:rPr dirty="0" sz="1800" spc="-90" b="1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8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System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876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Advantage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7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Jiang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(2025)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9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71755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ECG-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Mamba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Model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70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Long-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sequence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ECG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2560" marR="226695">
                        <a:lnSpc>
                          <a:spcPct val="114399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space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models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16535" marR="363855">
                        <a:lnSpc>
                          <a:spcPct val="114399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Sensitive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noisy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ECG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signals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long-sequence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310" marR="438784">
                        <a:lnSpc>
                          <a:spcPts val="2200"/>
                        </a:lnSpc>
                        <a:spcBef>
                          <a:spcPts val="11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ECG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with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wearable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deployment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7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Qureshi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(2022)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 marR="686435">
                        <a:lnSpc>
                          <a:spcPct val="114399"/>
                        </a:lnSpc>
                        <a:spcBef>
                          <a:spcPts val="154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CNN-Based Classification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 marR="222250">
                        <a:lnSpc>
                          <a:spcPct val="114399"/>
                        </a:lnSpc>
                        <a:spcBef>
                          <a:spcPts val="99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Multiclass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heartbeat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MIT-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BIH</a:t>
                      </a:r>
                      <a:r>
                        <a:rPr dirty="0" sz="16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dataset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11454" marR="203200">
                        <a:lnSpc>
                          <a:spcPct val="114399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imbalance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affects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performance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19050">
                        <a:lnSpc>
                          <a:spcPct val="114399"/>
                        </a:lnSpc>
                        <a:spcBef>
                          <a:spcPts val="85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robust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optimized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learning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7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Tesfai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(2022)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76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19710" marR="356870">
                        <a:lnSpc>
                          <a:spcPct val="114500"/>
                        </a:lnSpc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ShuffleNet-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CNN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040" marR="386715">
                        <a:lnSpc>
                          <a:spcPct val="114399"/>
                        </a:lnSpc>
                        <a:spcBef>
                          <a:spcPts val="14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ECG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wearable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 marR="302895">
                        <a:lnSpc>
                          <a:spcPct val="114399"/>
                        </a:lnSpc>
                        <a:spcBef>
                          <a:spcPts val="93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Similar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arrhythmia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reduce accuracy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Reduced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7475" marR="273050">
                        <a:lnSpc>
                          <a:spcPct val="114399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computational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edge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83615"/>
            <a:ext cx="10693400" cy="60963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Literacy</a:t>
            </a:r>
            <a:r>
              <a:rPr dirty="0" spc="-125"/>
              <a:t> </a:t>
            </a:r>
            <a:r>
              <a:rPr dirty="0" spc="-10"/>
              <a:t>Survey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46341" y="1451102"/>
          <a:ext cx="10276840" cy="460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714"/>
                <a:gridCol w="2037714"/>
                <a:gridCol w="2037714"/>
                <a:gridCol w="2037714"/>
                <a:gridCol w="2037715"/>
              </a:tblGrid>
              <a:tr h="1189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68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Kim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(2022)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0256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CNN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345" marR="269875">
                        <a:lnSpc>
                          <a:spcPct val="114399"/>
                        </a:lnSpc>
                        <a:spcBef>
                          <a:spcPts val="149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ECG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9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80340" marR="265430">
                        <a:lnSpc>
                          <a:spcPct val="114399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arrhythmia categories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029" marR="330835">
                        <a:lnSpc>
                          <a:spcPct val="114500"/>
                        </a:lnSpc>
                        <a:spcBef>
                          <a:spcPts val="14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power-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wearable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ECG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monitoring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7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Apu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(2021)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3370" marR="600075">
                        <a:lnSpc>
                          <a:spcPct val="114399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1D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Resampling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895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ECG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2560" marR="379730">
                        <a:lnSpc>
                          <a:spcPct val="114399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Gaussian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augmentation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16535" marR="573405">
                        <a:lnSpc>
                          <a:spcPct val="114399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handling challenges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45085">
                        <a:lnSpc>
                          <a:spcPct val="114399"/>
                        </a:lnSpc>
                        <a:spcBef>
                          <a:spcPts val="98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classification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model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44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7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Sakib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(2021)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6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1D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CNN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 marR="233679">
                        <a:lnSpc>
                          <a:spcPts val="2200"/>
                        </a:lnSpc>
                        <a:spcBef>
                          <a:spcPts val="2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arrhythmia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ultra-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478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11454" marR="275590">
                        <a:lnSpc>
                          <a:spcPct val="114399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resource 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60020">
                        <a:lnSpc>
                          <a:spcPct val="114399"/>
                        </a:lnSpc>
                        <a:spcBef>
                          <a:spcPts val="102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ECG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monitoring 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7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Banerjee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(2020)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5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5623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LSTM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76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 marR="153670">
                        <a:lnSpc>
                          <a:spcPct val="114399"/>
                        </a:lnSpc>
                        <a:spcBef>
                          <a:spcPts val="79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wearable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ECG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integration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 marR="715010">
                        <a:lnSpc>
                          <a:spcPct val="114399"/>
                        </a:lnSpc>
                        <a:spcBef>
                          <a:spcPts val="93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Depends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preprocessing quality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marR="140335">
                        <a:lnSpc>
                          <a:spcPct val="114399"/>
                        </a:lnSpc>
                        <a:spcBef>
                          <a:spcPts val="92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arrhythmia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mobile connectivity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dirty="0" spc="-10"/>
              <a:t> 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8883" y="1423543"/>
            <a:ext cx="9758045" cy="4636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2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24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existing</a:t>
            </a:r>
            <a:r>
              <a:rPr dirty="0" sz="2050" spc="24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system,</a:t>
            </a:r>
            <a:r>
              <a:rPr dirty="0" sz="2050" spc="24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24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25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2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24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mainly</a:t>
            </a:r>
            <a:r>
              <a:rPr dirty="0" sz="2050" spc="25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performed</a:t>
            </a:r>
            <a:r>
              <a:rPr dirty="0" sz="2050" spc="250">
                <a:latin typeface="Times New Roman"/>
                <a:cs typeface="Times New Roman"/>
              </a:rPr>
              <a:t>  </a:t>
            </a:r>
            <a:r>
              <a:rPr dirty="0" sz="2050" spc="-10">
                <a:latin typeface="Times New Roman"/>
                <a:cs typeface="Times New Roman"/>
              </a:rPr>
              <a:t>using </a:t>
            </a:r>
            <a:r>
              <a:rPr dirty="0" sz="2050" spc="-25">
                <a:latin typeface="Times New Roman"/>
                <a:cs typeface="Times New Roman"/>
              </a:rPr>
              <a:t>Transformer-</a:t>
            </a:r>
            <a:r>
              <a:rPr dirty="0" sz="2050">
                <a:latin typeface="Times New Roman"/>
                <a:cs typeface="Times New Roman"/>
              </a:rPr>
              <a:t>based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deep</a:t>
            </a:r>
            <a:r>
              <a:rPr dirty="0" sz="2050" spc="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learning</a:t>
            </a:r>
            <a:r>
              <a:rPr dirty="0" sz="2050" spc="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models.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These</a:t>
            </a:r>
            <a:r>
              <a:rPr dirty="0" sz="2050" spc="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models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provide</a:t>
            </a:r>
            <a:r>
              <a:rPr dirty="0" sz="2050" spc="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good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accuracy</a:t>
            </a:r>
            <a:r>
              <a:rPr dirty="0" sz="2050" spc="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analyzing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signals,</a:t>
            </a:r>
            <a:r>
              <a:rPr dirty="0" sz="2050" spc="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but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they</a:t>
            </a:r>
            <a:r>
              <a:rPr dirty="0" sz="2050" spc="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require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high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computational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power</a:t>
            </a:r>
            <a:r>
              <a:rPr dirty="0" sz="2050" spc="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memory</a:t>
            </a:r>
            <a:r>
              <a:rPr dirty="0" sz="2050" spc="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when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processing</a:t>
            </a:r>
            <a:r>
              <a:rPr dirty="0" sz="2050" spc="6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long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sequences.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Due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1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quadratic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complexity,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inference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speed</a:t>
            </a:r>
            <a:r>
              <a:rPr dirty="0" sz="2050" spc="1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becomes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slow, </a:t>
            </a:r>
            <a:r>
              <a:rPr dirty="0" sz="2050">
                <a:latin typeface="Times New Roman"/>
                <a:cs typeface="Times New Roman"/>
              </a:rPr>
              <a:t>making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them</a:t>
            </a:r>
            <a:r>
              <a:rPr dirty="0" sz="2050" spc="1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less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suitable</a:t>
            </a:r>
            <a:r>
              <a:rPr dirty="0" sz="2050" spc="10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10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real-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healthcare</a:t>
            </a:r>
            <a:r>
              <a:rPr dirty="0" sz="2050" spc="11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devices.</a:t>
            </a:r>
            <a:r>
              <a:rPr dirty="0" sz="2050" spc="10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1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addition,</a:t>
            </a:r>
            <a:r>
              <a:rPr dirty="0" sz="2050" spc="10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deploying </a:t>
            </a:r>
            <a:r>
              <a:rPr dirty="0" sz="2050">
                <a:latin typeface="Times New Roman"/>
                <a:cs typeface="Times New Roman"/>
              </a:rPr>
              <a:t>such</a:t>
            </a:r>
            <a:r>
              <a:rPr dirty="0" sz="2050" spc="3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heavy</a:t>
            </a:r>
            <a:r>
              <a:rPr dirty="0" sz="2050" spc="3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models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edge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devices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3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difficult</a:t>
            </a:r>
            <a:r>
              <a:rPr dirty="0" sz="2050" spc="3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because</a:t>
            </a:r>
            <a:r>
              <a:rPr dirty="0" sz="2050" spc="3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3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limited</a:t>
            </a:r>
            <a:r>
              <a:rPr dirty="0" sz="2050" spc="3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battery</a:t>
            </a:r>
            <a:r>
              <a:rPr dirty="0" sz="2050" spc="3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3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hardware resources.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2400" spc="-10" b="1">
                <a:latin typeface="Times New Roman"/>
                <a:cs typeface="Times New Roman"/>
              </a:rPr>
              <a:t>Demerits: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High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computational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complexity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long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sequences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Slow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inference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speed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real-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applications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High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memory and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power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consumption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Difficult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deploy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devices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Requires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powerful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GPU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resources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efficient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processing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Reduced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efficiency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continuous</a:t>
            </a:r>
            <a:r>
              <a:rPr dirty="0" sz="2050" spc="-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monitoring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systems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1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1101" y="1470787"/>
            <a:ext cx="9933305" cy="4636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proposed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1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introduces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efficient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1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1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the </a:t>
            </a:r>
            <a:r>
              <a:rPr dirty="0" sz="2050">
                <a:latin typeface="Times New Roman"/>
                <a:cs typeface="Times New Roman"/>
              </a:rPr>
              <a:t>Mamba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architecture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processing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long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sequences.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Unlike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traditional</a:t>
            </a:r>
            <a:r>
              <a:rPr dirty="0" sz="2050" spc="-25">
                <a:latin typeface="Times New Roman"/>
                <a:cs typeface="Times New Roman"/>
              </a:rPr>
              <a:t> Transformer-</a:t>
            </a:r>
            <a:r>
              <a:rPr dirty="0" sz="2050" spc="-10">
                <a:latin typeface="Times New Roman"/>
                <a:cs typeface="Times New Roman"/>
              </a:rPr>
              <a:t>based </a:t>
            </a:r>
            <a:r>
              <a:rPr dirty="0" sz="2050">
                <a:latin typeface="Times New Roman"/>
                <a:cs typeface="Times New Roman"/>
              </a:rPr>
              <a:t>models,</a:t>
            </a:r>
            <a:r>
              <a:rPr dirty="0" sz="2050" spc="3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3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proposed</a:t>
            </a:r>
            <a:r>
              <a:rPr dirty="0" sz="2050" spc="3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approach</a:t>
            </a:r>
            <a:r>
              <a:rPr dirty="0" sz="2050" spc="3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provides</a:t>
            </a:r>
            <a:r>
              <a:rPr dirty="0" sz="2050" spc="25">
                <a:latin typeface="Times New Roman"/>
                <a:cs typeface="Times New Roman"/>
              </a:rPr>
              <a:t>  </a:t>
            </a:r>
            <a:r>
              <a:rPr dirty="0" sz="2050" spc="-20">
                <a:latin typeface="Times New Roman"/>
                <a:cs typeface="Times New Roman"/>
              </a:rPr>
              <a:t>linear-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inference</a:t>
            </a:r>
            <a:r>
              <a:rPr dirty="0" sz="2050" spc="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with</a:t>
            </a:r>
            <a:r>
              <a:rPr dirty="0" sz="2050" spc="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lower</a:t>
            </a:r>
            <a:r>
              <a:rPr dirty="0" sz="2050" spc="25">
                <a:latin typeface="Times New Roman"/>
                <a:cs typeface="Times New Roman"/>
              </a:rPr>
              <a:t>  </a:t>
            </a:r>
            <a:r>
              <a:rPr dirty="0" sz="2050" spc="-10">
                <a:latin typeface="Times New Roman"/>
                <a:cs typeface="Times New Roman"/>
              </a:rPr>
              <a:t>computational </a:t>
            </a:r>
            <a:r>
              <a:rPr dirty="0" sz="2050">
                <a:latin typeface="Times New Roman"/>
                <a:cs typeface="Times New Roman"/>
              </a:rPr>
              <a:t>complexity</a:t>
            </a:r>
            <a:r>
              <a:rPr dirty="0" sz="2050" spc="1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2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reduced</a:t>
            </a:r>
            <a:r>
              <a:rPr dirty="0" sz="2050" spc="1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memory</a:t>
            </a:r>
            <a:r>
              <a:rPr dirty="0" sz="2050" spc="3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usage.</a:t>
            </a:r>
            <a:r>
              <a:rPr dirty="0" sz="2050" spc="2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2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1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preprocesses</a:t>
            </a:r>
            <a:r>
              <a:rPr dirty="0" sz="2050" spc="2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1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signals,</a:t>
            </a:r>
            <a:r>
              <a:rPr dirty="0" sz="2050" spc="20">
                <a:latin typeface="Times New Roman"/>
                <a:cs typeface="Times New Roman"/>
              </a:rPr>
              <a:t>  </a:t>
            </a:r>
            <a:r>
              <a:rPr dirty="0" sz="2050" spc="-10">
                <a:latin typeface="Times New Roman"/>
                <a:cs typeface="Times New Roman"/>
              </a:rPr>
              <a:t>extracts </a:t>
            </a:r>
            <a:r>
              <a:rPr dirty="0" sz="2050">
                <a:latin typeface="Times New Roman"/>
                <a:cs typeface="Times New Roman"/>
              </a:rPr>
              <a:t>important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features,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1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performs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accurate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1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1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real</a:t>
            </a:r>
            <a:r>
              <a:rPr dirty="0" sz="2050" spc="1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time.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trained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optimized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ONNX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2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TensorFlow</a:t>
            </a:r>
            <a:r>
              <a:rPr dirty="0" sz="2050" spc="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Lite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deployment</a:t>
            </a:r>
            <a:r>
              <a:rPr dirty="0" sz="2050" spc="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healthcare devices.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2400" spc="-10" b="1">
                <a:latin typeface="Times New Roman"/>
                <a:cs typeface="Times New Roman"/>
              </a:rPr>
              <a:t>Merits: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Faster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inference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long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sequences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Reduced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computational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memory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cost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Suitable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edge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devices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Supports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real-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monitoring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Energy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efficient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lightweight</a:t>
            </a:r>
            <a:r>
              <a:rPr dirty="0" sz="2050" spc="-9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model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Optimized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deployment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ONNX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8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TensorFlow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Lite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06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System</a:t>
            </a:r>
            <a:r>
              <a:rPr dirty="0" spc="-130"/>
              <a:t> </a:t>
            </a:r>
            <a:r>
              <a:rPr dirty="0" spc="-20"/>
              <a:t>Architecture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82979"/>
            <a:ext cx="10689969" cy="46574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Techniques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5569" y="1287069"/>
            <a:ext cx="9720580" cy="480504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2400" spc="-20" b="1">
                <a:latin typeface="Times New Roman"/>
                <a:cs typeface="Times New Roman"/>
              </a:rPr>
              <a:t>Technologies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Used: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 b="1">
                <a:latin typeface="Times New Roman"/>
                <a:cs typeface="Times New Roman"/>
              </a:rPr>
              <a:t>Python</a:t>
            </a:r>
            <a:r>
              <a:rPr dirty="0" sz="2050" spc="-30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Used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development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implementation.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 spc="-25" b="1">
                <a:latin typeface="Times New Roman"/>
                <a:cs typeface="Times New Roman"/>
              </a:rPr>
              <a:t>PyTorch</a:t>
            </a:r>
            <a:r>
              <a:rPr dirty="0" sz="2050" spc="-50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Used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training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deep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learning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model.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 spc="-10" b="1">
                <a:latin typeface="Times New Roman"/>
                <a:cs typeface="Times New Roman"/>
              </a:rPr>
              <a:t>mamba-</a:t>
            </a:r>
            <a:r>
              <a:rPr dirty="0" sz="2050" b="1">
                <a:latin typeface="Times New Roman"/>
                <a:cs typeface="Times New Roman"/>
              </a:rPr>
              <a:t>ssm</a:t>
            </a:r>
            <a:r>
              <a:rPr dirty="0" sz="2050" spc="-35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Used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implement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Mamba</a:t>
            </a:r>
            <a:r>
              <a:rPr dirty="0" sz="2050" spc="-10">
                <a:latin typeface="Times New Roman"/>
                <a:cs typeface="Times New Roman"/>
              </a:rPr>
              <a:t> architecture.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 b="1">
                <a:latin typeface="Times New Roman"/>
                <a:cs typeface="Times New Roman"/>
              </a:rPr>
              <a:t>ONNX</a:t>
            </a:r>
            <a:r>
              <a:rPr dirty="0" sz="2050" spc="-25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Used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conversion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optimization.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 spc="-20" b="1">
                <a:latin typeface="Times New Roman"/>
                <a:cs typeface="Times New Roman"/>
              </a:rPr>
              <a:t>TensorFlow</a:t>
            </a:r>
            <a:r>
              <a:rPr dirty="0" sz="2050" spc="-60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Lite</a:t>
            </a:r>
            <a:r>
              <a:rPr dirty="0" sz="2050" spc="-25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Used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deployment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devices.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89"/>
              </a:spcBef>
            </a:pPr>
            <a:r>
              <a:rPr dirty="0" sz="2400" spc="-10" b="1">
                <a:latin typeface="Times New Roman"/>
                <a:cs typeface="Times New Roman"/>
              </a:rPr>
              <a:t>Techniques: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 b="1">
                <a:latin typeface="Times New Roman"/>
                <a:cs typeface="Times New Roman"/>
              </a:rPr>
              <a:t>ECG</a:t>
            </a:r>
            <a:r>
              <a:rPr dirty="0" sz="2050" spc="-30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Signal</a:t>
            </a:r>
            <a:r>
              <a:rPr dirty="0" sz="2050" spc="-30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Preprocessing</a:t>
            </a:r>
            <a:r>
              <a:rPr dirty="0" sz="2050" spc="-20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Removing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noise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normalizing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signals.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 b="1">
                <a:latin typeface="Times New Roman"/>
                <a:cs typeface="Times New Roman"/>
              </a:rPr>
              <a:t>Feature</a:t>
            </a:r>
            <a:r>
              <a:rPr dirty="0" sz="2050" spc="-55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Extraction</a:t>
            </a:r>
            <a:r>
              <a:rPr dirty="0" sz="2050" spc="-50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Extracting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important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patterns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data.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 b="1">
                <a:latin typeface="Times New Roman"/>
                <a:cs typeface="Times New Roman"/>
              </a:rPr>
              <a:t>Mamba</a:t>
            </a:r>
            <a:r>
              <a:rPr dirty="0" sz="2050" spc="-130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Architecture</a:t>
            </a:r>
            <a:r>
              <a:rPr dirty="0" sz="2050" spc="-50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Efficient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sequence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modeling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with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linear-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inference.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 b="1">
                <a:latin typeface="Times New Roman"/>
                <a:cs typeface="Times New Roman"/>
              </a:rPr>
              <a:t>Arrhythmia</a:t>
            </a:r>
            <a:r>
              <a:rPr dirty="0" sz="2050" spc="-40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Classification</a:t>
            </a:r>
            <a:r>
              <a:rPr dirty="0" sz="2050" spc="-50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Identifying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abnormal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heart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rhythms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signals.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 b="1">
                <a:latin typeface="Times New Roman"/>
                <a:cs typeface="Times New Roman"/>
              </a:rPr>
              <a:t>Model</a:t>
            </a:r>
            <a:r>
              <a:rPr dirty="0" sz="2050" spc="-45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Optimization</a:t>
            </a:r>
            <a:r>
              <a:rPr dirty="0" sz="2050" spc="-20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Converting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compressing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ONNX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TFLite.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 spc="-10" b="1">
                <a:latin typeface="Times New Roman"/>
                <a:cs typeface="Times New Roman"/>
              </a:rPr>
              <a:t>Wearable</a:t>
            </a:r>
            <a:r>
              <a:rPr dirty="0" sz="2050" spc="-25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Deployment</a:t>
            </a:r>
            <a:r>
              <a:rPr dirty="0" sz="2050" spc="-20" b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–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Running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optimized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 on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edge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devices.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Algorithm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78154" y="4966461"/>
            <a:ext cx="5534025" cy="866140"/>
          </a:xfrm>
          <a:custGeom>
            <a:avLst/>
            <a:gdLst/>
            <a:ahLst/>
            <a:cxnLst/>
            <a:rect l="l" t="t" r="r" b="b"/>
            <a:pathLst>
              <a:path w="5534025" h="866139">
                <a:moveTo>
                  <a:pt x="80416" y="634619"/>
                </a:moveTo>
                <a:lnTo>
                  <a:pt x="76974" y="624840"/>
                </a:lnTo>
                <a:lnTo>
                  <a:pt x="59474" y="631126"/>
                </a:lnTo>
                <a:lnTo>
                  <a:pt x="44132" y="640270"/>
                </a:lnTo>
                <a:lnTo>
                  <a:pt x="11188" y="684187"/>
                </a:lnTo>
                <a:lnTo>
                  <a:pt x="1231" y="723379"/>
                </a:lnTo>
                <a:lnTo>
                  <a:pt x="0" y="745490"/>
                </a:lnTo>
                <a:lnTo>
                  <a:pt x="1117" y="765543"/>
                </a:lnTo>
                <a:lnTo>
                  <a:pt x="1231" y="767689"/>
                </a:lnTo>
                <a:lnTo>
                  <a:pt x="11163" y="806932"/>
                </a:lnTo>
                <a:lnTo>
                  <a:pt x="44043" y="850734"/>
                </a:lnTo>
                <a:lnTo>
                  <a:pt x="76974" y="866140"/>
                </a:lnTo>
                <a:lnTo>
                  <a:pt x="80035" y="856361"/>
                </a:lnTo>
                <a:lnTo>
                  <a:pt x="66268" y="850303"/>
                </a:lnTo>
                <a:lnTo>
                  <a:pt x="54406" y="841832"/>
                </a:lnTo>
                <a:lnTo>
                  <a:pt x="30060" y="802309"/>
                </a:lnTo>
                <a:lnTo>
                  <a:pt x="22059" y="745490"/>
                </a:lnTo>
                <a:lnTo>
                  <a:pt x="22009" y="744220"/>
                </a:lnTo>
                <a:lnTo>
                  <a:pt x="22898" y="723684"/>
                </a:lnTo>
                <a:lnTo>
                  <a:pt x="36322" y="672846"/>
                </a:lnTo>
                <a:lnTo>
                  <a:pt x="66484" y="640664"/>
                </a:lnTo>
                <a:lnTo>
                  <a:pt x="80416" y="634619"/>
                </a:lnTo>
                <a:close/>
              </a:path>
              <a:path w="5534025" h="866139">
                <a:moveTo>
                  <a:pt x="324472" y="745490"/>
                </a:moveTo>
                <a:lnTo>
                  <a:pt x="319481" y="702932"/>
                </a:lnTo>
                <a:lnTo>
                  <a:pt x="304558" y="667131"/>
                </a:lnTo>
                <a:lnTo>
                  <a:pt x="264985" y="631139"/>
                </a:lnTo>
                <a:lnTo>
                  <a:pt x="247472" y="624840"/>
                </a:lnTo>
                <a:lnTo>
                  <a:pt x="244055" y="634619"/>
                </a:lnTo>
                <a:lnTo>
                  <a:pt x="258013" y="640664"/>
                </a:lnTo>
                <a:lnTo>
                  <a:pt x="270027" y="649071"/>
                </a:lnTo>
                <a:lnTo>
                  <a:pt x="294436" y="687971"/>
                </a:lnTo>
                <a:lnTo>
                  <a:pt x="302463" y="744220"/>
                </a:lnTo>
                <a:lnTo>
                  <a:pt x="301561" y="765543"/>
                </a:lnTo>
                <a:lnTo>
                  <a:pt x="288150" y="817753"/>
                </a:lnTo>
                <a:lnTo>
                  <a:pt x="258191" y="850303"/>
                </a:lnTo>
                <a:lnTo>
                  <a:pt x="244436" y="856361"/>
                </a:lnTo>
                <a:lnTo>
                  <a:pt x="247472" y="866140"/>
                </a:lnTo>
                <a:lnTo>
                  <a:pt x="293598" y="838771"/>
                </a:lnTo>
                <a:lnTo>
                  <a:pt x="319506" y="788162"/>
                </a:lnTo>
                <a:lnTo>
                  <a:pt x="323227" y="767689"/>
                </a:lnTo>
                <a:lnTo>
                  <a:pt x="324472" y="745490"/>
                </a:lnTo>
                <a:close/>
              </a:path>
              <a:path w="5534025" h="866139">
                <a:moveTo>
                  <a:pt x="4397959" y="9779"/>
                </a:moveTo>
                <a:lnTo>
                  <a:pt x="4394530" y="0"/>
                </a:lnTo>
                <a:lnTo>
                  <a:pt x="4376966" y="6286"/>
                </a:lnTo>
                <a:lnTo>
                  <a:pt x="4361612" y="15430"/>
                </a:lnTo>
                <a:lnTo>
                  <a:pt x="4328680" y="59347"/>
                </a:lnTo>
                <a:lnTo>
                  <a:pt x="4318698" y="98539"/>
                </a:lnTo>
                <a:lnTo>
                  <a:pt x="4317441" y="120650"/>
                </a:lnTo>
                <a:lnTo>
                  <a:pt x="4318559" y="140703"/>
                </a:lnTo>
                <a:lnTo>
                  <a:pt x="4318673" y="142849"/>
                </a:lnTo>
                <a:lnTo>
                  <a:pt x="4328630" y="182092"/>
                </a:lnTo>
                <a:lnTo>
                  <a:pt x="4361573" y="225894"/>
                </a:lnTo>
                <a:lnTo>
                  <a:pt x="4394530" y="241300"/>
                </a:lnTo>
                <a:lnTo>
                  <a:pt x="4397578" y="231521"/>
                </a:lnTo>
                <a:lnTo>
                  <a:pt x="4383773" y="225463"/>
                </a:lnTo>
                <a:lnTo>
                  <a:pt x="4371899" y="216979"/>
                </a:lnTo>
                <a:lnTo>
                  <a:pt x="4347515" y="177469"/>
                </a:lnTo>
                <a:lnTo>
                  <a:pt x="4339590" y="120650"/>
                </a:lnTo>
                <a:lnTo>
                  <a:pt x="4339539" y="119380"/>
                </a:lnTo>
                <a:lnTo>
                  <a:pt x="4340415" y="98844"/>
                </a:lnTo>
                <a:lnTo>
                  <a:pt x="4353763" y="48006"/>
                </a:lnTo>
                <a:lnTo>
                  <a:pt x="4383989" y="15824"/>
                </a:lnTo>
                <a:lnTo>
                  <a:pt x="4397959" y="9779"/>
                </a:lnTo>
                <a:close/>
              </a:path>
              <a:path w="5534025" h="866139">
                <a:moveTo>
                  <a:pt x="4641926" y="120650"/>
                </a:moveTo>
                <a:lnTo>
                  <a:pt x="4640694" y="98844"/>
                </a:lnTo>
                <a:lnTo>
                  <a:pt x="4640681" y="98539"/>
                </a:lnTo>
                <a:lnTo>
                  <a:pt x="4636973" y="78092"/>
                </a:lnTo>
                <a:lnTo>
                  <a:pt x="4622114" y="42291"/>
                </a:lnTo>
                <a:lnTo>
                  <a:pt x="4582465" y="6286"/>
                </a:lnTo>
                <a:lnTo>
                  <a:pt x="4564964" y="0"/>
                </a:lnTo>
                <a:lnTo>
                  <a:pt x="4561535" y="9779"/>
                </a:lnTo>
                <a:lnTo>
                  <a:pt x="4575505" y="15824"/>
                </a:lnTo>
                <a:lnTo>
                  <a:pt x="4587532" y="24231"/>
                </a:lnTo>
                <a:lnTo>
                  <a:pt x="4611967" y="63131"/>
                </a:lnTo>
                <a:lnTo>
                  <a:pt x="4619955" y="119380"/>
                </a:lnTo>
                <a:lnTo>
                  <a:pt x="4619041" y="140703"/>
                </a:lnTo>
                <a:lnTo>
                  <a:pt x="4605604" y="192913"/>
                </a:lnTo>
                <a:lnTo>
                  <a:pt x="4575645" y="225463"/>
                </a:lnTo>
                <a:lnTo>
                  <a:pt x="4561916" y="231521"/>
                </a:lnTo>
                <a:lnTo>
                  <a:pt x="4564964" y="241300"/>
                </a:lnTo>
                <a:lnTo>
                  <a:pt x="4611103" y="213931"/>
                </a:lnTo>
                <a:lnTo>
                  <a:pt x="4636973" y="163322"/>
                </a:lnTo>
                <a:lnTo>
                  <a:pt x="4640681" y="142849"/>
                </a:lnTo>
                <a:lnTo>
                  <a:pt x="4641926" y="120650"/>
                </a:lnTo>
                <a:close/>
              </a:path>
              <a:path w="5534025" h="866139">
                <a:moveTo>
                  <a:pt x="5289499" y="9779"/>
                </a:moveTo>
                <a:lnTo>
                  <a:pt x="5286070" y="0"/>
                </a:lnTo>
                <a:lnTo>
                  <a:pt x="5268506" y="6286"/>
                </a:lnTo>
                <a:lnTo>
                  <a:pt x="5253152" y="15430"/>
                </a:lnTo>
                <a:lnTo>
                  <a:pt x="5220220" y="59347"/>
                </a:lnTo>
                <a:lnTo>
                  <a:pt x="5210238" y="98539"/>
                </a:lnTo>
                <a:lnTo>
                  <a:pt x="5208981" y="120650"/>
                </a:lnTo>
                <a:lnTo>
                  <a:pt x="5210099" y="140703"/>
                </a:lnTo>
                <a:lnTo>
                  <a:pt x="5210213" y="142849"/>
                </a:lnTo>
                <a:lnTo>
                  <a:pt x="5220170" y="182092"/>
                </a:lnTo>
                <a:lnTo>
                  <a:pt x="5253113" y="225894"/>
                </a:lnTo>
                <a:lnTo>
                  <a:pt x="5286070" y="241300"/>
                </a:lnTo>
                <a:lnTo>
                  <a:pt x="5289118" y="231521"/>
                </a:lnTo>
                <a:lnTo>
                  <a:pt x="5275313" y="225463"/>
                </a:lnTo>
                <a:lnTo>
                  <a:pt x="5263439" y="216979"/>
                </a:lnTo>
                <a:lnTo>
                  <a:pt x="5239055" y="177469"/>
                </a:lnTo>
                <a:lnTo>
                  <a:pt x="5231130" y="120650"/>
                </a:lnTo>
                <a:lnTo>
                  <a:pt x="5231079" y="119380"/>
                </a:lnTo>
                <a:lnTo>
                  <a:pt x="5231955" y="98844"/>
                </a:lnTo>
                <a:lnTo>
                  <a:pt x="5245303" y="48006"/>
                </a:lnTo>
                <a:lnTo>
                  <a:pt x="5275529" y="15824"/>
                </a:lnTo>
                <a:lnTo>
                  <a:pt x="5289499" y="9779"/>
                </a:lnTo>
                <a:close/>
              </a:path>
              <a:path w="5534025" h="866139">
                <a:moveTo>
                  <a:pt x="5533466" y="120650"/>
                </a:moveTo>
                <a:lnTo>
                  <a:pt x="5532234" y="98844"/>
                </a:lnTo>
                <a:lnTo>
                  <a:pt x="5532221" y="98539"/>
                </a:lnTo>
                <a:lnTo>
                  <a:pt x="5528513" y="78092"/>
                </a:lnTo>
                <a:lnTo>
                  <a:pt x="5513654" y="42291"/>
                </a:lnTo>
                <a:lnTo>
                  <a:pt x="5474005" y="6286"/>
                </a:lnTo>
                <a:lnTo>
                  <a:pt x="5456504" y="0"/>
                </a:lnTo>
                <a:lnTo>
                  <a:pt x="5453075" y="9779"/>
                </a:lnTo>
                <a:lnTo>
                  <a:pt x="5467045" y="15824"/>
                </a:lnTo>
                <a:lnTo>
                  <a:pt x="5479072" y="24231"/>
                </a:lnTo>
                <a:lnTo>
                  <a:pt x="5503507" y="63131"/>
                </a:lnTo>
                <a:lnTo>
                  <a:pt x="5511495" y="119380"/>
                </a:lnTo>
                <a:lnTo>
                  <a:pt x="5510581" y="140703"/>
                </a:lnTo>
                <a:lnTo>
                  <a:pt x="5497144" y="192913"/>
                </a:lnTo>
                <a:lnTo>
                  <a:pt x="5467185" y="225463"/>
                </a:lnTo>
                <a:lnTo>
                  <a:pt x="5453456" y="231521"/>
                </a:lnTo>
                <a:lnTo>
                  <a:pt x="5456504" y="241300"/>
                </a:lnTo>
                <a:lnTo>
                  <a:pt x="5502643" y="213931"/>
                </a:lnTo>
                <a:lnTo>
                  <a:pt x="5528513" y="163322"/>
                </a:lnTo>
                <a:lnTo>
                  <a:pt x="5532221" y="142849"/>
                </a:lnTo>
                <a:lnTo>
                  <a:pt x="5533466" y="120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81101" y="1344549"/>
            <a:ext cx="9570085" cy="4819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uses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Mamba-</a:t>
            </a:r>
            <a:r>
              <a:rPr dirty="0" sz="2050">
                <a:latin typeface="Times New Roman"/>
                <a:cs typeface="Times New Roman"/>
              </a:rPr>
              <a:t>based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algorithm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efficiently</a:t>
            </a:r>
            <a:r>
              <a:rPr dirty="0" sz="2050" spc="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analyze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long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2455"/>
              </a:lnSpc>
            </a:pP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sequences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detect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patterns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real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time.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dirty="0" sz="2400" spc="-10" b="1">
                <a:latin typeface="Times New Roman"/>
                <a:cs typeface="Times New Roman"/>
              </a:rPr>
              <a:t>Steps: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86385" algn="l"/>
              </a:tabLst>
            </a:pPr>
            <a:r>
              <a:rPr dirty="0" sz="2050">
                <a:latin typeface="Times New Roman"/>
                <a:cs typeface="Times New Roman"/>
              </a:rPr>
              <a:t>Collect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data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dataset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or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sensors.</a:t>
            </a:r>
            <a:endParaRPr sz="20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AutoNum type="arabicPeriod"/>
              <a:tabLst>
                <a:tab pos="286385" algn="l"/>
              </a:tabLst>
            </a:pPr>
            <a:r>
              <a:rPr dirty="0" sz="2050">
                <a:latin typeface="Times New Roman"/>
                <a:cs typeface="Times New Roman"/>
              </a:rPr>
              <a:t>Preprocess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signals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by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removing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noise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normalizing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data.</a:t>
            </a:r>
            <a:endParaRPr sz="20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AutoNum type="arabicPeriod"/>
              <a:tabLst>
                <a:tab pos="286385" algn="l"/>
              </a:tabLst>
            </a:pPr>
            <a:r>
              <a:rPr dirty="0" sz="2050">
                <a:latin typeface="Times New Roman"/>
                <a:cs typeface="Times New Roman"/>
              </a:rPr>
              <a:t>Feed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processed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signals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into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Mamba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architecture.</a:t>
            </a:r>
            <a:endParaRPr sz="205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buAutoNum type="arabicPeriod"/>
              <a:tabLst>
                <a:tab pos="285750" algn="l"/>
              </a:tabLst>
            </a:pPr>
            <a:r>
              <a:rPr dirty="0" sz="2050">
                <a:latin typeface="Times New Roman"/>
                <a:cs typeface="Times New Roman"/>
              </a:rPr>
              <a:t>Analyze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long-</a:t>
            </a:r>
            <a:r>
              <a:rPr dirty="0" sz="2050">
                <a:latin typeface="Times New Roman"/>
                <a:cs typeface="Times New Roman"/>
              </a:rPr>
              <a:t>sequence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dependencies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linear-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inference.</a:t>
            </a:r>
            <a:endParaRPr sz="20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AutoNum type="arabicPeriod"/>
              <a:tabLst>
                <a:tab pos="286385" algn="l"/>
              </a:tabLst>
            </a:pPr>
            <a:r>
              <a:rPr dirty="0" sz="2050">
                <a:latin typeface="Times New Roman"/>
                <a:cs typeface="Times New Roman"/>
              </a:rPr>
              <a:t>Classify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into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normal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or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categories.</a:t>
            </a:r>
            <a:endParaRPr sz="20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AutoNum type="arabicPeriod"/>
              <a:tabLst>
                <a:tab pos="286385" algn="l"/>
              </a:tabLst>
            </a:pPr>
            <a:r>
              <a:rPr dirty="0" sz="2050">
                <a:latin typeface="Times New Roman"/>
                <a:cs typeface="Times New Roman"/>
              </a:rPr>
              <a:t>Optimize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trained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ONNX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8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TensorFlow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Lite.</a:t>
            </a:r>
            <a:endParaRPr sz="2050">
              <a:latin typeface="Times New Roman"/>
              <a:cs typeface="Times New Roman"/>
            </a:endParaRPr>
          </a:p>
          <a:p>
            <a:pPr marL="286385" indent="-273685">
              <a:lnSpc>
                <a:spcPts val="2455"/>
              </a:lnSpc>
              <a:buAutoNum type="arabicPeriod"/>
              <a:tabLst>
                <a:tab pos="286385" algn="l"/>
              </a:tabLst>
            </a:pPr>
            <a:r>
              <a:rPr dirty="0" sz="2050">
                <a:latin typeface="Times New Roman"/>
                <a:cs typeface="Times New Roman"/>
              </a:rPr>
              <a:t>Deploy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optimized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devices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real-time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monitoring.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dirty="0" sz="2400" spc="-10" b="1">
                <a:latin typeface="Times New Roman"/>
                <a:cs typeface="Times New Roman"/>
              </a:rPr>
              <a:t>Formula:</a:t>
            </a:r>
            <a:endParaRPr sz="2400">
              <a:latin typeface="Times New Roman"/>
              <a:cs typeface="Times New Roman"/>
            </a:endParaRPr>
          </a:p>
          <a:p>
            <a:pPr algn="ctr" marL="402590">
              <a:lnSpc>
                <a:spcPct val="100000"/>
              </a:lnSpc>
              <a:spcBef>
                <a:spcPts val="15"/>
              </a:spcBef>
              <a:tabLst>
                <a:tab pos="1006475" algn="l"/>
              </a:tabLst>
            </a:pPr>
            <a:r>
              <a:rPr dirty="0" sz="2050">
                <a:latin typeface="Cambria Math"/>
                <a:cs typeface="Cambria Math"/>
              </a:rPr>
              <a:t>𝑇</a:t>
            </a:r>
            <a:r>
              <a:rPr dirty="0" sz="2050" spc="425">
                <a:latin typeface="Cambria Math"/>
                <a:cs typeface="Cambria Math"/>
              </a:rPr>
              <a:t> </a:t>
            </a:r>
            <a:r>
              <a:rPr dirty="0" sz="2050" spc="-50">
                <a:latin typeface="Cambria Math"/>
                <a:cs typeface="Cambria Math"/>
              </a:rPr>
              <a:t>𝑛</a:t>
            </a:r>
            <a:r>
              <a:rPr dirty="0" sz="2050">
                <a:latin typeface="Cambria Math"/>
                <a:cs typeface="Cambria Math"/>
              </a:rPr>
              <a:t>	=</a:t>
            </a:r>
            <a:r>
              <a:rPr dirty="0" sz="2050" spc="110">
                <a:latin typeface="Cambria Math"/>
                <a:cs typeface="Cambria Math"/>
              </a:rPr>
              <a:t> </a:t>
            </a:r>
            <a:r>
              <a:rPr dirty="0" sz="2050">
                <a:latin typeface="Cambria Math"/>
                <a:cs typeface="Cambria Math"/>
              </a:rPr>
              <a:t>𝑂</a:t>
            </a:r>
            <a:r>
              <a:rPr dirty="0" sz="2050" spc="425">
                <a:latin typeface="Cambria Math"/>
                <a:cs typeface="Cambria Math"/>
              </a:rPr>
              <a:t> </a:t>
            </a:r>
            <a:r>
              <a:rPr dirty="0" sz="2050" spc="-50">
                <a:latin typeface="Cambria Math"/>
                <a:cs typeface="Cambria Math"/>
              </a:rPr>
              <a:t>𝑛</a:t>
            </a:r>
            <a:endParaRPr sz="2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50" spc="-10">
                <a:latin typeface="Times New Roman"/>
                <a:cs typeface="Times New Roman"/>
              </a:rPr>
              <a:t>Where: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08330" algn="l"/>
              </a:tabLst>
            </a:pPr>
            <a:r>
              <a:rPr dirty="0" sz="2050">
                <a:latin typeface="Cambria Math"/>
                <a:cs typeface="Cambria Math"/>
              </a:rPr>
              <a:t>𝑇</a:t>
            </a:r>
            <a:r>
              <a:rPr dirty="0" sz="2050" spc="425">
                <a:latin typeface="Cambria Math"/>
                <a:cs typeface="Cambria Math"/>
              </a:rPr>
              <a:t> </a:t>
            </a:r>
            <a:r>
              <a:rPr dirty="0" sz="2050" spc="-50">
                <a:latin typeface="Cambria Math"/>
                <a:cs typeface="Cambria Math"/>
              </a:rPr>
              <a:t>𝑛</a:t>
            </a:r>
            <a:r>
              <a:rPr dirty="0" sz="2050">
                <a:latin typeface="Cambria Math"/>
                <a:cs typeface="Cambria Math"/>
              </a:rPr>
              <a:t>	</a:t>
            </a:r>
            <a:r>
              <a:rPr dirty="0" sz="2050">
                <a:latin typeface="Times New Roman"/>
                <a:cs typeface="Times New Roman"/>
              </a:rPr>
              <a:t>=Processing</a:t>
            </a:r>
            <a:r>
              <a:rPr dirty="0" sz="2050" spc="-8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time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>
                <a:latin typeface="Cambria Math"/>
                <a:cs typeface="Cambria Math"/>
              </a:rPr>
              <a:t>𝑛</a:t>
            </a:r>
            <a:r>
              <a:rPr dirty="0" sz="2050">
                <a:latin typeface="Times New Roman"/>
                <a:cs typeface="Times New Roman"/>
              </a:rPr>
              <a:t>=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Length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sequence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Mechanism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8929" y="1500886"/>
            <a:ext cx="9786620" cy="4637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latin typeface="Times New Roman"/>
                <a:cs typeface="Times New Roman"/>
              </a:rPr>
              <a:t>The  proposed  system</a:t>
            </a:r>
            <a:r>
              <a:rPr dirty="0" sz="2050" spc="509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uses</a:t>
            </a:r>
            <a:r>
              <a:rPr dirty="0" sz="2050" spc="50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  Mamba</a:t>
            </a:r>
            <a:r>
              <a:rPr dirty="0" sz="2050" spc="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architecture</a:t>
            </a:r>
            <a:r>
              <a:rPr dirty="0" sz="2050" spc="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classify</a:t>
            </a:r>
            <a:r>
              <a:rPr dirty="0" sz="2050" spc="1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509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signals</a:t>
            </a:r>
            <a:r>
              <a:rPr dirty="0" sz="2050" spc="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5">
                <a:latin typeface="Times New Roman"/>
                <a:cs typeface="Times New Roman"/>
              </a:rPr>
              <a:t>  </a:t>
            </a:r>
            <a:r>
              <a:rPr dirty="0" sz="2050" spc="-10">
                <a:latin typeface="Times New Roman"/>
                <a:cs typeface="Times New Roman"/>
              </a:rPr>
              <a:t>detect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9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efficiently.</a:t>
            </a:r>
            <a:r>
              <a:rPr dirty="0" sz="2050" spc="9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8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data</a:t>
            </a:r>
            <a:r>
              <a:rPr dirty="0" sz="2050" spc="8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9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collected</a:t>
            </a:r>
            <a:r>
              <a:rPr dirty="0" sz="2050" spc="9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9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datasets</a:t>
            </a:r>
            <a:r>
              <a:rPr dirty="0" sz="2050" spc="9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or</a:t>
            </a:r>
            <a:r>
              <a:rPr dirty="0" sz="2050" spc="8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9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devices</a:t>
            </a:r>
            <a:r>
              <a:rPr dirty="0" sz="2050" spc="90">
                <a:latin typeface="Times New Roman"/>
                <a:cs typeface="Times New Roman"/>
              </a:rPr>
              <a:t>  </a:t>
            </a:r>
            <a:r>
              <a:rPr dirty="0" sz="2050" spc="-25">
                <a:latin typeface="Times New Roman"/>
                <a:cs typeface="Times New Roman"/>
              </a:rPr>
              <a:t>and </a:t>
            </a:r>
            <a:r>
              <a:rPr dirty="0" sz="2050">
                <a:latin typeface="Times New Roman"/>
                <a:cs typeface="Times New Roman"/>
              </a:rPr>
              <a:t>preprocessed</a:t>
            </a:r>
            <a:r>
              <a:rPr dirty="0" sz="2050" spc="3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3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remove</a:t>
            </a:r>
            <a:r>
              <a:rPr dirty="0" sz="2050" spc="3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noise.</a:t>
            </a:r>
            <a:r>
              <a:rPr dirty="0" sz="2050" spc="3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Important</a:t>
            </a:r>
            <a:r>
              <a:rPr dirty="0" sz="2050" spc="3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features</a:t>
            </a:r>
            <a:r>
              <a:rPr dirty="0" sz="2050" spc="3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are</a:t>
            </a:r>
            <a:r>
              <a:rPr dirty="0" sz="2050" spc="3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extracted</a:t>
            </a:r>
            <a:r>
              <a:rPr dirty="0" sz="2050" spc="3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given</a:t>
            </a:r>
            <a:r>
              <a:rPr dirty="0" sz="2050" spc="3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3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3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Mamba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analysis.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 identifies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whether</a:t>
            </a:r>
            <a:r>
              <a:rPr dirty="0" sz="2050" spc="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</a:t>
            </a:r>
            <a:r>
              <a:rPr dirty="0" sz="2050" spc="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normal</a:t>
            </a:r>
            <a:r>
              <a:rPr dirty="0" sz="2050" spc="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or</a:t>
            </a:r>
            <a:r>
              <a:rPr dirty="0" sz="2050" spc="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abnormal</a:t>
            </a:r>
            <a:r>
              <a:rPr dirty="0" sz="2050" spc="25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and </a:t>
            </a:r>
            <a:r>
              <a:rPr dirty="0" sz="2050">
                <a:latin typeface="Times New Roman"/>
                <a:cs typeface="Times New Roman"/>
              </a:rPr>
              <a:t>provides</a:t>
            </a:r>
            <a:r>
              <a:rPr dirty="0" sz="2050" spc="1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result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real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time.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Finally,</a:t>
            </a:r>
            <a:r>
              <a:rPr dirty="0" sz="2050" spc="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1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1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optimized</a:t>
            </a:r>
            <a:r>
              <a:rPr dirty="0" sz="2050" spc="1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1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deployed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devices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continuous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heart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monitoring.</a:t>
            </a:r>
            <a:endParaRPr sz="2050">
              <a:latin typeface="Times New Roman"/>
              <a:cs typeface="Times New Roman"/>
            </a:endParaRPr>
          </a:p>
          <a:p>
            <a:pPr algn="just" marL="50800">
              <a:lnSpc>
                <a:spcPct val="100000"/>
              </a:lnSpc>
              <a:spcBef>
                <a:spcPts val="915"/>
              </a:spcBef>
            </a:pPr>
            <a:r>
              <a:rPr dirty="0" sz="2400" spc="-10" b="1">
                <a:latin typeface="Times New Roman"/>
                <a:cs typeface="Times New Roman"/>
              </a:rPr>
              <a:t>Working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Mechanism:</a:t>
            </a:r>
            <a:endParaRPr sz="2400">
              <a:latin typeface="Times New Roman"/>
              <a:cs typeface="Times New Roman"/>
            </a:endParaRPr>
          </a:p>
          <a:p>
            <a:pPr marL="454025" indent="-350520">
              <a:lnSpc>
                <a:spcPct val="100000"/>
              </a:lnSpc>
              <a:spcBef>
                <a:spcPts val="530"/>
              </a:spcBef>
              <a:buFont typeface="Wingdings"/>
              <a:buChar char=""/>
              <a:tabLst>
                <a:tab pos="454025" algn="l"/>
              </a:tabLst>
            </a:pP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collected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datasets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or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sensors.</a:t>
            </a:r>
            <a:endParaRPr sz="2050">
              <a:latin typeface="Times New Roman"/>
              <a:cs typeface="Times New Roman"/>
            </a:endParaRPr>
          </a:p>
          <a:p>
            <a:pPr marL="454025" indent="-350520">
              <a:lnSpc>
                <a:spcPct val="100000"/>
              </a:lnSpc>
              <a:buFont typeface="Wingdings"/>
              <a:buChar char=""/>
              <a:tabLst>
                <a:tab pos="454025" algn="l"/>
              </a:tabLst>
            </a:pPr>
            <a:r>
              <a:rPr dirty="0" sz="2050">
                <a:latin typeface="Times New Roman"/>
                <a:cs typeface="Times New Roman"/>
              </a:rPr>
              <a:t>Noise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removal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normalization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performed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during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preprocessing.</a:t>
            </a:r>
            <a:endParaRPr sz="2050">
              <a:latin typeface="Times New Roman"/>
              <a:cs typeface="Times New Roman"/>
            </a:endParaRPr>
          </a:p>
          <a:p>
            <a:pPr marL="454025" indent="-350520">
              <a:lnSpc>
                <a:spcPct val="100000"/>
              </a:lnSpc>
              <a:buFont typeface="Wingdings"/>
              <a:buChar char=""/>
              <a:tabLst>
                <a:tab pos="454025" algn="l"/>
              </a:tabLst>
            </a:pPr>
            <a:r>
              <a:rPr dirty="0" sz="2050">
                <a:latin typeface="Times New Roman"/>
                <a:cs typeface="Times New Roman"/>
              </a:rPr>
              <a:t>Important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features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extracted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analysis.</a:t>
            </a:r>
            <a:endParaRPr sz="2050">
              <a:latin typeface="Times New Roman"/>
              <a:cs typeface="Times New Roman"/>
            </a:endParaRPr>
          </a:p>
          <a:p>
            <a:pPr marL="454025" indent="-350520">
              <a:lnSpc>
                <a:spcPct val="100000"/>
              </a:lnSpc>
              <a:buFont typeface="Wingdings"/>
              <a:buChar char=""/>
              <a:tabLst>
                <a:tab pos="454025" algn="l"/>
              </a:tabLst>
            </a:pPr>
            <a:r>
              <a:rPr dirty="0" sz="2050">
                <a:latin typeface="Times New Roman"/>
                <a:cs typeface="Times New Roman"/>
              </a:rPr>
              <a:t>Mamba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architecture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processes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long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sequences</a:t>
            </a:r>
            <a:r>
              <a:rPr dirty="0" sz="2050" spc="-8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efficiently.</a:t>
            </a:r>
            <a:endParaRPr sz="2050">
              <a:latin typeface="Times New Roman"/>
              <a:cs typeface="Times New Roman"/>
            </a:endParaRPr>
          </a:p>
          <a:p>
            <a:pPr marL="454025" indent="-350520">
              <a:lnSpc>
                <a:spcPct val="100000"/>
              </a:lnSpc>
              <a:buFont typeface="Wingdings"/>
              <a:buChar char=""/>
              <a:tabLst>
                <a:tab pos="454025" algn="l"/>
              </a:tabLst>
            </a:pP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generated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real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time.</a:t>
            </a:r>
            <a:endParaRPr sz="2050">
              <a:latin typeface="Times New Roman"/>
              <a:cs typeface="Times New Roman"/>
            </a:endParaRPr>
          </a:p>
          <a:p>
            <a:pPr marL="454025" indent="-35052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454025" algn="l"/>
              </a:tabLst>
            </a:pP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optimized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ONNX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TensorFlow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Lite.</a:t>
            </a:r>
            <a:endParaRPr sz="2050">
              <a:latin typeface="Times New Roman"/>
              <a:cs typeface="Times New Roman"/>
            </a:endParaRPr>
          </a:p>
          <a:p>
            <a:pPr marL="454025" indent="-350520">
              <a:lnSpc>
                <a:spcPct val="100000"/>
              </a:lnSpc>
              <a:buFont typeface="Wingdings"/>
              <a:buChar char=""/>
              <a:tabLst>
                <a:tab pos="454025" algn="l"/>
              </a:tabLst>
            </a:pPr>
            <a:r>
              <a:rPr dirty="0" sz="2050">
                <a:latin typeface="Times New Roman"/>
                <a:cs typeface="Times New Roman"/>
              </a:rPr>
              <a:t>Optimized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deployed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devices.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37057"/>
            <a:ext cx="10693400" cy="60366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163" y="742950"/>
            <a:ext cx="14128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Modules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38657" y="1431983"/>
            <a:ext cx="6087745" cy="444690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400" b="1">
                <a:latin typeface="Times New Roman"/>
                <a:cs typeface="Times New Roman"/>
              </a:rPr>
              <a:t>ECG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Module: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Collect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signals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datasets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or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10">
                <a:latin typeface="Times New Roman"/>
                <a:cs typeface="Times New Roman"/>
              </a:rPr>
              <a:t> sensors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Store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sequence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data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1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processing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Manage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input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analysis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2400" spc="-10" b="1">
                <a:latin typeface="Times New Roman"/>
                <a:cs typeface="Times New Roman"/>
              </a:rPr>
              <a:t>Preprocessing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Module: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Remove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noise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signals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Normalize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data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Prepare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signals</a:t>
            </a:r>
            <a:r>
              <a:rPr dirty="0" sz="2050" spc="-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feature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extraction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2400" b="1">
                <a:latin typeface="Times New Roman"/>
                <a:cs typeface="Times New Roman"/>
              </a:rPr>
              <a:t>Mamba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Model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Module: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Process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long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sequences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efficiently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Extract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temporal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dependencies</a:t>
            </a:r>
            <a:r>
              <a:rPr dirty="0" sz="2050" spc="-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signals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Perform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-8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classification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80542"/>
            <a:ext cx="10693400" cy="60366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163" y="742950"/>
            <a:ext cx="14128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Modules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67918" y="1463853"/>
            <a:ext cx="6126480" cy="324294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2400" b="1">
                <a:latin typeface="Times New Roman"/>
                <a:cs typeface="Times New Roman"/>
              </a:rPr>
              <a:t>Optimization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Module: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Convert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ONNX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Optimize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with</a:t>
            </a:r>
            <a:r>
              <a:rPr dirty="0" sz="2050" spc="-9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TensorFlow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Lite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Reduce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size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improve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inference</a:t>
            </a:r>
            <a:r>
              <a:rPr dirty="0" sz="2050" spc="-10">
                <a:latin typeface="Times New Roman"/>
                <a:cs typeface="Times New Roman"/>
              </a:rPr>
              <a:t> speed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89"/>
              </a:spcBef>
            </a:pPr>
            <a:r>
              <a:rPr dirty="0" sz="2400" spc="-10" b="1">
                <a:latin typeface="Times New Roman"/>
                <a:cs typeface="Times New Roman"/>
              </a:rPr>
              <a:t>Wearable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Deployment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Module: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Deploy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optimized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devices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Enable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real-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heart</a:t>
            </a:r>
            <a:r>
              <a:rPr dirty="0" sz="2050" spc="-10">
                <a:latin typeface="Times New Roman"/>
                <a:cs typeface="Times New Roman"/>
              </a:rPr>
              <a:t> monitoring</a:t>
            </a: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Generate</a:t>
            </a:r>
            <a:r>
              <a:rPr dirty="0" sz="2050" spc="-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-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results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continuously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Block</a:t>
            </a:r>
            <a:r>
              <a:rPr dirty="0" spc="-100"/>
              <a:t> </a:t>
            </a:r>
            <a:r>
              <a:rPr dirty="0" spc="-10"/>
              <a:t>Diagram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00" y="1370330"/>
            <a:ext cx="8153400" cy="48159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UML</a:t>
            </a:r>
            <a:r>
              <a:rPr dirty="0" spc="-175"/>
              <a:t> </a:t>
            </a:r>
            <a:r>
              <a:rPr dirty="0" spc="-10"/>
              <a:t>Diagram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550" y="1361948"/>
            <a:ext cx="8496300" cy="48327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</a:t>
            </a:r>
            <a:r>
              <a:rPr dirty="0" spc="-85"/>
              <a:t> </a:t>
            </a:r>
            <a:r>
              <a:rPr dirty="0"/>
              <a:t>/</a:t>
            </a:r>
            <a:r>
              <a:rPr dirty="0" spc="-95"/>
              <a:t> </a:t>
            </a:r>
            <a:r>
              <a:rPr dirty="0" spc="-10"/>
              <a:t>Screenshot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49090" y="5906262"/>
            <a:ext cx="2394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Figure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1,2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Home</a:t>
            </a:r>
            <a:r>
              <a:rPr dirty="0" sz="1800" spc="-10">
                <a:latin typeface="Times New Roman"/>
                <a:cs typeface="Times New Roman"/>
              </a:rPr>
              <a:t> Screen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136900" y="1492250"/>
            <a:ext cx="4267200" cy="4267200"/>
            <a:chOff x="3136900" y="1492250"/>
            <a:chExt cx="4267200" cy="42672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6900" y="1492250"/>
              <a:ext cx="1991614" cy="42672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1977" y="1492250"/>
              <a:ext cx="1992122" cy="426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</a:t>
            </a:r>
            <a:r>
              <a:rPr dirty="0" spc="-85"/>
              <a:t> </a:t>
            </a:r>
            <a:r>
              <a:rPr dirty="0"/>
              <a:t>/</a:t>
            </a:r>
            <a:r>
              <a:rPr dirty="0" spc="-95"/>
              <a:t> </a:t>
            </a:r>
            <a:r>
              <a:rPr dirty="0" spc="-10"/>
              <a:t>Screenshot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75941" y="5873877"/>
            <a:ext cx="54698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Figure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3,4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ECG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Monitoring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Screen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(Normal,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Arrhythmia)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130804" y="1416050"/>
            <a:ext cx="4431665" cy="4271010"/>
            <a:chOff x="3130804" y="1416050"/>
            <a:chExt cx="4431665" cy="42710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0804" y="1416050"/>
              <a:ext cx="2024252" cy="427101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8216" y="1416050"/>
              <a:ext cx="2024253" cy="42710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</a:t>
            </a:r>
            <a:r>
              <a:rPr dirty="0" spc="-85"/>
              <a:t> </a:t>
            </a:r>
            <a:r>
              <a:rPr dirty="0"/>
              <a:t>/</a:t>
            </a:r>
            <a:r>
              <a:rPr dirty="0" spc="-95"/>
              <a:t> </a:t>
            </a:r>
            <a:r>
              <a:rPr dirty="0" spc="-10"/>
              <a:t>Screenshot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94864" y="5862320"/>
            <a:ext cx="5504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Figure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5,6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Wearable </a:t>
            </a:r>
            <a:r>
              <a:rPr dirty="0" sz="1800">
                <a:latin typeface="Times New Roman"/>
                <a:cs typeface="Times New Roman"/>
              </a:rPr>
              <a:t>Output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Screen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(Normal,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Arrhythmia)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993900" y="1949450"/>
            <a:ext cx="6477000" cy="3429000"/>
            <a:chOff x="1993900" y="1949450"/>
            <a:chExt cx="6477000" cy="34290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3900" y="1949450"/>
              <a:ext cx="3680460" cy="33528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1900" y="1949450"/>
              <a:ext cx="3429000" cy="3429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Future</a:t>
            </a:r>
            <a:r>
              <a:rPr dirty="0" spc="-145"/>
              <a:t> </a:t>
            </a:r>
            <a:r>
              <a:rPr dirty="0" spc="-10"/>
              <a:t>Enhancements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7197" y="1545463"/>
            <a:ext cx="9921875" cy="4249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Multi-</a:t>
            </a:r>
            <a:r>
              <a:rPr dirty="0" sz="2400" spc="-15" b="1">
                <a:latin typeface="Times New Roman"/>
                <a:cs typeface="Times New Roman"/>
              </a:rPr>
              <a:t>Class</a:t>
            </a:r>
            <a:r>
              <a:rPr dirty="0" sz="2400" spc="-1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Arrhythmia</a:t>
            </a:r>
            <a:r>
              <a:rPr dirty="0" sz="2400" spc="-114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  <a:p>
            <a:pPr algn="just" marL="12700" marR="5715" indent="325755">
              <a:lnSpc>
                <a:spcPct val="100000"/>
              </a:lnSpc>
              <a:spcBef>
                <a:spcPts val="15"/>
              </a:spcBef>
            </a:pPr>
            <a:r>
              <a:rPr dirty="0" sz="2050">
                <a:latin typeface="Times New Roman"/>
                <a:cs typeface="Times New Roman"/>
              </a:rPr>
              <a:t>Currently,</a:t>
            </a:r>
            <a:r>
              <a:rPr dirty="0" sz="2050" spc="2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2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focuses</a:t>
            </a:r>
            <a:r>
              <a:rPr dirty="0" sz="2050" spc="2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2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basic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2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such</a:t>
            </a:r>
            <a:r>
              <a:rPr dirty="0" sz="2050" spc="2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as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normal</a:t>
            </a:r>
            <a:r>
              <a:rPr dirty="0" sz="2050" spc="2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2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arrhythmia.</a:t>
            </a:r>
            <a:r>
              <a:rPr dirty="0" sz="2050" spc="270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In </a:t>
            </a:r>
            <a:r>
              <a:rPr dirty="0" sz="2050">
                <a:latin typeface="Times New Roman"/>
                <a:cs typeface="Times New Roman"/>
              </a:rPr>
              <a:t>future,</a:t>
            </a:r>
            <a:r>
              <a:rPr dirty="0" sz="2050" spc="2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it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can</a:t>
            </a:r>
            <a:r>
              <a:rPr dirty="0" sz="2050" spc="1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be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enhanced</a:t>
            </a:r>
            <a:r>
              <a:rPr dirty="0" sz="2050" spc="2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1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detect</a:t>
            </a:r>
            <a:r>
              <a:rPr dirty="0" sz="2050" spc="2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multiple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types</a:t>
            </a:r>
            <a:r>
              <a:rPr dirty="0" sz="2050" spc="1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1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arrhythmias</a:t>
            </a:r>
            <a:r>
              <a:rPr dirty="0" sz="2050" spc="2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such</a:t>
            </a:r>
            <a:r>
              <a:rPr dirty="0" sz="2050" spc="2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as</a:t>
            </a:r>
            <a:r>
              <a:rPr dirty="0" sz="2050" spc="1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atrial</a:t>
            </a:r>
            <a:r>
              <a:rPr dirty="0" sz="2050" spc="21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fibrillation, </a:t>
            </a:r>
            <a:r>
              <a:rPr dirty="0" sz="2050">
                <a:latin typeface="Times New Roman"/>
                <a:cs typeface="Times New Roman"/>
              </a:rPr>
              <a:t>ventricular</a:t>
            </a:r>
            <a:r>
              <a:rPr dirty="0" sz="2050" spc="12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tachycardia,</a:t>
            </a:r>
            <a:r>
              <a:rPr dirty="0" sz="2050" spc="1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12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other</a:t>
            </a:r>
            <a:r>
              <a:rPr dirty="0" sz="2050" spc="13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cardiac</a:t>
            </a:r>
            <a:r>
              <a:rPr dirty="0" sz="2050" spc="13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abnormalities.</a:t>
            </a:r>
            <a:r>
              <a:rPr dirty="0" sz="2050" spc="12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This</a:t>
            </a:r>
            <a:r>
              <a:rPr dirty="0" sz="2050" spc="13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will</a:t>
            </a:r>
            <a:r>
              <a:rPr dirty="0" sz="2050" spc="12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improve</a:t>
            </a:r>
            <a:r>
              <a:rPr dirty="0" sz="2050" spc="130">
                <a:latin typeface="Times New Roman"/>
                <a:cs typeface="Times New Roman"/>
              </a:rPr>
              <a:t>  </a:t>
            </a:r>
            <a:r>
              <a:rPr dirty="0" sz="2050" spc="-10">
                <a:latin typeface="Times New Roman"/>
                <a:cs typeface="Times New Roman"/>
              </a:rPr>
              <a:t>diagnostic </a:t>
            </a:r>
            <a:r>
              <a:rPr dirty="0" sz="2050">
                <a:latin typeface="Times New Roman"/>
                <a:cs typeface="Times New Roman"/>
              </a:rPr>
              <a:t>capability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provide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more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detailed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medical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insights.</a:t>
            </a:r>
            <a:endParaRPr sz="2050">
              <a:latin typeface="Times New Roman"/>
              <a:cs typeface="Times New Roman"/>
            </a:endParaRPr>
          </a:p>
          <a:p>
            <a:pPr algn="just" marL="354965" indent="-342265">
              <a:lnSpc>
                <a:spcPts val="287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400" spc="-20" b="1">
                <a:latin typeface="Times New Roman"/>
                <a:cs typeface="Times New Roman"/>
              </a:rPr>
              <a:t>AI-Based</a:t>
            </a:r>
            <a:r>
              <a:rPr dirty="0" sz="2400" spc="-1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Alert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Notification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  <a:p>
            <a:pPr algn="just" marL="12700" marR="7620" indent="312420">
              <a:lnSpc>
                <a:spcPct val="100000"/>
              </a:lnSpc>
              <a:spcBef>
                <a:spcPts val="10"/>
              </a:spcBef>
            </a:pPr>
            <a:r>
              <a:rPr dirty="0" sz="2050">
                <a:latin typeface="Times New Roman"/>
                <a:cs typeface="Times New Roman"/>
              </a:rPr>
              <a:t>An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intelligent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alert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can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be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implemented</a:t>
            </a:r>
            <a:r>
              <a:rPr dirty="0" sz="2050" spc="1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notify</a:t>
            </a:r>
            <a:r>
              <a:rPr dirty="0" sz="2050" spc="1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users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or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doctors</a:t>
            </a:r>
            <a:r>
              <a:rPr dirty="0" sz="2050" spc="1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when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abnormal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22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patterns</a:t>
            </a:r>
            <a:r>
              <a:rPr dirty="0" sz="2050" spc="229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are</a:t>
            </a:r>
            <a:r>
              <a:rPr dirty="0" sz="2050" spc="229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detected.</a:t>
            </a:r>
            <a:r>
              <a:rPr dirty="0" sz="2050" spc="2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This</a:t>
            </a:r>
            <a:r>
              <a:rPr dirty="0" sz="2050" spc="229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feature</a:t>
            </a:r>
            <a:r>
              <a:rPr dirty="0" sz="2050" spc="2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can</a:t>
            </a:r>
            <a:r>
              <a:rPr dirty="0" sz="2050" spc="229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provide</a:t>
            </a:r>
            <a:r>
              <a:rPr dirty="0" sz="2050" spc="2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instant</a:t>
            </a:r>
            <a:r>
              <a:rPr dirty="0" sz="2050" spc="229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alerts</a:t>
            </a:r>
            <a:r>
              <a:rPr dirty="0" sz="2050" spc="23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through</a:t>
            </a:r>
            <a:r>
              <a:rPr dirty="0" sz="2050" spc="220">
                <a:latin typeface="Times New Roman"/>
                <a:cs typeface="Times New Roman"/>
              </a:rPr>
              <a:t>  </a:t>
            </a:r>
            <a:r>
              <a:rPr dirty="0" sz="2050" spc="-10">
                <a:latin typeface="Times New Roman"/>
                <a:cs typeface="Times New Roman"/>
              </a:rPr>
              <a:t>mobile </a:t>
            </a:r>
            <a:r>
              <a:rPr dirty="0" sz="2050">
                <a:latin typeface="Times New Roman"/>
                <a:cs typeface="Times New Roman"/>
              </a:rPr>
              <a:t>notifications,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helping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emergency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situations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early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intervention.</a:t>
            </a:r>
            <a:endParaRPr sz="2050">
              <a:latin typeface="Times New Roman"/>
              <a:cs typeface="Times New Roman"/>
            </a:endParaRPr>
          </a:p>
          <a:p>
            <a:pPr algn="just" marL="354965" indent="-342265">
              <a:lnSpc>
                <a:spcPts val="287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Model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Optimization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Edge</a:t>
            </a:r>
            <a:r>
              <a:rPr dirty="0" sz="2400" spc="-1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AI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Improvements</a:t>
            </a:r>
            <a:endParaRPr sz="2400">
              <a:latin typeface="Times New Roman"/>
              <a:cs typeface="Times New Roman"/>
            </a:endParaRPr>
          </a:p>
          <a:p>
            <a:pPr algn="just" marL="12700" marR="5080" indent="325755">
              <a:lnSpc>
                <a:spcPct val="100000"/>
              </a:lnSpc>
              <a:spcBef>
                <a:spcPts val="15"/>
              </a:spcBef>
            </a:pPr>
            <a:r>
              <a:rPr dirty="0" sz="2050">
                <a:latin typeface="Times New Roman"/>
                <a:cs typeface="Times New Roman"/>
              </a:rPr>
              <a:t>Further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optimization</a:t>
            </a:r>
            <a:r>
              <a:rPr dirty="0" sz="2050" spc="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techniques</a:t>
            </a:r>
            <a:r>
              <a:rPr dirty="0" sz="2050" spc="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such</a:t>
            </a:r>
            <a:r>
              <a:rPr dirty="0" sz="2050" spc="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as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advanced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quantization</a:t>
            </a:r>
            <a:r>
              <a:rPr dirty="0" sz="2050" spc="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pruning</a:t>
            </a:r>
            <a:r>
              <a:rPr dirty="0" sz="2050" spc="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can</a:t>
            </a:r>
            <a:r>
              <a:rPr dirty="0" sz="2050" spc="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be</a:t>
            </a:r>
            <a:r>
              <a:rPr dirty="0" sz="2050" spc="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applied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1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reduce</a:t>
            </a:r>
            <a:r>
              <a:rPr dirty="0" sz="2050" spc="2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</a:t>
            </a:r>
            <a:r>
              <a:rPr dirty="0" sz="2050" spc="2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size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improve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efficiency.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This</a:t>
            </a:r>
            <a:r>
              <a:rPr dirty="0" sz="2050" spc="2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will</a:t>
            </a:r>
            <a:r>
              <a:rPr dirty="0" sz="2050" spc="2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enhance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performance</a:t>
            </a:r>
            <a:r>
              <a:rPr dirty="0" sz="2050" spc="1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204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low-power </a:t>
            </a:r>
            <a:r>
              <a:rPr dirty="0" sz="2050">
                <a:latin typeface="Times New Roman"/>
                <a:cs typeface="Times New Roman"/>
              </a:rPr>
              <a:t>devices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extend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battery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life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wearable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systems.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163" y="773684"/>
            <a:ext cx="18319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7197" y="1726819"/>
            <a:ext cx="9924415" cy="331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This project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presents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efficient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arrhythmia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classification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>
                <a:latin typeface="Times New Roman"/>
                <a:cs typeface="Times New Roman"/>
              </a:rPr>
              <a:t>Mamba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architecture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processing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long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sequences.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proposed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 </a:t>
            </a:r>
            <a:r>
              <a:rPr dirty="0" sz="2400">
                <a:latin typeface="Times New Roman"/>
                <a:cs typeface="Times New Roman"/>
              </a:rPr>
              <a:t>reduces</a:t>
            </a:r>
            <a:r>
              <a:rPr dirty="0" sz="2400" spc="4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computational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complexity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4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faster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inference</a:t>
            </a:r>
            <a:r>
              <a:rPr dirty="0" sz="2400" spc="4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compared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to </a:t>
            </a:r>
            <a:r>
              <a:rPr dirty="0" sz="2400">
                <a:latin typeface="Times New Roman"/>
                <a:cs typeface="Times New Roman"/>
              </a:rPr>
              <a:t>traditional</a:t>
            </a:r>
            <a:r>
              <a:rPr dirty="0" sz="2400" spc="545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Transformer-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5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models.</a:t>
            </a:r>
            <a:r>
              <a:rPr dirty="0" sz="2400" spc="55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55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5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preprocessing,</a:t>
            </a:r>
            <a:r>
              <a:rPr dirty="0" sz="2400" spc="53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feature </a:t>
            </a:r>
            <a:r>
              <a:rPr dirty="0" sz="2400">
                <a:latin typeface="Times New Roman"/>
                <a:cs typeface="Times New Roman"/>
              </a:rPr>
              <a:t>extraction,</a:t>
            </a:r>
            <a:r>
              <a:rPr dirty="0" sz="2400" spc="2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7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linear-</a:t>
            </a:r>
            <a:r>
              <a:rPr dirty="0" sz="2400">
                <a:latin typeface="Times New Roman"/>
                <a:cs typeface="Times New Roman"/>
              </a:rPr>
              <a:t>time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2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modeling,</a:t>
            </a:r>
            <a:r>
              <a:rPr dirty="0" sz="2400" spc="2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2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accurately</a:t>
            </a:r>
            <a:r>
              <a:rPr dirty="0" sz="2400" spc="2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classifies </a:t>
            </a:r>
            <a:r>
              <a:rPr dirty="0" sz="2400">
                <a:latin typeface="Times New Roman"/>
                <a:cs typeface="Times New Roman"/>
              </a:rPr>
              <a:t>ECG</a:t>
            </a:r>
            <a:r>
              <a:rPr dirty="0" sz="2400" spc="45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signals</a:t>
            </a:r>
            <a:r>
              <a:rPr dirty="0" sz="2400" spc="4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real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time.</a:t>
            </a:r>
            <a:r>
              <a:rPr dirty="0" sz="2400" spc="4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</a:t>
            </a:r>
            <a:r>
              <a:rPr dirty="0" sz="2400" spc="4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further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optimized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ONNX</a:t>
            </a:r>
            <a:r>
              <a:rPr dirty="0" sz="2400" spc="47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TensorFlow</a:t>
            </a:r>
            <a:r>
              <a:rPr dirty="0" sz="2400" spc="2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Lite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deployment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2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wearable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healthcare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devices.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Thus,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>
                <a:latin typeface="Times New Roman"/>
                <a:cs typeface="Times New Roman"/>
              </a:rPr>
              <a:t>proposed</a:t>
            </a:r>
            <a:r>
              <a:rPr dirty="0" sz="2400" spc="13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approach</a:t>
            </a:r>
            <a:r>
              <a:rPr dirty="0" sz="2400" spc="13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13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3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fast,</a:t>
            </a:r>
            <a:r>
              <a:rPr dirty="0" sz="2400" spc="13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lightweight,</a:t>
            </a:r>
            <a:r>
              <a:rPr dirty="0" sz="2400" spc="14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13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efficient</a:t>
            </a:r>
            <a:r>
              <a:rPr dirty="0" sz="2400" spc="13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solution</a:t>
            </a:r>
            <a:r>
              <a:rPr dirty="0" sz="2400" spc="140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for </a:t>
            </a:r>
            <a:r>
              <a:rPr dirty="0" sz="2400">
                <a:latin typeface="Times New Roman"/>
                <a:cs typeface="Times New Roman"/>
              </a:rPr>
              <a:t>continuous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heart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monitoring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applications.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54" y="730313"/>
            <a:ext cx="10680065" cy="60538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References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61238" y="1546352"/>
            <a:ext cx="9573260" cy="40881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4965" marR="6985" indent="-3429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Jiang,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H.,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Mutahira,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H.,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Wei,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S.,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Muhammad,</a:t>
            </a:r>
            <a:r>
              <a:rPr dirty="0" sz="2050" spc="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(2025)</a:t>
            </a:r>
            <a:r>
              <a:rPr dirty="0" sz="2050" spc="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‘ECG-</a:t>
            </a:r>
            <a:r>
              <a:rPr dirty="0" sz="2050">
                <a:latin typeface="Times New Roman"/>
                <a:cs typeface="Times New Roman"/>
              </a:rPr>
              <a:t>Mamba:</a:t>
            </a:r>
            <a:r>
              <a:rPr dirty="0" sz="2050" spc="4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Cardiac </a:t>
            </a:r>
            <a:r>
              <a:rPr dirty="0" sz="2050">
                <a:latin typeface="Times New Roman"/>
                <a:cs typeface="Times New Roman"/>
              </a:rPr>
              <a:t>Abnormality</a:t>
            </a:r>
            <a:r>
              <a:rPr dirty="0" sz="2050" spc="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With</a:t>
            </a:r>
            <a:r>
              <a:rPr dirty="0" sz="2050" spc="8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Non-Uniform-</a:t>
            </a:r>
            <a:r>
              <a:rPr dirty="0" sz="2050">
                <a:latin typeface="Times New Roman"/>
                <a:cs typeface="Times New Roman"/>
              </a:rPr>
              <a:t>Mix</a:t>
            </a:r>
            <a:r>
              <a:rPr dirty="0" sz="2050" spc="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Augmentation</a:t>
            </a:r>
            <a:r>
              <a:rPr dirty="0" sz="2050" spc="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12-Lead</a:t>
            </a:r>
            <a:r>
              <a:rPr dirty="0" sz="2050" spc="7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ECGs’, </a:t>
            </a:r>
            <a:r>
              <a:rPr dirty="0" sz="2050">
                <a:latin typeface="Times New Roman"/>
                <a:cs typeface="Times New Roman"/>
              </a:rPr>
              <a:t>IEEE</a:t>
            </a:r>
            <a:r>
              <a:rPr dirty="0" sz="2050" spc="2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Journal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Translational</a:t>
            </a:r>
            <a:r>
              <a:rPr dirty="0" sz="2050" spc="2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Engineering</a:t>
            </a:r>
            <a:r>
              <a:rPr dirty="0" sz="2050" spc="2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2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Health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2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Medicine,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Vol.13,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pp.461– </a:t>
            </a:r>
            <a:r>
              <a:rPr dirty="0" sz="2050" spc="-20">
                <a:latin typeface="Times New Roman"/>
                <a:cs typeface="Times New Roman"/>
              </a:rPr>
              <a:t>469.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algn="just" marL="354965" marR="5080" indent="-342900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Qureshi,</a:t>
            </a:r>
            <a:r>
              <a:rPr dirty="0" sz="2050" spc="3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</a:t>
            </a:r>
            <a:r>
              <a:rPr dirty="0" sz="2050" spc="3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D.</a:t>
            </a:r>
            <a:r>
              <a:rPr dirty="0" sz="2050" spc="3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M.,</a:t>
            </a:r>
            <a:r>
              <a:rPr dirty="0" sz="2050" spc="3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Mumtaz,</a:t>
            </a:r>
            <a:r>
              <a:rPr dirty="0" sz="2050" spc="3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R.,</a:t>
            </a:r>
            <a:r>
              <a:rPr dirty="0" sz="2050" spc="3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</a:t>
            </a:r>
            <a:r>
              <a:rPr dirty="0" sz="2050" spc="3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Waele,</a:t>
            </a:r>
            <a:r>
              <a:rPr dirty="0" sz="2050" spc="3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T.,</a:t>
            </a:r>
            <a:r>
              <a:rPr dirty="0" sz="2050" spc="3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Peralta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Camara,</a:t>
            </a:r>
            <a:r>
              <a:rPr dirty="0" sz="2050" spc="3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D.,</a:t>
            </a:r>
            <a:r>
              <a:rPr dirty="0" sz="2050" spc="3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Shahid,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A.,</a:t>
            </a:r>
            <a:r>
              <a:rPr dirty="0" sz="2050" spc="320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De </a:t>
            </a:r>
            <a:r>
              <a:rPr dirty="0" sz="2050">
                <a:latin typeface="Times New Roman"/>
                <a:cs typeface="Times New Roman"/>
              </a:rPr>
              <a:t>Poorter,</a:t>
            </a:r>
            <a:r>
              <a:rPr dirty="0" sz="2050" spc="2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E.,</a:t>
            </a:r>
            <a:r>
              <a:rPr dirty="0" sz="2050" spc="2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2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Moerman,</a:t>
            </a:r>
            <a:r>
              <a:rPr dirty="0" sz="2050" spc="2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I.</a:t>
            </a:r>
            <a:r>
              <a:rPr dirty="0" sz="2050" spc="2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(2022)</a:t>
            </a:r>
            <a:r>
              <a:rPr dirty="0" sz="2050" spc="2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‘Multiclass</a:t>
            </a:r>
            <a:r>
              <a:rPr dirty="0" sz="2050" spc="2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Heartbeat</a:t>
            </a:r>
            <a:r>
              <a:rPr dirty="0" sz="2050" spc="2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2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285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ECG </a:t>
            </a:r>
            <a:r>
              <a:rPr dirty="0" sz="2050">
                <a:latin typeface="Times New Roman"/>
                <a:cs typeface="Times New Roman"/>
              </a:rPr>
              <a:t>Signals</a:t>
            </a:r>
            <a:r>
              <a:rPr dirty="0" sz="2050" spc="2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2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Convolutional</a:t>
            </a:r>
            <a:r>
              <a:rPr dirty="0" sz="2050" spc="2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Neural</a:t>
            </a:r>
            <a:r>
              <a:rPr dirty="0" sz="2050" spc="3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Networks’,</a:t>
            </a:r>
            <a:r>
              <a:rPr dirty="0" sz="2050" spc="2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2022</a:t>
            </a:r>
            <a:r>
              <a:rPr dirty="0" sz="2050" spc="2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2nd</a:t>
            </a:r>
            <a:r>
              <a:rPr dirty="0" sz="2050" spc="30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International</a:t>
            </a:r>
            <a:r>
              <a:rPr dirty="0" sz="2050" spc="3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Conference</a:t>
            </a:r>
            <a:r>
              <a:rPr dirty="0" sz="2050" spc="305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on </a:t>
            </a:r>
            <a:r>
              <a:rPr dirty="0" sz="2050">
                <a:latin typeface="Times New Roman"/>
                <a:cs typeface="Times New Roman"/>
              </a:rPr>
              <a:t>Digital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Futures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8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Transformative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Technologies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(ICoDT2),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pp.1–6.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algn="just" marL="354965" marR="5080" indent="-342900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Tesfai,</a:t>
            </a:r>
            <a:r>
              <a:rPr dirty="0" sz="2050" spc="11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H.,</a:t>
            </a:r>
            <a:r>
              <a:rPr dirty="0" sz="2050" spc="1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Saleh,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H.,</a:t>
            </a:r>
            <a:r>
              <a:rPr dirty="0" sz="2050" spc="10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Al-</a:t>
            </a:r>
            <a:r>
              <a:rPr dirty="0" sz="2050">
                <a:latin typeface="Times New Roman"/>
                <a:cs typeface="Times New Roman"/>
              </a:rPr>
              <a:t>Qutayri,</a:t>
            </a:r>
            <a:r>
              <a:rPr dirty="0" sz="2050" spc="1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M.,</a:t>
            </a:r>
            <a:r>
              <a:rPr dirty="0" sz="2050" spc="11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Mohammad,</a:t>
            </a:r>
            <a:r>
              <a:rPr dirty="0" sz="2050" spc="1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B.,</a:t>
            </a:r>
            <a:r>
              <a:rPr dirty="0" sz="2050" spc="11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Tekeste,</a:t>
            </a:r>
            <a:r>
              <a:rPr dirty="0" sz="2050" spc="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T.,</a:t>
            </a:r>
            <a:r>
              <a:rPr dirty="0" sz="2050" spc="10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Khandoker,</a:t>
            </a:r>
            <a:r>
              <a:rPr dirty="0" sz="2050" spc="120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A.,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9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Mohammad,</a:t>
            </a:r>
            <a:r>
              <a:rPr dirty="0" sz="2050" spc="9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B.</a:t>
            </a:r>
            <a:r>
              <a:rPr dirty="0" sz="2050" spc="8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(2022)</a:t>
            </a:r>
            <a:r>
              <a:rPr dirty="0" sz="2050" spc="7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‘Lightweight</a:t>
            </a:r>
            <a:r>
              <a:rPr dirty="0" sz="2050" spc="85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Shufflenet</a:t>
            </a:r>
            <a:r>
              <a:rPr dirty="0" sz="2050" spc="9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Based</a:t>
            </a:r>
            <a:r>
              <a:rPr dirty="0" sz="2050" spc="8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CNN</a:t>
            </a:r>
            <a:r>
              <a:rPr dirty="0" sz="2050" spc="80">
                <a:latin typeface="Times New Roman"/>
                <a:cs typeface="Times New Roman"/>
              </a:rPr>
              <a:t> 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85">
                <a:latin typeface="Times New Roman"/>
                <a:cs typeface="Times New Roman"/>
              </a:rPr>
              <a:t>  </a:t>
            </a:r>
            <a:r>
              <a:rPr dirty="0" sz="2050" spc="-10">
                <a:latin typeface="Times New Roman"/>
                <a:cs typeface="Times New Roman"/>
              </a:rPr>
              <a:t>Arrhythmia </a:t>
            </a:r>
            <a:r>
              <a:rPr dirty="0" sz="2050">
                <a:latin typeface="Times New Roman"/>
                <a:cs typeface="Times New Roman"/>
              </a:rPr>
              <a:t>Classification’,</a:t>
            </a:r>
            <a:r>
              <a:rPr dirty="0" sz="2050" spc="-11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IEEE</a:t>
            </a:r>
            <a:r>
              <a:rPr dirty="0" sz="2050" spc="-1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Access,</a:t>
            </a:r>
            <a:r>
              <a:rPr dirty="0" sz="2050" spc="-105">
                <a:latin typeface="Times New Roman"/>
                <a:cs typeface="Times New Roman"/>
              </a:rPr>
              <a:t> </a:t>
            </a:r>
            <a:r>
              <a:rPr dirty="0" sz="2050" spc="-30">
                <a:latin typeface="Times New Roman"/>
                <a:cs typeface="Times New Roman"/>
              </a:rPr>
              <a:t>Vol.10,</a:t>
            </a:r>
            <a:r>
              <a:rPr dirty="0" sz="2050" spc="-9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pp.111842–111853.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463"/>
            <a:ext cx="10680064" cy="60538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References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4065" y="1548511"/>
            <a:ext cx="9747250" cy="3775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6350" indent="-3429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dirty="0" sz="2050">
                <a:latin typeface="Times New Roman"/>
                <a:cs typeface="Times New Roman"/>
              </a:rPr>
              <a:t>Apu,</a:t>
            </a:r>
            <a:r>
              <a:rPr dirty="0" sz="2050" spc="3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R.</a:t>
            </a:r>
            <a:r>
              <a:rPr dirty="0" sz="2050" spc="3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H.,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Akter,</a:t>
            </a:r>
            <a:r>
              <a:rPr dirty="0" sz="2050" spc="3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F.,</a:t>
            </a:r>
            <a:r>
              <a:rPr dirty="0" sz="2050" spc="3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Lubna,</a:t>
            </a:r>
            <a:r>
              <a:rPr dirty="0" sz="2050" spc="3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F.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A.,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Helaly,</a:t>
            </a:r>
            <a:r>
              <a:rPr dirty="0" sz="2050" spc="3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T.,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Pias,</a:t>
            </a:r>
            <a:r>
              <a:rPr dirty="0" sz="2050" spc="3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T.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</a:t>
            </a:r>
            <a:r>
              <a:rPr dirty="0" sz="2050" spc="3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(2021)</a:t>
            </a:r>
            <a:r>
              <a:rPr dirty="0" sz="2050" spc="33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‘ECG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3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3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3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1D</a:t>
            </a:r>
            <a:r>
              <a:rPr dirty="0" sz="2050" spc="30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CNN</a:t>
            </a:r>
            <a:r>
              <a:rPr dirty="0" sz="2050" spc="3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Leveraging</a:t>
            </a:r>
            <a:r>
              <a:rPr dirty="0" sz="2050" spc="3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30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Resampling</a:t>
            </a:r>
            <a:r>
              <a:rPr dirty="0" sz="2050" spc="3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Technique</a:t>
            </a:r>
            <a:r>
              <a:rPr dirty="0" sz="2050" spc="315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and </a:t>
            </a:r>
            <a:r>
              <a:rPr dirty="0" sz="2050">
                <a:latin typeface="Times New Roman"/>
                <a:cs typeface="Times New Roman"/>
              </a:rPr>
              <a:t>Gaussian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Mixture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Model’,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2021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Joint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10th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International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Conference...,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pp.1–8.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dirty="0" sz="2050">
                <a:latin typeface="Times New Roman"/>
                <a:cs typeface="Times New Roman"/>
              </a:rPr>
              <a:t>Sakib,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S.,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Fouda,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M.,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Fadlullah,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Z.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M.,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Nasser,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N.,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Alasmary,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 spc="-85">
                <a:latin typeface="Times New Roman"/>
                <a:cs typeface="Times New Roman"/>
              </a:rPr>
              <a:t>W.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(2021)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‘A</a:t>
            </a:r>
            <a:r>
              <a:rPr dirty="0" sz="2050" spc="-12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Proof- </a:t>
            </a:r>
            <a:r>
              <a:rPr dirty="0" sz="2050" spc="-20">
                <a:latin typeface="Times New Roman"/>
                <a:cs typeface="Times New Roman"/>
              </a:rPr>
              <a:t>of-</a:t>
            </a:r>
            <a:r>
              <a:rPr dirty="0" sz="2050">
                <a:latin typeface="Times New Roman"/>
                <a:cs typeface="Times New Roman"/>
              </a:rPr>
              <a:t>Concept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Ultra-</a:t>
            </a:r>
            <a:r>
              <a:rPr dirty="0" sz="2050">
                <a:latin typeface="Times New Roman"/>
                <a:cs typeface="Times New Roman"/>
              </a:rPr>
              <a:t>Edge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Smart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IoT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Sensor...’,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IEEE</a:t>
            </a:r>
            <a:r>
              <a:rPr dirty="0" sz="2050" spc="-1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Access,</a:t>
            </a:r>
            <a:r>
              <a:rPr dirty="0" sz="2050" spc="-75">
                <a:latin typeface="Times New Roman"/>
                <a:cs typeface="Times New Roman"/>
              </a:rPr>
              <a:t> </a:t>
            </a:r>
            <a:r>
              <a:rPr dirty="0" sz="2050" spc="-35">
                <a:latin typeface="Times New Roman"/>
                <a:cs typeface="Times New Roman"/>
              </a:rPr>
              <a:t>Vol.9,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pp.26093–26104.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50">
                <a:latin typeface="Times New Roman"/>
                <a:cs typeface="Times New Roman"/>
              </a:rPr>
              <a:t>Tang,</a:t>
            </a:r>
            <a:r>
              <a:rPr dirty="0" sz="2050" spc="3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X.,</a:t>
            </a:r>
            <a:r>
              <a:rPr dirty="0" sz="2050" spc="3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3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Tang,</a:t>
            </a:r>
            <a:r>
              <a:rPr dirty="0" sz="2050" spc="3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W.</a:t>
            </a:r>
            <a:r>
              <a:rPr dirty="0" sz="2050" spc="3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(2021)</a:t>
            </a:r>
            <a:r>
              <a:rPr dirty="0" sz="2050" spc="3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‘An</a:t>
            </a:r>
            <a:r>
              <a:rPr dirty="0" sz="2050" spc="39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38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Delineation</a:t>
            </a:r>
            <a:r>
              <a:rPr dirty="0" sz="2050" spc="3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3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39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Classification</a:t>
            </a:r>
            <a:endParaRPr sz="20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050">
                <a:latin typeface="Times New Roman"/>
                <a:cs typeface="Times New Roman"/>
              </a:rPr>
              <a:t>System...’,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IEEE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Transactions...,</a:t>
            </a:r>
            <a:r>
              <a:rPr dirty="0" sz="2050" spc="-80">
                <a:latin typeface="Times New Roman"/>
                <a:cs typeface="Times New Roman"/>
              </a:rPr>
              <a:t> </a:t>
            </a:r>
            <a:r>
              <a:rPr dirty="0" sz="2050" spc="-35">
                <a:latin typeface="Times New Roman"/>
                <a:cs typeface="Times New Roman"/>
              </a:rPr>
              <a:t>Vol.15,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No.5,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pp.1053–1063.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5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dirty="0" sz="2050">
                <a:latin typeface="Times New Roman"/>
                <a:cs typeface="Times New Roman"/>
              </a:rPr>
              <a:t>Alharthi,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A.,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Almehmadi,</a:t>
            </a:r>
            <a:r>
              <a:rPr dirty="0" sz="2050" spc="1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A.,</a:t>
            </a:r>
            <a:r>
              <a:rPr dirty="0" sz="2050" spc="1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1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Alhazmi,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</a:t>
            </a:r>
            <a:r>
              <a:rPr dirty="0" sz="2050" spc="1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(2020)</a:t>
            </a:r>
            <a:r>
              <a:rPr dirty="0" sz="2050" spc="1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‘Heart</a:t>
            </a:r>
            <a:r>
              <a:rPr dirty="0" sz="2050" spc="1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1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Detection</a:t>
            </a:r>
            <a:r>
              <a:rPr dirty="0" sz="2050" spc="170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and </a:t>
            </a:r>
            <a:r>
              <a:rPr dirty="0" sz="2050">
                <a:latin typeface="Times New Roman"/>
                <a:cs typeface="Times New Roman"/>
              </a:rPr>
              <a:t>Monitoring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Machine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Learning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Sensor’,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2020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ITT, </a:t>
            </a:r>
            <a:r>
              <a:rPr dirty="0" sz="2050" spc="-10">
                <a:latin typeface="Times New Roman"/>
                <a:cs typeface="Times New Roman"/>
              </a:rPr>
              <a:t>pp.1–6.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463"/>
            <a:ext cx="10680064" cy="60538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References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63702" y="1481455"/>
            <a:ext cx="9743440" cy="426974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75285" marR="182880" indent="-363220">
              <a:lnSpc>
                <a:spcPct val="89400"/>
              </a:lnSpc>
              <a:spcBef>
                <a:spcPts val="360"/>
              </a:spcBef>
              <a:buFont typeface="Wingdings"/>
              <a:buChar char=""/>
              <a:tabLst>
                <a:tab pos="375285" algn="l"/>
              </a:tabLst>
            </a:pPr>
            <a:r>
              <a:rPr dirty="0" sz="2050">
                <a:latin typeface="Times New Roman"/>
                <a:cs typeface="Times New Roman"/>
              </a:rPr>
              <a:t>Kim,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S.,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Chon,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S.,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Kim,</a:t>
            </a:r>
            <a:r>
              <a:rPr dirty="0" sz="2050" spc="-10">
                <a:latin typeface="Times New Roman"/>
                <a:cs typeface="Times New Roman"/>
              </a:rPr>
              <a:t> J.-</a:t>
            </a:r>
            <a:r>
              <a:rPr dirty="0" sz="2050">
                <a:latin typeface="Times New Roman"/>
                <a:cs typeface="Times New Roman"/>
              </a:rPr>
              <a:t>K.,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Kim,</a:t>
            </a:r>
            <a:r>
              <a:rPr dirty="0" sz="2050" spc="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J.,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Gil,</a:t>
            </a:r>
            <a:r>
              <a:rPr dirty="0" sz="2050" spc="-85">
                <a:latin typeface="Times New Roman"/>
                <a:cs typeface="Times New Roman"/>
              </a:rPr>
              <a:t> </a:t>
            </a:r>
            <a:r>
              <a:rPr dirty="0" sz="2050" spc="-80">
                <a:latin typeface="Times New Roman"/>
                <a:cs typeface="Times New Roman"/>
              </a:rPr>
              <a:t>Y.,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Jung,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(2022)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‘Lightweight </a:t>
            </a:r>
            <a:r>
              <a:rPr dirty="0" sz="2050">
                <a:latin typeface="Times New Roman"/>
                <a:cs typeface="Times New Roman"/>
              </a:rPr>
              <a:t>Convolutional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Neural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Network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Real-</a:t>
            </a:r>
            <a:r>
              <a:rPr dirty="0" sz="2050" spc="-40">
                <a:latin typeface="Times New Roman"/>
                <a:cs typeface="Times New Roman"/>
              </a:rPr>
              <a:t>Time</a:t>
            </a:r>
            <a:r>
              <a:rPr dirty="0" sz="2050" spc="-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-10">
                <a:latin typeface="Times New Roman"/>
                <a:cs typeface="Times New Roman"/>
              </a:rPr>
              <a:t> Low-Power </a:t>
            </a:r>
            <a:r>
              <a:rPr dirty="0" sz="2050" spc="-20">
                <a:latin typeface="Times New Roman"/>
                <a:cs typeface="Times New Roman"/>
              </a:rPr>
              <a:t>Wearable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Electrocardiograph’,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2022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44th</a:t>
            </a:r>
            <a:r>
              <a:rPr dirty="0" sz="2050" spc="-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Annual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International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Conference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IEEE </a:t>
            </a:r>
            <a:r>
              <a:rPr dirty="0" sz="2050">
                <a:latin typeface="Times New Roman"/>
                <a:cs typeface="Times New Roman"/>
              </a:rPr>
              <a:t>Engineering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Medicine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&amp;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Biology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Society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(EMBC),</a:t>
            </a:r>
            <a:r>
              <a:rPr dirty="0" sz="2050" spc="-10">
                <a:latin typeface="Times New Roman"/>
                <a:cs typeface="Times New Roman"/>
              </a:rPr>
              <a:t> pp.1915–1918.</a:t>
            </a:r>
            <a:endParaRPr sz="2050">
              <a:latin typeface="Times New Roman"/>
              <a:cs typeface="Times New Roman"/>
            </a:endParaRPr>
          </a:p>
          <a:p>
            <a:pPr marL="355600" marR="654050" indent="-342900">
              <a:lnSpc>
                <a:spcPct val="100000"/>
              </a:lnSpc>
              <a:spcBef>
                <a:spcPts val="2210"/>
              </a:spcBef>
              <a:buFont typeface="Wingdings"/>
              <a:buChar char=""/>
              <a:tabLst>
                <a:tab pos="355600" algn="l"/>
              </a:tabLst>
            </a:pPr>
            <a:r>
              <a:rPr dirty="0" sz="2050">
                <a:latin typeface="Times New Roman"/>
                <a:cs typeface="Times New Roman"/>
              </a:rPr>
              <a:t>Banerjee,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S.,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Paul,</a:t>
            </a:r>
            <a:r>
              <a:rPr dirty="0" sz="2050" spc="-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A.,</a:t>
            </a:r>
            <a:r>
              <a:rPr dirty="0" sz="2050" spc="-13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Agarwal,</a:t>
            </a:r>
            <a:r>
              <a:rPr dirty="0" sz="2050" spc="-11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A.,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Jindal,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S.</a:t>
            </a:r>
            <a:r>
              <a:rPr dirty="0" sz="2050" spc="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K.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(2020)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‘Real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30">
                <a:latin typeface="Times New Roman"/>
                <a:cs typeface="Times New Roman"/>
              </a:rPr>
              <a:t>Time</a:t>
            </a:r>
            <a:r>
              <a:rPr dirty="0" sz="2050" spc="-9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Arrhythmia </a:t>
            </a:r>
            <a:r>
              <a:rPr dirty="0" sz="2050">
                <a:latin typeface="Times New Roman"/>
                <a:cs typeface="Times New Roman"/>
              </a:rPr>
              <a:t>Detecting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Wearable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Novel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Deep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Learning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Model’,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2020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ICPS,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pp.14–19.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dirty="0" sz="2050">
                <a:latin typeface="Times New Roman"/>
                <a:cs typeface="Times New Roman"/>
              </a:rPr>
              <a:t>Adil,</a:t>
            </a:r>
            <a:r>
              <a:rPr dirty="0" sz="2050" spc="-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A.,</a:t>
            </a:r>
            <a:r>
              <a:rPr dirty="0" sz="2050" spc="-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Abid,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H.,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Najib,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N.,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Jillani,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U.,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Saadeh,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 spc="-45">
                <a:latin typeface="Times New Roman"/>
                <a:cs typeface="Times New Roman"/>
              </a:rPr>
              <a:t>W.,</a:t>
            </a:r>
            <a:r>
              <a:rPr dirty="0" sz="2050" spc="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and</a:t>
            </a:r>
            <a:r>
              <a:rPr dirty="0" sz="2050" spc="-1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Altaf, M.</a:t>
            </a:r>
            <a:r>
              <a:rPr dirty="0" sz="2050" spc="-1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B.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(2019)</a:t>
            </a:r>
            <a:r>
              <a:rPr dirty="0" sz="2050" spc="509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‘Wearable</a:t>
            </a:r>
            <a:r>
              <a:rPr dirty="0" sz="2050" spc="-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ECG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Measurement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for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Detection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Cardiac</a:t>
            </a:r>
            <a:r>
              <a:rPr dirty="0" sz="2050" spc="-11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Arrhythmia’,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2019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UCET, pp.1–4.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355600" marR="218440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dirty="0" sz="2050" spc="-20">
                <a:latin typeface="Times New Roman"/>
                <a:cs typeface="Times New Roman"/>
              </a:rPr>
              <a:t>Rajkumar,</a:t>
            </a:r>
            <a:r>
              <a:rPr dirty="0" sz="2050" spc="-11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A.,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Ganesan,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M.,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Lavanya,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R.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(2019)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‘Arrhythmia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classification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ECG </a:t>
            </a:r>
            <a:r>
              <a:rPr dirty="0" sz="2050">
                <a:latin typeface="Times New Roman"/>
                <a:cs typeface="Times New Roman"/>
              </a:rPr>
              <a:t>using</a:t>
            </a:r>
            <a:r>
              <a:rPr dirty="0" sz="2050" spc="-2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Deep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Learning’,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2019</a:t>
            </a:r>
            <a:r>
              <a:rPr dirty="0" sz="2050" spc="-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ICACCS,</a:t>
            </a:r>
            <a:r>
              <a:rPr dirty="0" sz="2050" spc="-1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pp.365–369.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463"/>
            <a:ext cx="10680064" cy="60538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References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55600" marR="7620" indent="-34353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dirty="0"/>
              <a:t>Rana,</a:t>
            </a:r>
            <a:r>
              <a:rPr dirty="0" spc="204"/>
              <a:t> </a:t>
            </a:r>
            <a:r>
              <a:rPr dirty="0"/>
              <a:t>A.,</a:t>
            </a:r>
            <a:r>
              <a:rPr dirty="0" spc="200"/>
              <a:t> </a:t>
            </a:r>
            <a:r>
              <a:rPr dirty="0"/>
              <a:t>and</a:t>
            </a:r>
            <a:r>
              <a:rPr dirty="0" spc="200"/>
              <a:t> </a:t>
            </a:r>
            <a:r>
              <a:rPr dirty="0"/>
              <a:t>Kim,</a:t>
            </a:r>
            <a:r>
              <a:rPr dirty="0" spc="210"/>
              <a:t> </a:t>
            </a:r>
            <a:r>
              <a:rPr dirty="0"/>
              <a:t>K.</a:t>
            </a:r>
            <a:r>
              <a:rPr dirty="0" spc="215"/>
              <a:t> </a:t>
            </a:r>
            <a:r>
              <a:rPr dirty="0"/>
              <a:t>K.</a:t>
            </a:r>
            <a:r>
              <a:rPr dirty="0" spc="215"/>
              <a:t> </a:t>
            </a:r>
            <a:r>
              <a:rPr dirty="0"/>
              <a:t>(2019)</a:t>
            </a:r>
            <a:r>
              <a:rPr dirty="0" spc="210"/>
              <a:t> </a:t>
            </a:r>
            <a:r>
              <a:rPr dirty="0"/>
              <a:t>‘ECG</a:t>
            </a:r>
            <a:r>
              <a:rPr dirty="0" spc="180"/>
              <a:t> </a:t>
            </a:r>
            <a:r>
              <a:rPr dirty="0"/>
              <a:t>Heartbeat</a:t>
            </a:r>
            <a:r>
              <a:rPr dirty="0" spc="215"/>
              <a:t> </a:t>
            </a:r>
            <a:r>
              <a:rPr dirty="0"/>
              <a:t>Classification</a:t>
            </a:r>
            <a:r>
              <a:rPr dirty="0" spc="220"/>
              <a:t> </a:t>
            </a:r>
            <a:r>
              <a:rPr dirty="0"/>
              <a:t>Using</a:t>
            </a:r>
            <a:r>
              <a:rPr dirty="0" spc="210"/>
              <a:t> </a:t>
            </a:r>
            <a:r>
              <a:rPr dirty="0"/>
              <a:t>a</a:t>
            </a:r>
            <a:r>
              <a:rPr dirty="0" spc="210"/>
              <a:t> </a:t>
            </a:r>
            <a:r>
              <a:rPr dirty="0"/>
              <a:t>Single</a:t>
            </a:r>
            <a:r>
              <a:rPr dirty="0" spc="204"/>
              <a:t> </a:t>
            </a:r>
            <a:r>
              <a:rPr dirty="0" spc="-10"/>
              <a:t>Layer </a:t>
            </a:r>
            <a:r>
              <a:rPr dirty="0"/>
              <a:t>LSTM</a:t>
            </a:r>
            <a:r>
              <a:rPr dirty="0" spc="-25"/>
              <a:t> </a:t>
            </a:r>
            <a:r>
              <a:rPr dirty="0"/>
              <a:t>Model’,</a:t>
            </a:r>
            <a:r>
              <a:rPr dirty="0" spc="-30"/>
              <a:t> </a:t>
            </a:r>
            <a:r>
              <a:rPr dirty="0"/>
              <a:t>ICCAS,</a:t>
            </a:r>
            <a:r>
              <a:rPr dirty="0" spc="-35"/>
              <a:t> </a:t>
            </a:r>
            <a:r>
              <a:rPr dirty="0" spc="-10"/>
              <a:t>pp.267–268.</a:t>
            </a: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"/>
            </a:pPr>
          </a:p>
          <a:p>
            <a:pPr algn="just" marL="355600" marR="5080" indent="-343535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dirty="0"/>
              <a:t>Clark,</a:t>
            </a:r>
            <a:r>
              <a:rPr dirty="0" spc="385"/>
              <a:t> </a:t>
            </a:r>
            <a:r>
              <a:rPr dirty="0"/>
              <a:t>N.,</a:t>
            </a:r>
            <a:r>
              <a:rPr dirty="0" spc="390"/>
              <a:t> </a:t>
            </a:r>
            <a:r>
              <a:rPr dirty="0"/>
              <a:t>Sandor,</a:t>
            </a:r>
            <a:r>
              <a:rPr dirty="0" spc="390"/>
              <a:t> </a:t>
            </a:r>
            <a:r>
              <a:rPr dirty="0"/>
              <a:t>E.,</a:t>
            </a:r>
            <a:r>
              <a:rPr dirty="0" spc="385"/>
              <a:t> </a:t>
            </a:r>
            <a:r>
              <a:rPr dirty="0"/>
              <a:t>Walden,</a:t>
            </a:r>
            <a:r>
              <a:rPr dirty="0" spc="385"/>
              <a:t> </a:t>
            </a:r>
            <a:r>
              <a:rPr dirty="0"/>
              <a:t>C.,</a:t>
            </a:r>
            <a:r>
              <a:rPr dirty="0" spc="390"/>
              <a:t> </a:t>
            </a:r>
            <a:r>
              <a:rPr dirty="0"/>
              <a:t>Ahn,</a:t>
            </a:r>
            <a:r>
              <a:rPr dirty="0" spc="385"/>
              <a:t> </a:t>
            </a:r>
            <a:r>
              <a:rPr dirty="0"/>
              <a:t>I.</a:t>
            </a:r>
            <a:r>
              <a:rPr dirty="0" spc="385"/>
              <a:t> </a:t>
            </a:r>
            <a:r>
              <a:rPr dirty="0"/>
              <a:t>S.,</a:t>
            </a:r>
            <a:r>
              <a:rPr dirty="0" spc="390"/>
              <a:t> </a:t>
            </a:r>
            <a:r>
              <a:rPr dirty="0"/>
              <a:t>and</a:t>
            </a:r>
            <a:r>
              <a:rPr dirty="0" spc="395"/>
              <a:t> </a:t>
            </a:r>
            <a:r>
              <a:rPr dirty="0"/>
              <a:t>Lu,</a:t>
            </a:r>
            <a:r>
              <a:rPr dirty="0" spc="390"/>
              <a:t> </a:t>
            </a:r>
            <a:r>
              <a:rPr dirty="0"/>
              <a:t>Y.</a:t>
            </a:r>
            <a:r>
              <a:rPr dirty="0" spc="390"/>
              <a:t> </a:t>
            </a:r>
            <a:r>
              <a:rPr dirty="0"/>
              <a:t>(2018)</a:t>
            </a:r>
            <a:r>
              <a:rPr dirty="0" spc="390"/>
              <a:t> </a:t>
            </a:r>
            <a:r>
              <a:rPr dirty="0"/>
              <a:t>‘A</a:t>
            </a:r>
            <a:r>
              <a:rPr dirty="0" spc="275"/>
              <a:t> </a:t>
            </a:r>
            <a:r>
              <a:rPr dirty="0"/>
              <a:t>wearable</a:t>
            </a:r>
            <a:r>
              <a:rPr dirty="0" spc="380"/>
              <a:t> </a:t>
            </a:r>
            <a:r>
              <a:rPr dirty="0" spc="-25"/>
              <a:t>ECG </a:t>
            </a:r>
            <a:r>
              <a:rPr dirty="0"/>
              <a:t>monitoring</a:t>
            </a:r>
            <a:r>
              <a:rPr dirty="0" spc="-50"/>
              <a:t> </a:t>
            </a:r>
            <a:r>
              <a:rPr dirty="0"/>
              <a:t>system</a:t>
            </a:r>
            <a:r>
              <a:rPr dirty="0" spc="-65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 spc="-10"/>
              <a:t>real-</a:t>
            </a:r>
            <a:r>
              <a:rPr dirty="0"/>
              <a:t>time</a:t>
            </a:r>
            <a:r>
              <a:rPr dirty="0" spc="-20"/>
              <a:t> </a:t>
            </a:r>
            <a:r>
              <a:rPr dirty="0"/>
              <a:t>arrhythmia</a:t>
            </a:r>
            <a:r>
              <a:rPr dirty="0" spc="-50"/>
              <a:t> </a:t>
            </a:r>
            <a:r>
              <a:rPr dirty="0"/>
              <a:t>detection’,</a:t>
            </a:r>
            <a:r>
              <a:rPr dirty="0" spc="-55"/>
              <a:t> </a:t>
            </a:r>
            <a:r>
              <a:rPr dirty="0"/>
              <a:t>IEEE,</a:t>
            </a:r>
            <a:r>
              <a:rPr dirty="0" spc="-35"/>
              <a:t> </a:t>
            </a:r>
            <a:r>
              <a:rPr dirty="0" spc="-10"/>
              <a:t>pp.787–790.</a:t>
            </a: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"/>
            </a:p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  <a:tab pos="1419225" algn="l"/>
                <a:tab pos="1878330" algn="l"/>
                <a:tab pos="2397760" algn="l"/>
                <a:tab pos="2844800" algn="l"/>
                <a:tab pos="3676650" algn="l"/>
                <a:tab pos="4071620" algn="l"/>
                <a:tab pos="4908550" algn="l"/>
                <a:tab pos="5312410" algn="l"/>
                <a:tab pos="5948045" algn="l"/>
                <a:tab pos="6946265" algn="l"/>
                <a:tab pos="8044815" algn="l"/>
                <a:tab pos="8491855" algn="l"/>
              </a:tabLst>
            </a:pPr>
            <a:r>
              <a:rPr dirty="0" spc="-10"/>
              <a:t>Sannino,</a:t>
            </a:r>
            <a:r>
              <a:rPr dirty="0"/>
              <a:t>	</a:t>
            </a:r>
            <a:r>
              <a:rPr dirty="0" spc="-25"/>
              <a:t>G.,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25"/>
              <a:t>De</a:t>
            </a:r>
            <a:r>
              <a:rPr dirty="0"/>
              <a:t>	</a:t>
            </a:r>
            <a:r>
              <a:rPr dirty="0" spc="-10"/>
              <a:t>Pietro,</a:t>
            </a:r>
            <a:r>
              <a:rPr dirty="0"/>
              <a:t>	</a:t>
            </a:r>
            <a:r>
              <a:rPr dirty="0" spc="-25"/>
              <a:t>G.</a:t>
            </a:r>
            <a:r>
              <a:rPr dirty="0"/>
              <a:t>	</a:t>
            </a:r>
            <a:r>
              <a:rPr dirty="0" spc="-10"/>
              <a:t>(2018)</a:t>
            </a:r>
            <a:r>
              <a:rPr dirty="0"/>
              <a:t>	</a:t>
            </a:r>
            <a:r>
              <a:rPr dirty="0" spc="-25"/>
              <a:t>‘A</a:t>
            </a:r>
            <a:r>
              <a:rPr dirty="0"/>
              <a:t>	</a:t>
            </a:r>
            <a:r>
              <a:rPr dirty="0" spc="-20"/>
              <a:t>deep</a:t>
            </a:r>
            <a:r>
              <a:rPr dirty="0"/>
              <a:t>	</a:t>
            </a:r>
            <a:r>
              <a:rPr dirty="0" spc="-10"/>
              <a:t>learning</a:t>
            </a:r>
            <a:r>
              <a:rPr dirty="0"/>
              <a:t>	</a:t>
            </a:r>
            <a:r>
              <a:rPr dirty="0" spc="-10"/>
              <a:t>approach</a:t>
            </a:r>
            <a:r>
              <a:rPr dirty="0"/>
              <a:t>	</a:t>
            </a:r>
            <a:r>
              <a:rPr dirty="0" spc="-25"/>
              <a:t>for</a:t>
            </a:r>
            <a:r>
              <a:rPr dirty="0"/>
              <a:t>	</a:t>
            </a:r>
            <a:r>
              <a:rPr dirty="0" spc="-10"/>
              <a:t>ECG-based</a:t>
            </a:r>
          </a:p>
          <a:p>
            <a:pPr marL="355600">
              <a:lnSpc>
                <a:spcPct val="100000"/>
              </a:lnSpc>
            </a:pPr>
            <a:r>
              <a:rPr dirty="0"/>
              <a:t>heartbeat</a:t>
            </a:r>
            <a:r>
              <a:rPr dirty="0" spc="-55"/>
              <a:t> </a:t>
            </a:r>
            <a:r>
              <a:rPr dirty="0"/>
              <a:t>classification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/>
              <a:t>arrhythmia</a:t>
            </a:r>
            <a:r>
              <a:rPr dirty="0" spc="-65"/>
              <a:t> </a:t>
            </a:r>
            <a:r>
              <a:rPr dirty="0"/>
              <a:t>detection’,</a:t>
            </a:r>
            <a:r>
              <a:rPr dirty="0" spc="-75"/>
              <a:t> </a:t>
            </a:r>
            <a:r>
              <a:rPr dirty="0"/>
              <a:t>FGCS,</a:t>
            </a:r>
            <a:r>
              <a:rPr dirty="0" spc="-110"/>
              <a:t> </a:t>
            </a:r>
            <a:r>
              <a:rPr dirty="0" spc="-30"/>
              <a:t>Vol.86,</a:t>
            </a:r>
            <a:r>
              <a:rPr dirty="0" spc="-75"/>
              <a:t> </a:t>
            </a:r>
            <a:r>
              <a:rPr dirty="0" spc="-10"/>
              <a:t>pp.446–455.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</a:p>
          <a:p>
            <a:pPr algn="just" marL="355600" marR="6350" indent="-34353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dirty="0"/>
              <a:t>Spanò,</a:t>
            </a:r>
            <a:r>
              <a:rPr dirty="0" spc="25"/>
              <a:t>  </a:t>
            </a:r>
            <a:r>
              <a:rPr dirty="0"/>
              <a:t>E.,</a:t>
            </a:r>
            <a:r>
              <a:rPr dirty="0" spc="30"/>
              <a:t>  </a:t>
            </a:r>
            <a:r>
              <a:rPr dirty="0"/>
              <a:t>Di</a:t>
            </a:r>
            <a:r>
              <a:rPr dirty="0" spc="30"/>
              <a:t>  </a:t>
            </a:r>
            <a:r>
              <a:rPr dirty="0"/>
              <a:t>Pascoli,</a:t>
            </a:r>
            <a:r>
              <a:rPr dirty="0" spc="35"/>
              <a:t>  </a:t>
            </a:r>
            <a:r>
              <a:rPr dirty="0"/>
              <a:t>S.,</a:t>
            </a:r>
            <a:r>
              <a:rPr dirty="0" spc="25"/>
              <a:t>  </a:t>
            </a:r>
            <a:r>
              <a:rPr dirty="0"/>
              <a:t>and</a:t>
            </a:r>
            <a:r>
              <a:rPr dirty="0" spc="30"/>
              <a:t>  </a:t>
            </a:r>
            <a:r>
              <a:rPr dirty="0"/>
              <a:t>Iannaccone,</a:t>
            </a:r>
            <a:r>
              <a:rPr dirty="0" spc="45"/>
              <a:t>  </a:t>
            </a:r>
            <a:r>
              <a:rPr dirty="0"/>
              <a:t>G.</a:t>
            </a:r>
            <a:r>
              <a:rPr dirty="0" spc="35"/>
              <a:t>  </a:t>
            </a:r>
            <a:r>
              <a:rPr dirty="0"/>
              <a:t>(2016)</a:t>
            </a:r>
            <a:r>
              <a:rPr dirty="0" spc="30"/>
              <a:t>  </a:t>
            </a:r>
            <a:r>
              <a:rPr dirty="0" spc="-10"/>
              <a:t>‘Low-</a:t>
            </a:r>
            <a:r>
              <a:rPr dirty="0"/>
              <a:t>Power</a:t>
            </a:r>
            <a:r>
              <a:rPr dirty="0" spc="25"/>
              <a:t>  </a:t>
            </a:r>
            <a:r>
              <a:rPr dirty="0"/>
              <a:t>Wearable</a:t>
            </a:r>
            <a:r>
              <a:rPr dirty="0" spc="45"/>
              <a:t>  </a:t>
            </a:r>
            <a:r>
              <a:rPr dirty="0" spc="-25"/>
              <a:t>ECG </a:t>
            </a:r>
            <a:r>
              <a:rPr dirty="0"/>
              <a:t>Monitoring</a:t>
            </a:r>
            <a:r>
              <a:rPr dirty="0" spc="434"/>
              <a:t> </a:t>
            </a:r>
            <a:r>
              <a:rPr dirty="0"/>
              <a:t>System</a:t>
            </a:r>
            <a:r>
              <a:rPr dirty="0" spc="434"/>
              <a:t> </a:t>
            </a:r>
            <a:r>
              <a:rPr dirty="0"/>
              <a:t>for</a:t>
            </a:r>
            <a:r>
              <a:rPr dirty="0" spc="440"/>
              <a:t> </a:t>
            </a:r>
            <a:r>
              <a:rPr dirty="0" spc="-10"/>
              <a:t>Multiple-</a:t>
            </a:r>
            <a:r>
              <a:rPr dirty="0"/>
              <a:t>Patient</a:t>
            </a:r>
            <a:r>
              <a:rPr dirty="0" spc="430"/>
              <a:t> </a:t>
            </a:r>
            <a:r>
              <a:rPr dirty="0"/>
              <a:t>Remote</a:t>
            </a:r>
            <a:r>
              <a:rPr dirty="0" spc="434"/>
              <a:t> </a:t>
            </a:r>
            <a:r>
              <a:rPr dirty="0"/>
              <a:t>Monitoring’,</a:t>
            </a:r>
            <a:r>
              <a:rPr dirty="0" spc="440"/>
              <a:t> </a:t>
            </a:r>
            <a:r>
              <a:rPr dirty="0"/>
              <a:t>IEEE</a:t>
            </a:r>
            <a:r>
              <a:rPr dirty="0" spc="425"/>
              <a:t> </a:t>
            </a:r>
            <a:r>
              <a:rPr dirty="0"/>
              <a:t>Sensors</a:t>
            </a:r>
            <a:r>
              <a:rPr dirty="0" spc="440"/>
              <a:t> </a:t>
            </a:r>
            <a:r>
              <a:rPr dirty="0" spc="-10"/>
              <a:t>Journal, </a:t>
            </a:r>
            <a:r>
              <a:rPr dirty="0" spc="-35"/>
              <a:t>Vol.16,</a:t>
            </a:r>
            <a:r>
              <a:rPr dirty="0" spc="-55"/>
              <a:t> </a:t>
            </a:r>
            <a:r>
              <a:rPr dirty="0"/>
              <a:t>No.13,</a:t>
            </a:r>
            <a:r>
              <a:rPr dirty="0" spc="-55"/>
              <a:t> </a:t>
            </a:r>
            <a:r>
              <a:rPr dirty="0" spc="-10"/>
              <a:t>pp.5452–5461.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773735"/>
            <a:ext cx="10693400" cy="6015990"/>
            <a:chOff x="0" y="773735"/>
            <a:chExt cx="10693400" cy="60159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73735"/>
              <a:ext cx="10693399" cy="601573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855" y="956754"/>
              <a:ext cx="10361930" cy="565721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71189" y="3490087"/>
            <a:ext cx="4247515" cy="8248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55900" algn="l"/>
              </a:tabLst>
            </a:pPr>
            <a:r>
              <a:rPr dirty="0" sz="5250" spc="-10"/>
              <a:t>THANK</a:t>
            </a:r>
            <a:r>
              <a:rPr dirty="0" sz="5250"/>
              <a:t>	</a:t>
            </a:r>
            <a:r>
              <a:rPr dirty="0" sz="5250" spc="-25"/>
              <a:t>YOU</a:t>
            </a:r>
            <a:endParaRPr sz="5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Dancing wolf</dc:creator>
  <dc:title>SECOND REVIEW.pptx</dc:title>
  <dcterms:created xsi:type="dcterms:W3CDTF">2026-05-11T07:30:48Z</dcterms:created>
  <dcterms:modified xsi:type="dcterms:W3CDTF">2026-05-11T07:30:48Z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2026-05-11T00:00:00Z</vt:filetime>
  </property>
  <property fmtid="{D5CDD505-2E9C-101B-9397-08002B2CF9AE}" pid="5" name="Producer">
    <vt:lpwstr>Microsoft® PowerPoint® 2021</vt:lpwstr>
  </property>
</Properties>
</file>